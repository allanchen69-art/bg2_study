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650" r:id="rId2"/>
    <p:sldId id="2383" r:id="rId3"/>
    <p:sldId id="2389" r:id="rId4"/>
    <p:sldId id="2390" r:id="rId5"/>
    <p:sldId id="2384" r:id="rId6"/>
    <p:sldId id="2382" r:id="rId7"/>
    <p:sldId id="2391" r:id="rId8"/>
    <p:sldId id="2386" r:id="rId9"/>
    <p:sldId id="2388" r:id="rId10"/>
    <p:sldId id="2392" r:id="rId11"/>
    <p:sldId id="2395" r:id="rId12"/>
    <p:sldId id="2393" r:id="rId13"/>
    <p:sldId id="2396" r:id="rId14"/>
    <p:sldId id="2405" r:id="rId15"/>
    <p:sldId id="2397" r:id="rId16"/>
    <p:sldId id="2398" r:id="rId17"/>
    <p:sldId id="2399" r:id="rId18"/>
    <p:sldId id="2400" r:id="rId19"/>
    <p:sldId id="2406" r:id="rId20"/>
    <p:sldId id="2401" r:id="rId21"/>
    <p:sldId id="2408" r:id="rId22"/>
    <p:sldId id="2402" r:id="rId23"/>
    <p:sldId id="2403" r:id="rId24"/>
    <p:sldId id="2394" r:id="rId25"/>
    <p:sldId id="2404" r:id="rId26"/>
    <p:sldId id="2407" r:id="rId27"/>
    <p:sldId id="2387" r:id="rId28"/>
  </p:sldIdLst>
  <p:sldSz cx="9144000" cy="5715000" type="screen16x10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an Hsieh(謝光勳_Pegatron)" initials="SH" lastIdx="3" clrIdx="0">
    <p:extLst>
      <p:ext uri="{19B8F6BF-5375-455C-9EA6-DF929625EA0E}">
        <p15:presenceInfo xmlns:p15="http://schemas.microsoft.com/office/powerpoint/2012/main" userId="S::Sean_Hsieh@pegatroncorp.com::d9a20341-52c8-4794-98c7-273f7f44fd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284"/>
    <a:srgbClr val="2BD9FD"/>
    <a:srgbClr val="FF7C00"/>
    <a:srgbClr val="7F7F7F"/>
    <a:srgbClr val="D0E3EA"/>
    <a:srgbClr val="E9F1F6"/>
    <a:srgbClr val="4BACC6"/>
    <a:srgbClr val="31859C"/>
    <a:srgbClr val="F44136"/>
    <a:srgbClr val="00A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53" autoAdjust="0"/>
    <p:restoredTop sz="89825" autoAdjust="0"/>
  </p:normalViewPr>
  <p:slideViewPr>
    <p:cSldViewPr snapToGrid="0" snapToObjects="1">
      <p:cViewPr varScale="1">
        <p:scale>
          <a:sx n="84" d="100"/>
          <a:sy n="84" d="100"/>
        </p:scale>
        <p:origin x="1574" y="288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204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776D-8DBB-6B4C-921E-4492EBE8FBDF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A5E25-993E-9445-81FD-CFEBDDA1F98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073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Relationship Id="rId1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CTRDC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4787015" y="2530371"/>
            <a:ext cx="3254855" cy="22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2375" tIns="51187" rIns="102375" bIns="5118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  <a:cs typeface="新細明體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9pPr>
          </a:lstStyle>
          <a:p>
            <a:pPr eaLnBrk="1" hangingPunct="1"/>
            <a:r>
              <a:rPr kumimoji="0" lang="en-US" altLang="zh-TW" sz="800" dirty="0">
                <a:solidFill>
                  <a:srgbClr val="00B0FF"/>
                </a:solidFill>
                <a:latin typeface="Arial" charset="0"/>
                <a:ea typeface="宋体" charset="0"/>
                <a:cs typeface="Arial" charset="0"/>
              </a:rPr>
              <a:t>BU6 5G Product Development Center-Product Development Div. 3</a:t>
            </a:r>
          </a:p>
        </p:txBody>
      </p:sp>
      <p:sp>
        <p:nvSpPr>
          <p:cNvPr id="9" name="矩形 8"/>
          <p:cNvSpPr>
            <a:spLocks noChangeArrowheads="1"/>
          </p:cNvSpPr>
          <p:nvPr userDrawn="1"/>
        </p:nvSpPr>
        <p:spPr bwMode="auto">
          <a:xfrm rot="16200000">
            <a:off x="4537023" y="-512536"/>
            <a:ext cx="69954" cy="6660000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787013" y="2327737"/>
            <a:ext cx="3206407" cy="267562"/>
          </a:xfrm>
          <a:prstGeom prst="rect">
            <a:avLst/>
          </a:prstGeom>
          <a:noFill/>
        </p:spPr>
        <p:txBody>
          <a:bodyPr wrap="square" lIns="97332" tIns="48667" rIns="97332" bIns="48667" rtlCol="0">
            <a:spAutoFit/>
          </a:bodyPr>
          <a:lstStyle/>
          <a:p>
            <a:pPr algn="l"/>
            <a:r>
              <a:rPr lang="zh-CN" altLang="en-US" sz="1100" dirty="0">
                <a:latin typeface="微軟正黑體"/>
                <a:ea typeface="微軟正黑體"/>
                <a:cs typeface="微軟正黑體"/>
              </a:rPr>
              <a:t>第六事業處</a:t>
            </a:r>
            <a:r>
              <a:rPr lang="en-US" altLang="zh-CN" sz="1100" dirty="0">
                <a:latin typeface="微軟正黑體"/>
                <a:ea typeface="微軟正黑體"/>
                <a:cs typeface="微軟正黑體"/>
              </a:rPr>
              <a:t>5G</a:t>
            </a:r>
            <a:r>
              <a:rPr lang="zh-TW" altLang="en-US" sz="1100" dirty="0">
                <a:latin typeface="微軟正黑體"/>
                <a:ea typeface="微軟正黑體"/>
                <a:cs typeface="微軟正黑體"/>
              </a:rPr>
              <a:t>產品開發事業處</a:t>
            </a:r>
            <a:r>
              <a:rPr lang="en-US" altLang="zh-TW" sz="1100" dirty="0">
                <a:latin typeface="微軟正黑體"/>
                <a:ea typeface="微軟正黑體"/>
                <a:cs typeface="微軟正黑體"/>
              </a:rPr>
              <a:t>-</a:t>
            </a:r>
            <a:r>
              <a:rPr lang="zh-CN" altLang="en-US" sz="1100" dirty="0">
                <a:latin typeface="微軟正黑體"/>
                <a:ea typeface="微軟正黑體"/>
                <a:cs typeface="微軟正黑體"/>
              </a:rPr>
              <a:t>產品開發三處</a:t>
            </a:r>
            <a:endParaRPr lang="zh-TW" altLang="en-US" sz="1100" dirty="0"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pPr/>
              <a:t>2026/1/16</a:t>
            </a:fld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483409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3336652" y="3005843"/>
            <a:ext cx="4550753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81D5FA-62C9-7D44-AAA9-0FD2244AF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4699" y="2332253"/>
            <a:ext cx="3639256" cy="4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8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準通用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rrowheads="1"/>
          </p:cNvSpPr>
          <p:nvPr userDrawn="1"/>
        </p:nvSpPr>
        <p:spPr bwMode="auto">
          <a:xfrm rot="5400000">
            <a:off x="4241739" y="48512"/>
            <a:ext cx="69954" cy="5537904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pPr/>
              <a:t>2026/1/16</a:t>
            </a:fld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229078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2979677" y="3005843"/>
            <a:ext cx="4065992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C81D5FA-62C9-7D44-AAA9-0FD2244AF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7764" y="2253525"/>
            <a:ext cx="3639256" cy="42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5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暗色系封面">
    <p:bg>
      <p:bgPr>
        <a:solidFill>
          <a:srgbClr val="3E3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日期版面配置區 2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pPr/>
              <a:t>2026/1/16</a:t>
            </a:fld>
            <a:endParaRPr kumimoji="1" lang="zh-TW" altLang="en-US" dirty="0"/>
          </a:p>
        </p:txBody>
      </p:sp>
      <p:sp>
        <p:nvSpPr>
          <p:cNvPr id="22" name="頁尾版面配置區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25" name="子標題 2"/>
          <p:cNvSpPr>
            <a:spLocks noGrp="1"/>
          </p:cNvSpPr>
          <p:nvPr>
            <p:ph type="subTitle" idx="1" hasCustomPrompt="1"/>
          </p:nvPr>
        </p:nvSpPr>
        <p:spPr>
          <a:xfrm>
            <a:off x="6229078" y="3492748"/>
            <a:ext cx="1421621" cy="32590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effectLst>
                  <a:outerShdw blurRad="101600" dist="635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dirty="0"/>
              <a:t>點按可編輯日期</a:t>
            </a:r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2979677" y="3005843"/>
            <a:ext cx="4065992" cy="325908"/>
          </a:xfrm>
        </p:spPr>
        <p:txBody>
          <a:bodyPr>
            <a:normAutofit/>
          </a:bodyPr>
          <a:lstStyle>
            <a:lvl1pPr algn="l">
              <a:defRPr sz="2100" baseline="0">
                <a:solidFill>
                  <a:srgbClr val="F57C00"/>
                </a:solidFill>
                <a:effectLst>
                  <a:outerShdw blurRad="101600" dist="63500" dir="2700000" algn="tl" rotWithShape="0">
                    <a:prstClr val="black">
                      <a:alpha val="43000"/>
                    </a:prstClr>
                  </a:outerShdw>
                </a:effectLst>
                <a:latin typeface="Arial" charset="0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5004438-2552-7D46-88BA-2E23F462FCA2}"/>
              </a:ext>
            </a:extLst>
          </p:cNvPr>
          <p:cNvGrpSpPr/>
          <p:nvPr userDrawn="1"/>
        </p:nvGrpSpPr>
        <p:grpSpPr>
          <a:xfrm>
            <a:off x="1503272" y="2286078"/>
            <a:ext cx="3639914" cy="364304"/>
            <a:chOff x="4047265" y="725389"/>
            <a:chExt cx="3639914" cy="364304"/>
          </a:xfrm>
          <a:effectLst>
            <a:outerShdw blurRad="63500" dist="635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4DB9CAA-F5B7-264B-9DE8-6C7E46048F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clrChange>
                <a:clrFrom>
                  <a:srgbClr val="007BC7"/>
                </a:clrFrom>
                <a:clrTo>
                  <a:srgbClr val="007BC7">
                    <a:alpha val="0"/>
                  </a:srgbClr>
                </a:clrTo>
              </a:clrChange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047265" y="725389"/>
              <a:ext cx="1721146" cy="338355"/>
            </a:xfrm>
            <a:prstGeom prst="rect">
              <a:avLst/>
            </a:prstGeom>
          </p:spPr>
        </p:pic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79F5D871-1546-8745-BB16-6C82356D8689}"/>
                </a:ext>
              </a:extLst>
            </p:cNvPr>
            <p:cNvGrpSpPr/>
            <p:nvPr userDrawn="1"/>
          </p:nvGrpSpPr>
          <p:grpSpPr>
            <a:xfrm>
              <a:off x="5826798" y="728654"/>
              <a:ext cx="1860381" cy="361039"/>
              <a:chOff x="5826798" y="728654"/>
              <a:chExt cx="1860381" cy="361039"/>
            </a:xfrm>
          </p:grpSpPr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5FBF2356-4CA6-3848-BFA1-DB7C640CCFE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826798" y="728654"/>
                <a:ext cx="377123" cy="361039"/>
              </a:xfrm>
              <a:prstGeom prst="rect">
                <a:avLst/>
              </a:prstGeom>
            </p:spPr>
          </p:pic>
          <p:pic>
            <p:nvPicPr>
              <p:cNvPr id="19" name="圖片 18">
                <a:extLst>
                  <a:ext uri="{FF2B5EF4-FFF2-40B4-BE49-F238E27FC236}">
                    <a16:creationId xmlns:a16="http://schemas.microsoft.com/office/drawing/2014/main" id="{C5800301-8CC8-5F41-B11C-B0C66DFA178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6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093150" y="728654"/>
                <a:ext cx="414471" cy="361039"/>
              </a:xfrm>
              <a:prstGeom prst="rect">
                <a:avLst/>
              </a:prstGeom>
            </p:spPr>
          </p:pic>
          <p:pic>
            <p:nvPicPr>
              <p:cNvPr id="20" name="圖片 19">
                <a:extLst>
                  <a:ext uri="{FF2B5EF4-FFF2-40B4-BE49-F238E27FC236}">
                    <a16:creationId xmlns:a16="http://schemas.microsoft.com/office/drawing/2014/main" id="{5EEE8330-03AB-C74F-A103-BBB893472455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8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384813" y="728654"/>
                <a:ext cx="435497" cy="361039"/>
              </a:xfrm>
              <a:prstGeom prst="rect">
                <a:avLst/>
              </a:prstGeom>
            </p:spPr>
          </p:pic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B3C0CB6F-0561-C34B-8330-E442CA37D271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0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06169" y="728654"/>
                <a:ext cx="401653" cy="361039"/>
              </a:xfrm>
              <a:prstGeom prst="rect">
                <a:avLst/>
              </a:prstGeom>
            </p:spPr>
          </p:pic>
          <p:pic>
            <p:nvPicPr>
              <p:cNvPr id="27" name="圖片 26">
                <a:extLst>
                  <a:ext uri="{FF2B5EF4-FFF2-40B4-BE49-F238E27FC236}">
                    <a16:creationId xmlns:a16="http://schemas.microsoft.com/office/drawing/2014/main" id="{34526400-52AB-9245-9565-863A619B1257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2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001202" y="728654"/>
                <a:ext cx="397379" cy="361039"/>
              </a:xfrm>
              <a:prstGeom prst="rect">
                <a:avLst/>
              </a:prstGeom>
            </p:spPr>
          </p:pic>
          <p:pic>
            <p:nvPicPr>
              <p:cNvPr id="28" name="圖片 27">
                <a:extLst>
                  <a:ext uri="{FF2B5EF4-FFF2-40B4-BE49-F238E27FC236}">
                    <a16:creationId xmlns:a16="http://schemas.microsoft.com/office/drawing/2014/main" id="{434679FE-6885-BD45-9B25-4225E41EDC9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14" cstate="screen">
                <a:clrChange>
                  <a:clrFrom>
                    <a:srgbClr val="007BC7"/>
                  </a:clrFrom>
                  <a:clrTo>
                    <a:srgbClr val="007BC7">
                      <a:alpha val="0"/>
                    </a:srgbClr>
                  </a:clrTo>
                </a:clrChange>
                <a:grayscl/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7322558" y="728654"/>
                <a:ext cx="364621" cy="361039"/>
              </a:xfrm>
              <a:prstGeom prst="rect">
                <a:avLst/>
              </a:prstGeom>
            </p:spPr>
          </p:pic>
        </p:grpSp>
      </p:grpSp>
      <p:sp>
        <p:nvSpPr>
          <p:cNvPr id="29" name="Text Box 4">
            <a:extLst>
              <a:ext uri="{FF2B5EF4-FFF2-40B4-BE49-F238E27FC236}">
                <a16:creationId xmlns:a16="http://schemas.microsoft.com/office/drawing/2014/main" id="{DB4CC9F4-A9A5-8643-9590-51E2ECE69F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210919" y="2451643"/>
            <a:ext cx="1906717" cy="25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2375" tIns="51187" rIns="102375" bIns="51187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  <a:cs typeface="新細明體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charset="0"/>
                <a:ea typeface="新細明體" charset="0"/>
              </a:defRPr>
            </a:lvl9pPr>
          </a:lstStyle>
          <a:p>
            <a:pPr eaLnBrk="1" hangingPunct="1"/>
            <a:r>
              <a:rPr kumimoji="0" lang="en-US" altLang="zh-TW" sz="1000" dirty="0">
                <a:solidFill>
                  <a:srgbClr val="00B0FF"/>
                </a:solidFill>
                <a:latin typeface="Arial" charset="0"/>
                <a:ea typeface="宋体" charset="0"/>
                <a:cs typeface="Arial" charset="0"/>
              </a:rPr>
              <a:t>Core Technology R&amp;D Center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A892B46-6E5E-214D-B4CF-F5F58DFA17AB}"/>
              </a:ext>
            </a:extLst>
          </p:cNvPr>
          <p:cNvSpPr txBox="1"/>
          <p:nvPr userDrawn="1"/>
        </p:nvSpPr>
        <p:spPr>
          <a:xfrm>
            <a:off x="5210919" y="2249009"/>
            <a:ext cx="1838984" cy="283112"/>
          </a:xfrm>
          <a:prstGeom prst="rect">
            <a:avLst/>
          </a:prstGeom>
          <a:noFill/>
        </p:spPr>
        <p:txBody>
          <a:bodyPr wrap="square" lIns="97332" tIns="48667" rIns="97332" bIns="48667" rtlCol="0">
            <a:spAutoFit/>
          </a:bodyPr>
          <a:lstStyle/>
          <a:p>
            <a:pPr algn="dist"/>
            <a:r>
              <a:rPr lang="zh-TW" altLang="en-US" sz="1200" dirty="0">
                <a:solidFill>
                  <a:schemeClr val="bg1"/>
                </a:solidFill>
                <a:latin typeface="微軟正黑體"/>
                <a:ea typeface="微軟正黑體"/>
                <a:cs typeface="微軟正黑體"/>
              </a:rPr>
              <a:t>核心技術研發中心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94FC159-7C7F-1342-8CAA-EB880F47242A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4241739" y="48512"/>
            <a:ext cx="69954" cy="5537904"/>
          </a:xfrm>
          <a:prstGeom prst="rect">
            <a:avLst/>
          </a:prstGeom>
          <a:solidFill>
            <a:srgbClr val="F57C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lIns="97332" tIns="48667" rIns="97332" bIns="48667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15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No 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FontTx/>
              <a:buNone/>
              <a:defRPr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>
                <a:solidFill>
                  <a:srgbClr val="7F7F7F"/>
                </a:solidFill>
              </a:defRPr>
            </a:lvl2pPr>
            <a:lvl3pPr marL="914400" indent="0">
              <a:buFontTx/>
              <a:buNone/>
              <a:defRPr>
                <a:solidFill>
                  <a:srgbClr val="7F7F7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7F7F7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57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buClr>
                <a:srgbClr val="FF8400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FF8400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FF8400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FF8400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FF8400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64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(Dark Gray, No Bullet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Clr>
                <a:srgbClr val="FF8400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Clr>
                <a:srgbClr val="FF8400"/>
              </a:buClr>
              <a:buFontTx/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 marL="914400" indent="0">
              <a:buClr>
                <a:srgbClr val="FF8400"/>
              </a:buClr>
              <a:buFontTx/>
              <a:buNone/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 marL="1371600" indent="0">
              <a:buClr>
                <a:srgbClr val="FF8400"/>
              </a:buClr>
              <a:buFontTx/>
              <a:buNone/>
              <a:defRPr>
                <a:solidFill>
                  <a:srgbClr val="D9D9D9"/>
                </a:solidFill>
              </a:defRPr>
            </a:lvl4pPr>
            <a:lvl5pPr marL="1828800" indent="0">
              <a:buClr>
                <a:srgbClr val="FF8400"/>
              </a:buClr>
              <a:buFontTx/>
              <a:buNone/>
              <a:defRPr>
                <a:solidFill>
                  <a:srgbClr val="D9D9D9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23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28210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No Bu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7F7F7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  <a:effectLst/>
        </p:spPr>
        <p:txBody>
          <a:bodyPr lIns="447040"/>
          <a:lstStyle>
            <a:lvl1pPr marL="0" indent="0">
              <a:buFontTx/>
              <a:buNone/>
              <a:defRPr>
                <a:solidFill>
                  <a:srgbClr val="7F7F7F"/>
                </a:solidFill>
              </a:defRPr>
            </a:lvl1pPr>
            <a:lvl2pPr marL="457200" indent="0">
              <a:buFontTx/>
              <a:buNone/>
              <a:defRPr>
                <a:solidFill>
                  <a:srgbClr val="7F7F7F"/>
                </a:solidFill>
              </a:defRPr>
            </a:lvl2pPr>
            <a:lvl3pPr marL="914400" indent="0">
              <a:buFontTx/>
              <a:buNone/>
              <a:defRPr>
                <a:solidFill>
                  <a:srgbClr val="7F7F7F"/>
                </a:solidFill>
              </a:defRPr>
            </a:lvl3pPr>
            <a:lvl4pPr marL="1371600" indent="0">
              <a:buFontTx/>
              <a:buNone/>
              <a:defRPr>
                <a:solidFill>
                  <a:srgbClr val="7F7F7F"/>
                </a:solidFill>
              </a:defRPr>
            </a:lvl4pPr>
            <a:lvl5pPr marL="1828800" indent="0">
              <a:buFontTx/>
              <a:buNone/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92639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/>
          <a:lstStyle>
            <a:lvl1pPr>
              <a:buClr>
                <a:srgbClr val="FF7A00"/>
              </a:buClr>
              <a:defRPr>
                <a:solidFill>
                  <a:schemeClr val="bg1"/>
                </a:solidFill>
              </a:defRPr>
            </a:lvl1pPr>
            <a:lvl2pPr>
              <a:buClr>
                <a:srgbClr val="FF7A00"/>
              </a:buClr>
              <a:defRPr>
                <a:solidFill>
                  <a:schemeClr val="bg1"/>
                </a:solidFill>
              </a:defRPr>
            </a:lvl2pPr>
            <a:lvl3pPr>
              <a:buClr>
                <a:srgbClr val="FF7A00"/>
              </a:buClr>
              <a:defRPr>
                <a:solidFill>
                  <a:schemeClr val="bg1"/>
                </a:solidFill>
              </a:defRPr>
            </a:lvl3pPr>
            <a:lvl4pPr>
              <a:buClr>
                <a:srgbClr val="FF7A00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FF7A00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15341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、副標題及物件(Dark Gray, No Bullet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40482"/>
            <a:ext cx="8229600" cy="4064654"/>
          </a:xfrm>
        </p:spPr>
        <p:txBody>
          <a:bodyPr lIns="447040"/>
          <a:lstStyle>
            <a:lvl1pPr marL="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rgbClr val="FF7A00"/>
              </a:buClr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17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563111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613750" y="1766962"/>
            <a:ext cx="5397947" cy="676201"/>
          </a:xfrm>
        </p:spPr>
        <p:txBody>
          <a:bodyPr anchor="t"/>
          <a:lstStyle>
            <a:lvl1pPr algn="l">
              <a:defRPr sz="4000" b="0" cap="none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 rot="5400000">
            <a:off x="1409700" y="358019"/>
            <a:ext cx="674688" cy="3494088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srgbClr val="000000">
                <a:alpha val="39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schemeClr val="l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489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029138"/>
            <a:ext cx="4038600" cy="3225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029138"/>
            <a:ext cx="4038600" cy="32253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5194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029138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562273"/>
            <a:ext cx="4040188" cy="3542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029138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562273"/>
            <a:ext cx="4041775" cy="35428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11" name="矩形 10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96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14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98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8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419172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與副標題(Dark Gray)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rmAutofit/>
          </a:bodyPr>
          <a:lstStyle>
            <a:lvl1pPr algn="l">
              <a:defRPr sz="2400">
                <a:solidFill>
                  <a:srgbClr val="FFFFFF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7" name="矩形 6"/>
          <p:cNvSpPr>
            <a:spLocks noChangeArrowheads="1"/>
          </p:cNvSpPr>
          <p:nvPr userDrawn="1"/>
        </p:nvSpPr>
        <p:spPr bwMode="auto">
          <a:xfrm>
            <a:off x="0" y="322924"/>
            <a:ext cx="503238" cy="323850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00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>
              <a:solidFill>
                <a:prstClr val="white"/>
              </a:solidFill>
              <a:latin typeface="+mn-lt"/>
              <a:ea typeface="黑体"/>
              <a:cs typeface="+mn-cs"/>
            </a:endParaRPr>
          </a:p>
        </p:txBody>
      </p:sp>
      <p:sp>
        <p:nvSpPr>
          <p:cNvPr id="8" name="文字版面配置區 13"/>
          <p:cNvSpPr>
            <a:spLocks noGrp="1"/>
          </p:cNvSpPr>
          <p:nvPr>
            <p:ph type="body" sz="quarter" idx="13" hasCustomPrompt="1"/>
          </p:nvPr>
        </p:nvSpPr>
        <p:spPr>
          <a:xfrm>
            <a:off x="604812" y="723686"/>
            <a:ext cx="8006387" cy="333463"/>
          </a:xfrm>
          <a:effectLst>
            <a:outerShdw blurRad="101600" dist="63500" dir="2700000" algn="tl" rotWithShape="0">
              <a:srgbClr val="000000">
                <a:alpha val="43000"/>
              </a:srgbClr>
            </a:outerShdw>
          </a:effectLst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371886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72875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(Dark Gray)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7BDE2-4401-E347-B894-96E96B98C55C}" type="datetimeFigureOut">
              <a:rPr kumimoji="1" lang="zh-TW" altLang="en-US" smtClean="0"/>
              <a:t>2026/1/16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D5BB0-1216-8E48-A837-0CCFD9BD716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0524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fld id="{62C7BDE2-4401-E347-B894-96E96B98C55C}" type="datetimeFigureOut">
              <a:rPr kumimoji="1" lang="zh-TW" altLang="en-US" smtClean="0"/>
              <a:pPr/>
              <a:t>2026/1/16</a:t>
            </a:fld>
            <a:endParaRPr kumimoji="1"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r>
              <a:rPr kumimoji="1" lang="en-US" altLang="zh-TW" dirty="0"/>
              <a:t>CTRDC</a:t>
            </a:r>
            <a:endParaRPr kumimoji="1"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黑体"/>
              </a:defRPr>
            </a:lvl1pPr>
          </a:lstStyle>
          <a:p>
            <a:fld id="{903D5BB0-1216-8E48-A837-0CCFD9BD7164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sp>
        <p:nvSpPr>
          <p:cNvPr id="8" name="圓角化同側角落矩形 7"/>
          <p:cNvSpPr>
            <a:spLocks/>
          </p:cNvSpPr>
          <p:nvPr userDrawn="1"/>
        </p:nvSpPr>
        <p:spPr>
          <a:xfrm>
            <a:off x="7884368" y="0"/>
            <a:ext cx="792088" cy="203200"/>
          </a:xfrm>
          <a:prstGeom prst="round2SameRect">
            <a:avLst>
              <a:gd name="adj1" fmla="val 0"/>
              <a:gd name="adj2" fmla="val 50000"/>
            </a:avLst>
          </a:prstGeom>
          <a:gradFill flip="none" rotWithShape="1">
            <a:gsLst>
              <a:gs pos="0">
                <a:srgbClr val="FF6600"/>
              </a:gs>
              <a:gs pos="100000">
                <a:srgbClr val="FF3300"/>
              </a:gs>
            </a:gsLst>
            <a:lin ang="54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878" tIns="91419" rIns="88878" bIns="165061" rtlCol="0" anchor="t">
            <a:noAutofit/>
          </a:bodyPr>
          <a:lstStyle/>
          <a:p>
            <a:pPr algn="ctr"/>
            <a:r>
              <a:rPr kumimoji="1" lang="en-US" altLang="zh-TW" sz="800" dirty="0">
                <a:latin typeface="Candara"/>
                <a:cs typeface="Candara"/>
              </a:rPr>
              <a:t>Confidential</a:t>
            </a:r>
            <a:endParaRPr kumimoji="1" lang="zh-TW" altLang="en-US" sz="800" dirty="0">
              <a:latin typeface="Candara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60898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69" r:id="rId3"/>
    <p:sldLayoutId id="2147483650" r:id="rId4"/>
    <p:sldLayoutId id="2147483664" r:id="rId5"/>
    <p:sldLayoutId id="2147483660" r:id="rId6"/>
    <p:sldLayoutId id="2147483665" r:id="rId7"/>
    <p:sldLayoutId id="2147483656" r:id="rId8"/>
    <p:sldLayoutId id="2147483666" r:id="rId9"/>
    <p:sldLayoutId id="2147483663" r:id="rId10"/>
    <p:sldLayoutId id="2147483667" r:id="rId11"/>
    <p:sldLayoutId id="2147483651" r:id="rId12"/>
    <p:sldLayoutId id="2147483652" r:id="rId13"/>
    <p:sldLayoutId id="2147483653" r:id="rId14"/>
    <p:sldLayoutId id="2147483654" r:id="rId15"/>
    <p:sldLayoutId id="2147483658" r:id="rId16"/>
    <p:sldLayoutId id="2147483657" r:id="rId17"/>
    <p:sldLayoutId id="2147483659" r:id="rId18"/>
    <p:sldLayoutId id="2147483655" r:id="rId19"/>
    <p:sldLayoutId id="2147483662" r:id="rId2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Wingdings" charset="2"/>
        <a:buChar char=""/>
        <a:defRPr sz="24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Arial"/>
        <a:buChar char="–"/>
        <a:defRPr sz="20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FF6600"/>
        </a:buClr>
        <a:buFont typeface="Arial"/>
        <a:buChar char="•"/>
        <a:defRPr sz="18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FF6600"/>
        </a:buClr>
        <a:buSzPct val="50000"/>
        <a:buFont typeface="Arial"/>
        <a:buChar char="–"/>
        <a:defRPr sz="16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FF6600"/>
        </a:buClr>
        <a:buFont typeface="Arial"/>
        <a:buChar char="»"/>
        <a:defRPr sz="1600" kern="1200">
          <a:solidFill>
            <a:srgbClr val="7F7F7F"/>
          </a:solidFill>
          <a:latin typeface="+mn-lt"/>
          <a:ea typeface="Microsoft JhengHei" panose="020B0604030504040204" pitchFamily="34" charset="-12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selectronics.com/pages/can-fd-flexible-data-rate-intro" TargetMode="External"/><Relationship Id="rId2" Type="http://schemas.openxmlformats.org/officeDocument/2006/relationships/hyperlink" Target="https://en.wikipedia.org/wiki/Robert_Bosch_GmbH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ystemaccess.com.tw/page/about/index.aspx?kind=1164" TargetMode="External"/><Relationship Id="rId3" Type="http://schemas.openxmlformats.org/officeDocument/2006/relationships/hyperlink" Target="https://wiki.csie.ncku.edu.tw/embedded/CAN#interframe-spacing%E9%80%9A%E8%A8%8A%E6%A0%BC%E5%BC%8F%E9%96%93%E9%9A%94" TargetMode="External"/><Relationship Id="rId7" Type="http://schemas.openxmlformats.org/officeDocument/2006/relationships/hyperlink" Target="https://www.csselectronics.com/pages/can-bus-simple-intro-tutorial" TargetMode="External"/><Relationship Id="rId2" Type="http://schemas.openxmlformats.org/officeDocument/2006/relationships/hyperlink" Target="https://en.wikipedia.org/wiki/CAN_bus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www.circuitbread.com/tutorials/understanding-can-a-beginners-guide-to-the-controller-area-network-protocol" TargetMode="External"/><Relationship Id="rId5" Type="http://schemas.openxmlformats.org/officeDocument/2006/relationships/hyperlink" Target="https://wellstsai.com/post/can-protocol/" TargetMode="External"/><Relationship Id="rId4" Type="http://schemas.openxmlformats.org/officeDocument/2006/relationships/hyperlink" Target="https://www.winstar.com.tw/zh-tw/can-bus-interface-communic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標題 1">
            <a:extLst>
              <a:ext uri="{FF2B5EF4-FFF2-40B4-BE49-F238E27FC236}">
                <a16:creationId xmlns:a16="http://schemas.microsoft.com/office/drawing/2014/main" id="{132F6085-79EA-874B-8AE5-6B67F903FA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Allan Chen</a:t>
            </a:r>
            <a:endParaRPr kumimoji="1"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D6A113B-B62F-904B-8F06-8D8A1B06A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970" y="2941575"/>
            <a:ext cx="6556248" cy="551173"/>
          </a:xfrm>
        </p:spPr>
        <p:txBody>
          <a:bodyPr>
            <a:normAutofit/>
          </a:bodyPr>
          <a:lstStyle/>
          <a:p>
            <a:r>
              <a:rPr lang="en-US" altLang="zh-TW" dirty="0"/>
              <a:t>Introduction to CAN and CAN FD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698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3ACB95-8B87-508D-3BAC-F1520A797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896111"/>
            <a:ext cx="4038600" cy="468073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000" dirty="0"/>
              <a:t>Definition: </a:t>
            </a:r>
          </a:p>
          <a:p>
            <a:pPr lvl="1">
              <a:lnSpc>
                <a:spcPct val="90000"/>
              </a:lnSpc>
            </a:pPr>
            <a:r>
              <a:rPr lang="en-US" altLang="zh-TW" sz="1600" dirty="0"/>
              <a:t>Controller Area Network</a:t>
            </a:r>
          </a:p>
          <a:p>
            <a:pPr lvl="1">
              <a:lnSpc>
                <a:spcPct val="90000"/>
              </a:lnSpc>
            </a:pPr>
            <a:r>
              <a:rPr lang="en-US" altLang="zh-TW" sz="1600" dirty="0"/>
              <a:t>A high-integrity, multi-master, broadcast serial bus system.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Origins: Developed by Robert Bosch GmbH in the 1980s for automotive applications.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Key Philosophy: 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To replace point-to-point wiring with a single network.</a:t>
            </a:r>
          </a:p>
          <a:p>
            <a:pPr lvl="1">
              <a:lnSpc>
                <a:spcPct val="90000"/>
              </a:lnSpc>
            </a:pPr>
            <a:r>
              <a:rPr lang="en-US" altLang="zh-TW" sz="2000" dirty="0"/>
              <a:t>To ensure reliable communication in electronically "noisy" environments.</a:t>
            </a:r>
            <a:endParaRPr lang="zh-TW" altLang="en-US" sz="2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C593993-5E01-A5F3-8E7E-5081EDBC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 anchor="ctr">
            <a:normAutofit/>
          </a:bodyPr>
          <a:lstStyle/>
          <a:p>
            <a:r>
              <a:rPr lang="en-US" altLang="zh-TW"/>
              <a:t>What is CAN Bus?</a:t>
            </a:r>
            <a:endParaRPr lang="zh-TW" altLang="en-US"/>
          </a:p>
        </p:txBody>
      </p:sp>
      <p:pic>
        <p:nvPicPr>
          <p:cNvPr id="8" name="圖片 7" descr="一張含有 Rectangle, 圖表, 螢幕擷取畫面, 正方形 的圖片&#10;&#10;AI 產生的內容可能不正確。">
            <a:extLst>
              <a:ext uri="{FF2B5EF4-FFF2-40B4-BE49-F238E27FC236}">
                <a16:creationId xmlns:a16="http://schemas.microsoft.com/office/drawing/2014/main" id="{1BE37372-CBDF-FDBC-CD90-F6CF263B3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18" y="2144213"/>
            <a:ext cx="4132490" cy="15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1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AAB2-846E-94D9-6557-ED8835DB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B6E32F-FB6C-1BC9-2D9E-6348836B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0200" y="831548"/>
            <a:ext cx="8813800" cy="2639193"/>
          </a:xfrm>
        </p:spPr>
        <p:txBody>
          <a:bodyPr>
            <a:normAutofit/>
          </a:bodyPr>
          <a:lstStyle/>
          <a:p>
            <a:r>
              <a:rPr lang="en-US" altLang="zh-TW" sz="1400" b="1" dirty="0"/>
              <a:t>Pre CAN: </a:t>
            </a:r>
            <a:r>
              <a:rPr lang="en-US" altLang="zh-TW" sz="1400" dirty="0"/>
              <a:t>Car ECUs relied on complex point-to-point wiring</a:t>
            </a:r>
          </a:p>
          <a:p>
            <a:r>
              <a:rPr lang="en-US" altLang="zh-TW" sz="1400" b="1" dirty="0"/>
              <a:t>1986: </a:t>
            </a:r>
            <a:r>
              <a:rPr lang="en-US" altLang="zh-TW" sz="1400" dirty="0">
                <a:hlinkClick r:id="rId2"/>
              </a:rPr>
              <a:t>Bosch</a:t>
            </a:r>
            <a:r>
              <a:rPr lang="en-US" altLang="zh-TW" sz="1400" dirty="0"/>
              <a:t> developed the CAN protocol as a solution</a:t>
            </a:r>
          </a:p>
          <a:p>
            <a:r>
              <a:rPr lang="en-US" altLang="zh-TW" sz="1400" b="1" dirty="0"/>
              <a:t>1991: </a:t>
            </a:r>
            <a:r>
              <a:rPr lang="en-US" altLang="zh-TW" sz="1400" dirty="0"/>
              <a:t>Bosch published CAN 2.0 (CAN 2.0A: 11 bit, 2.0B: 29 bit)</a:t>
            </a:r>
          </a:p>
          <a:p>
            <a:r>
              <a:rPr lang="en-US" altLang="zh-TW" sz="1400" b="1" dirty="0"/>
              <a:t>1993: </a:t>
            </a:r>
            <a:r>
              <a:rPr lang="en-US" altLang="zh-TW" sz="1400" dirty="0"/>
              <a:t>CAN is adopted as international standard (ISO 11898)</a:t>
            </a:r>
          </a:p>
          <a:p>
            <a:r>
              <a:rPr lang="en-US" altLang="zh-TW" sz="1400" b="1" dirty="0"/>
              <a:t>2003:</a:t>
            </a:r>
            <a:r>
              <a:rPr lang="en-US" altLang="zh-TW" sz="1400" dirty="0"/>
              <a:t> ISO 11898 becomes a standard series</a:t>
            </a:r>
          </a:p>
          <a:p>
            <a:r>
              <a:rPr lang="en-US" altLang="zh-TW" sz="1400" b="1" dirty="0"/>
              <a:t>2012: </a:t>
            </a:r>
            <a:r>
              <a:rPr lang="en-US" altLang="zh-TW" sz="1400" dirty="0"/>
              <a:t>Bosch released the </a:t>
            </a:r>
            <a:r>
              <a:rPr lang="en-US" altLang="zh-TW" sz="1400" dirty="0">
                <a:hlinkClick r:id="rId3"/>
              </a:rPr>
              <a:t>CAN FD</a:t>
            </a:r>
            <a:r>
              <a:rPr lang="en-US" altLang="zh-TW" sz="1400" dirty="0"/>
              <a:t> 1.0 (flexible data rate)</a:t>
            </a:r>
          </a:p>
          <a:p>
            <a:r>
              <a:rPr lang="en-US" altLang="zh-TW" sz="1400" b="1" dirty="0"/>
              <a:t>2015:</a:t>
            </a:r>
            <a:r>
              <a:rPr lang="en-US" altLang="zh-TW" sz="1400" dirty="0"/>
              <a:t> The CAN FD protocol is standardized (ISO 11898-1)</a:t>
            </a:r>
          </a:p>
          <a:p>
            <a:r>
              <a:rPr lang="en-US" altLang="zh-TW" sz="1400" b="1" dirty="0"/>
              <a:t>2016:</a:t>
            </a:r>
            <a:r>
              <a:rPr lang="en-US" altLang="zh-TW" sz="1400" dirty="0"/>
              <a:t> The physical CAN layer for data-rates up to 5 Mbit/s standardized in ISO 11898-2 (in practice up to 8 Mbit/s)</a:t>
            </a:r>
          </a:p>
          <a:p>
            <a:r>
              <a:rPr lang="en-US" altLang="zh-TW" sz="1400" b="1" dirty="0"/>
              <a:t>2018: </a:t>
            </a:r>
            <a:r>
              <a:rPr lang="en-US" altLang="zh-TW" sz="1400" dirty="0" err="1"/>
              <a:t>CiA</a:t>
            </a:r>
            <a:r>
              <a:rPr lang="en-US" altLang="zh-TW" sz="1400" dirty="0"/>
              <a:t> starts development of CAN XL</a:t>
            </a:r>
          </a:p>
          <a:p>
            <a:r>
              <a:rPr lang="en-US" altLang="zh-TW" sz="1400" b="1" dirty="0"/>
              <a:t>2024:</a:t>
            </a:r>
            <a:r>
              <a:rPr lang="en-US" altLang="zh-TW" sz="1400" dirty="0"/>
              <a:t> CAN XL standardized (ISO 11898-1:2024, 11898-2:2024)</a:t>
            </a:r>
          </a:p>
          <a:p>
            <a:pPr>
              <a:lnSpc>
                <a:spcPct val="90000"/>
              </a:lnSpc>
            </a:pPr>
            <a:endParaRPr lang="zh-TW" altLang="en-US" sz="14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C007572-A452-6B9E-5216-5AD2BD59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The CAN bus history in short</a:t>
            </a:r>
          </a:p>
        </p:txBody>
      </p:sp>
      <p:pic>
        <p:nvPicPr>
          <p:cNvPr id="5" name="圖片 4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855407F8-5AD6-2DA9-4344-763850EF8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649" y="3470741"/>
            <a:ext cx="6524702" cy="224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32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19764-F3DD-F6FA-C931-12C368AC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270A52-64A7-DE1D-E6CC-78002681E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100" y="1160176"/>
            <a:ext cx="3949700" cy="3896456"/>
          </a:xfrm>
        </p:spPr>
        <p:txBody>
          <a:bodyPr>
            <a:normAutofit fontScale="92500"/>
          </a:bodyPr>
          <a:lstStyle/>
          <a:p>
            <a:r>
              <a:rPr lang="en-US" altLang="zh-TW" sz="2000" b="1" dirty="0"/>
              <a:t>Overview:</a:t>
            </a:r>
            <a:r>
              <a:rPr lang="en-US" altLang="zh-TW" sz="2000" dirty="0"/>
              <a:t> CAN covers the two lowest layers of the OSI model: Data Link and Physical.</a:t>
            </a:r>
          </a:p>
          <a:p>
            <a:endParaRPr lang="en-US" altLang="zh-TW" sz="2000" dirty="0"/>
          </a:p>
          <a:p>
            <a:r>
              <a:rPr lang="en-US" altLang="zh-TW" sz="2000" b="1" dirty="0"/>
              <a:t>Data Link Layer (ISO 11898-1):</a:t>
            </a:r>
            <a:r>
              <a:rPr lang="en-US" altLang="zh-TW" sz="2000" dirty="0"/>
              <a:t> Handles frame formats, error handling (CRC/ACK), and arbitration.</a:t>
            </a:r>
          </a:p>
          <a:p>
            <a:endParaRPr lang="en-US" altLang="zh-TW" sz="2000" dirty="0"/>
          </a:p>
          <a:p>
            <a:r>
              <a:rPr lang="en-US" altLang="zh-TW" sz="2000" b="1" dirty="0"/>
              <a:t>Physical Layer (ISO 11898-2):</a:t>
            </a:r>
            <a:r>
              <a:rPr lang="en-US" altLang="zh-TW" sz="2000" dirty="0"/>
              <a:t> Defines bit timing, synchronization, and electrical signal levels.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B610ACF-C23F-8892-659C-910380A3A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12" y="138151"/>
            <a:ext cx="8006387" cy="693397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CAN in the OSI Model (Layered Architecture)</a:t>
            </a:r>
          </a:p>
        </p:txBody>
      </p:sp>
      <p:pic>
        <p:nvPicPr>
          <p:cNvPr id="5" name="圖片 4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A084B8BE-D5A9-4C32-BD49-28BDBE96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60176"/>
            <a:ext cx="4809928" cy="263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35C6AF-F221-C555-C1CD-DA9FAF19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Bus Topology</a:t>
            </a:r>
            <a:r>
              <a:rPr lang="zh-TW" altLang="en-US" dirty="0"/>
              <a:t>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pic>
        <p:nvPicPr>
          <p:cNvPr id="4" name="圖片 3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98E13032-2CBE-7CE2-FB73-244D79BA3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" y="831548"/>
            <a:ext cx="8769096" cy="4691466"/>
          </a:xfrm>
          <a:prstGeom prst="rect">
            <a:avLst/>
          </a:prstGeom>
        </p:spPr>
      </p:pic>
      <p:pic>
        <p:nvPicPr>
          <p:cNvPr id="10" name="圖片 9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14CB2235-A91A-D3D4-0771-953C538F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670" y="2011680"/>
            <a:ext cx="1508294" cy="76837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3EB6E56-9FA6-9050-C974-FEC81E9FE813}"/>
              </a:ext>
            </a:extLst>
          </p:cNvPr>
          <p:cNvSpPr/>
          <p:nvPr/>
        </p:nvSpPr>
        <p:spPr>
          <a:xfrm>
            <a:off x="7347670" y="2011680"/>
            <a:ext cx="1508294" cy="768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265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2180B9-052D-25A8-0BA2-4C25C727D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CAN Bus Topology</a:t>
            </a:r>
            <a:r>
              <a:rPr lang="zh-TW" altLang="en-US" dirty="0"/>
              <a:t>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CB359E-ED0A-967A-F074-394C2BE5CB88}"/>
              </a:ext>
            </a:extLst>
          </p:cNvPr>
          <p:cNvSpPr txBox="1">
            <a:spLocks/>
          </p:cNvSpPr>
          <p:nvPr/>
        </p:nvSpPr>
        <p:spPr>
          <a:xfrm>
            <a:off x="457200" y="896111"/>
            <a:ext cx="8211312" cy="459943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dirty="0"/>
              <a:t>Bus Line Structure: A linear bus topology where all nodes (ECUs) are connected to a single twisted-pair cable.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Key Components: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Main Trunk Line: The primary cable running through the system.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Drop Lines (Stubs): Short cables connecting individual nodes to the main trunk.</a:t>
            </a:r>
          </a:p>
          <a:p>
            <a:pPr lvl="1">
              <a:lnSpc>
                <a:spcPct val="90000"/>
              </a:lnSpc>
            </a:pPr>
            <a:endParaRPr lang="en-US" altLang="zh-TW" sz="16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Termination Resistors</a:t>
            </a:r>
            <a:r>
              <a:rPr lang="zh-TW" altLang="en-US" sz="2000" dirty="0"/>
              <a:t> </a:t>
            </a:r>
            <a:r>
              <a:rPr lang="en-US" altLang="zh-TW" sz="2000" dirty="0"/>
              <a:t>(120 </a:t>
            </a:r>
            <a:r>
              <a:rPr lang="el-GR" altLang="zh-TW" sz="2000" dirty="0"/>
              <a:t>Ω</a:t>
            </a:r>
            <a:r>
              <a:rPr lang="en-US" altLang="zh-TW" sz="2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Placed at the two extreme ends of the bus.</a:t>
            </a:r>
          </a:p>
          <a:p>
            <a:pPr lvl="1">
              <a:lnSpc>
                <a:spcPct val="90000"/>
              </a:lnSpc>
            </a:pPr>
            <a:r>
              <a:rPr lang="en-US" altLang="zh-TW" sz="1800" dirty="0"/>
              <a:t>Purpose</a:t>
            </a:r>
            <a:r>
              <a:rPr lang="en-US" altLang="zh-TW" sz="1800" b="1" dirty="0"/>
              <a:t>:</a:t>
            </a:r>
            <a:r>
              <a:rPr lang="en-US" altLang="zh-TW" sz="1800" dirty="0"/>
              <a:t> To match the characteristic impedance of the cable and prevent signal reflections that can cause data corruption.</a:t>
            </a:r>
          </a:p>
          <a:p>
            <a:pPr lvl="1">
              <a:lnSpc>
                <a:spcPct val="90000"/>
              </a:lnSpc>
            </a:pPr>
            <a:endParaRPr lang="en-US" altLang="zh-TW" sz="16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Scalability:</a:t>
            </a:r>
            <a:r>
              <a:rPr lang="zh-TW" altLang="en-US" sz="2000" dirty="0"/>
              <a:t> </a:t>
            </a:r>
            <a:r>
              <a:rPr lang="en-US" altLang="zh-TW" sz="2000" dirty="0"/>
              <a:t>New nodes can be added easily without changing the entire wiring harness.</a:t>
            </a:r>
          </a:p>
        </p:txBody>
      </p:sp>
    </p:spTree>
    <p:extLst>
      <p:ext uri="{BB962C8B-B14F-4D97-AF65-F5344CB8AC3E}">
        <p14:creationId xmlns:p14="http://schemas.microsoft.com/office/powerpoint/2010/main" val="433460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601C-1624-F028-C986-F24804A6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289E6-C08C-6B74-50F2-9CDFFA8E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Physical Layer Constraints &amp; Requirements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FB925E-F218-3C61-4850-A7F8614C13A1}"/>
              </a:ext>
            </a:extLst>
          </p:cNvPr>
          <p:cNvSpPr txBox="1">
            <a:spLocks/>
          </p:cNvSpPr>
          <p:nvPr/>
        </p:nvSpPr>
        <p:spPr>
          <a:xfrm>
            <a:off x="466344" y="1078991"/>
            <a:ext cx="8211312" cy="35570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dirty="0"/>
              <a:t>Bit Rate: Supports up to 1 Mbit/s for Classical CAN and up to 8 Mbit/s for CAN FD.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Cable Length vs. Speed: Maximum length is 500m (at 125 kbit/s) or 40m (at 1 Mbit/s).</a:t>
            </a:r>
          </a:p>
          <a:p>
            <a:pPr lvl="1">
              <a:lnSpc>
                <a:spcPct val="90000"/>
              </a:lnSpc>
            </a:pPr>
            <a:endParaRPr lang="en-US" altLang="zh-TW" sz="1600" dirty="0"/>
          </a:p>
          <a:p>
            <a:pPr>
              <a:lnSpc>
                <a:spcPct val="90000"/>
              </a:lnSpc>
            </a:pPr>
            <a:r>
              <a:rPr lang="en-US" altLang="zh-TW" sz="2000" dirty="0"/>
              <a:t>Hardware Requirement: Each end of the bus must be terminated with a 120 Ohm resistor.</a:t>
            </a:r>
          </a:p>
        </p:txBody>
      </p:sp>
    </p:spTree>
    <p:extLst>
      <p:ext uri="{BB962C8B-B14F-4D97-AF65-F5344CB8AC3E}">
        <p14:creationId xmlns:p14="http://schemas.microsoft.com/office/powerpoint/2010/main" val="192699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528A1-BEDC-C1D1-607B-C64D1C5C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E5DF2F-2EDA-7AC2-401E-50D4195A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Physical Layer Signaling: Dominant vs. Recessive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B0DFCC-CE5E-6687-2144-9363400A3811}"/>
              </a:ext>
            </a:extLst>
          </p:cNvPr>
          <p:cNvSpPr txBox="1">
            <a:spLocks/>
          </p:cNvSpPr>
          <p:nvPr/>
        </p:nvSpPr>
        <p:spPr>
          <a:xfrm>
            <a:off x="457200" y="817376"/>
            <a:ext cx="8211312" cy="252236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dirty="0"/>
              <a:t>Differential Signaling: Data is transmitted via a pair of wires (CAN High and CAN Low).</a:t>
            </a:r>
          </a:p>
          <a:p>
            <a:pPr>
              <a:lnSpc>
                <a:spcPct val="90000"/>
              </a:lnSpc>
            </a:pPr>
            <a:r>
              <a:rPr lang="en-US" altLang="zh-TW" sz="2000" dirty="0"/>
              <a:t>Logical States: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/>
              <a:t>Dominant (0):</a:t>
            </a:r>
            <a:r>
              <a:rPr lang="en-US" altLang="zh-TW" sz="1800" dirty="0"/>
              <a:t> Logic '0'. The bus is actively driven; it wins over recessive bits.</a:t>
            </a:r>
          </a:p>
          <a:p>
            <a:pPr lvl="1">
              <a:lnSpc>
                <a:spcPct val="90000"/>
              </a:lnSpc>
            </a:pPr>
            <a:r>
              <a:rPr lang="en-US" altLang="zh-TW" sz="1800" b="1" dirty="0"/>
              <a:t>Recessive (1):</a:t>
            </a:r>
            <a:r>
              <a:rPr lang="en-US" altLang="zh-TW" sz="1800" dirty="0"/>
              <a:t> Logic ‘1’. The bus is in a passive state, maintained by 120</a:t>
            </a:r>
            <a:r>
              <a:rPr lang="el-GR" altLang="zh-TW" sz="1800" dirty="0"/>
              <a:t> Ω</a:t>
            </a:r>
            <a:r>
              <a:rPr lang="zh-TW" altLang="en-US" sz="1800" dirty="0"/>
              <a:t> </a:t>
            </a:r>
            <a:r>
              <a:rPr lang="en-US" altLang="zh-TW" sz="1800" dirty="0"/>
              <a:t>termination resistors.</a:t>
            </a:r>
          </a:p>
          <a:p>
            <a:pPr>
              <a:lnSpc>
                <a:spcPct val="90000"/>
              </a:lnSpc>
            </a:pPr>
            <a:r>
              <a:rPr lang="en-US" altLang="zh-TW" sz="2000" dirty="0"/>
              <a:t>Noise Immunity: Differential signals cancel out common-mode electromagnetic interference.</a:t>
            </a:r>
          </a:p>
        </p:txBody>
      </p:sp>
      <p:pic>
        <p:nvPicPr>
          <p:cNvPr id="8" name="圖片 7" descr="一張含有 文字, 圖表, 字型, 行 的圖片&#10;&#10;AI 產生的內容可能不正確。">
            <a:extLst>
              <a:ext uri="{FF2B5EF4-FFF2-40B4-BE49-F238E27FC236}">
                <a16:creationId xmlns:a16="http://schemas.microsoft.com/office/drawing/2014/main" id="{E505FCFC-3778-C6AF-F302-EC7BFEDAF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9741"/>
            <a:ext cx="4598822" cy="2028892"/>
          </a:xfrm>
          <a:prstGeom prst="rect">
            <a:avLst/>
          </a:prstGeom>
        </p:spPr>
      </p:pic>
      <p:pic>
        <p:nvPicPr>
          <p:cNvPr id="10" name="圖片 9" descr="一張含有 圖表, 行, 繪圖, 文字 的圖片&#10;&#10;AI 產生的內容可能不正確。">
            <a:extLst>
              <a:ext uri="{FF2B5EF4-FFF2-40B4-BE49-F238E27FC236}">
                <a16:creationId xmlns:a16="http://schemas.microsoft.com/office/drawing/2014/main" id="{7793BFCA-8F77-5280-78BE-706B0696C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210260"/>
            <a:ext cx="4334256" cy="228785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0DAE04E-E88B-1D31-C51E-CF8823B6B9A7}"/>
              </a:ext>
            </a:extLst>
          </p:cNvPr>
          <p:cNvSpPr txBox="1"/>
          <p:nvPr/>
        </p:nvSpPr>
        <p:spPr>
          <a:xfrm>
            <a:off x="457201" y="5313449"/>
            <a:ext cx="34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ea typeface="Microsoft JhengHei" panose="020B0604030504040204" pitchFamily="34" charset="-120"/>
              </a:rPr>
              <a:t>Fig. 1: Differential mode signal in CAN bus</a:t>
            </a:r>
            <a:endParaRPr kumimoji="1" lang="zh-TW" altLang="en-US" sz="1200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5883C8-2FEF-735C-97F1-03CBD8A14DBF}"/>
              </a:ext>
            </a:extLst>
          </p:cNvPr>
          <p:cNvSpPr txBox="1"/>
          <p:nvPr/>
        </p:nvSpPr>
        <p:spPr>
          <a:xfrm>
            <a:off x="4879849" y="5359614"/>
            <a:ext cx="34107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>
                <a:ea typeface="Microsoft JhengHei" panose="020B0604030504040204" pitchFamily="34" charset="-120"/>
              </a:rPr>
              <a:t>Fig. 2: CAN bus noise immunity</a:t>
            </a:r>
            <a:endParaRPr kumimoji="1" lang="zh-TW" altLang="en-US" sz="12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918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3A920-0832-9D9C-BC8D-A211D826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B39F7D-F73E-41F8-A674-A845BA7E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Asynchronous &amp; Self-Synchronization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58B36A-902D-8E26-3300-AD15501D5E7B}"/>
              </a:ext>
            </a:extLst>
          </p:cNvPr>
          <p:cNvSpPr txBox="1">
            <a:spLocks/>
          </p:cNvSpPr>
          <p:nvPr/>
        </p:nvSpPr>
        <p:spPr>
          <a:xfrm>
            <a:off x="568805" y="1067745"/>
            <a:ext cx="8108849" cy="216923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dirty="0"/>
              <a:t>Asynchronous Nature: No dedicated clock line (saves weight and cost).</a:t>
            </a:r>
          </a:p>
          <a:p>
            <a:pPr>
              <a:lnSpc>
                <a:spcPct val="90000"/>
              </a:lnSpc>
            </a:pPr>
            <a:r>
              <a:rPr lang="en-US" altLang="zh-TW" sz="2000" dirty="0"/>
              <a:t>Synchronization Strategy:</a:t>
            </a:r>
          </a:p>
          <a:p>
            <a:pPr lvl="1">
              <a:lnSpc>
                <a:spcPct val="90000"/>
              </a:lnSpc>
            </a:pPr>
            <a:r>
              <a:rPr lang="en-US" altLang="zh-TW" sz="1600" b="1" dirty="0"/>
              <a:t>Hard Sync:</a:t>
            </a:r>
            <a:r>
              <a:rPr lang="en-US" altLang="zh-TW" sz="1600" dirty="0"/>
              <a:t> Occurs on the falling edge of the Start of Frame (SOF) bit.</a:t>
            </a:r>
          </a:p>
          <a:p>
            <a:pPr lvl="1">
              <a:lnSpc>
                <a:spcPct val="90000"/>
              </a:lnSpc>
            </a:pPr>
            <a:r>
              <a:rPr lang="en-US" altLang="zh-TW" sz="1600" b="1" dirty="0"/>
              <a:t>Resynchronization:</a:t>
            </a:r>
            <a:r>
              <a:rPr lang="en-US" altLang="zh-TW" sz="1600" dirty="0"/>
              <a:t> Maintained throughout the frame using edges created by </a:t>
            </a:r>
            <a:r>
              <a:rPr lang="en-US" altLang="zh-TW" sz="1600" b="1" dirty="0"/>
              <a:t>Bit Stuffing</a:t>
            </a:r>
            <a:r>
              <a:rPr lang="en-US" altLang="zh-TW" sz="1600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zh-TW" sz="2000" b="1" dirty="0"/>
              <a:t>Bit Stuffing Rule</a:t>
            </a:r>
            <a:r>
              <a:rPr lang="en-US" altLang="zh-TW" sz="2000" dirty="0"/>
              <a:t>: After five consecutive bits of the same polarity, a bit of opposite polarity is automatically inserted.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pic>
        <p:nvPicPr>
          <p:cNvPr id="9" name="圖片 8" descr="一張含有 文字, 行, 字型, 繪圖 的圖片&#10;&#10;AI 產生的內容可能不正確。">
            <a:extLst>
              <a:ext uri="{FF2B5EF4-FFF2-40B4-BE49-F238E27FC236}">
                <a16:creationId xmlns:a16="http://schemas.microsoft.com/office/drawing/2014/main" id="{60291833-C162-F264-E8A8-F9C5D0AF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835"/>
            <a:ext cx="8183880" cy="233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2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7D76D-5DA7-4EF5-2366-6C13EB02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Frame Types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71CECD-4C11-79F0-17F9-0C958C9B563E}"/>
              </a:ext>
            </a:extLst>
          </p:cNvPr>
          <p:cNvSpPr txBox="1">
            <a:spLocks/>
          </p:cNvSpPr>
          <p:nvPr/>
        </p:nvSpPr>
        <p:spPr>
          <a:xfrm>
            <a:off x="457200" y="1036832"/>
            <a:ext cx="8211312" cy="419353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b="1" dirty="0"/>
              <a:t>Data frame</a:t>
            </a:r>
            <a:r>
              <a:rPr lang="en-US" altLang="zh-TW" dirty="0"/>
              <a:t>: A frame containing node data for transmission</a:t>
            </a:r>
          </a:p>
          <a:p>
            <a:endParaRPr lang="en-US" altLang="zh-TW" dirty="0"/>
          </a:p>
          <a:p>
            <a:r>
              <a:rPr lang="en-US" altLang="zh-TW" dirty="0"/>
              <a:t>Remote frame: A frame requesting the transmission of a specific identifier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b="1" dirty="0"/>
              <a:t>Error frame</a:t>
            </a:r>
            <a:r>
              <a:rPr lang="en-US" altLang="zh-TW" dirty="0"/>
              <a:t>: A frame transmitted by any node detecting an error</a:t>
            </a:r>
          </a:p>
          <a:p>
            <a:endParaRPr lang="en-US" altLang="zh-TW" dirty="0"/>
          </a:p>
          <a:p>
            <a:pPr>
              <a:lnSpc>
                <a:spcPct val="90000"/>
              </a:lnSpc>
            </a:pPr>
            <a:r>
              <a:rPr lang="en-US" altLang="zh-TW" dirty="0"/>
              <a:t>Overload frame: A frame to inject a delay between data or remote frame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2656861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E1B2-9E1D-31CF-4B09-9EAAB6515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AF9605-9DF5-6370-45B3-85204A20B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Frame Types – Data Frame</a:t>
            </a:r>
            <a:endParaRPr lang="zh-TW" altLang="en-US" dirty="0"/>
          </a:p>
        </p:txBody>
      </p:sp>
      <p:pic>
        <p:nvPicPr>
          <p:cNvPr id="5" name="圖片 4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CEDF5584-935F-3EEA-3134-E32FC24F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01" y="831548"/>
            <a:ext cx="7125317" cy="430567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DB4B09F-F572-8D9D-DFBA-DE14794D8B9A}"/>
              </a:ext>
            </a:extLst>
          </p:cNvPr>
          <p:cNvSpPr txBox="1"/>
          <p:nvPr/>
        </p:nvSpPr>
        <p:spPr>
          <a:xfrm>
            <a:off x="604812" y="5276088"/>
            <a:ext cx="2879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TW" dirty="0">
                <a:ea typeface="Microsoft JhengHei" panose="020B0604030504040204" pitchFamily="34" charset="-120"/>
              </a:rPr>
              <a:t>SOF: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Start of Frame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7C2648-9EC7-A248-23A6-E2F95AADED4A}"/>
              </a:ext>
            </a:extLst>
          </p:cNvPr>
          <p:cNvSpPr txBox="1"/>
          <p:nvPr/>
        </p:nvSpPr>
        <p:spPr>
          <a:xfrm>
            <a:off x="3282696" y="785749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TW" dirty="0">
                <a:ea typeface="Microsoft JhengHei" panose="020B0604030504040204" pitchFamily="34" charset="-120"/>
              </a:rPr>
              <a:t>CAN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2.0A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60B651F-FD21-064A-4C71-6288BBBD2FE8}"/>
              </a:ext>
            </a:extLst>
          </p:cNvPr>
          <p:cNvSpPr txBox="1"/>
          <p:nvPr/>
        </p:nvSpPr>
        <p:spPr>
          <a:xfrm>
            <a:off x="3745992" y="2436482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TW" dirty="0">
                <a:ea typeface="Microsoft JhengHei" panose="020B0604030504040204" pitchFamily="34" charset="-120"/>
              </a:rPr>
              <a:t>CAN</a:t>
            </a:r>
            <a:r>
              <a:rPr kumimoji="1" lang="zh-TW" altLang="en-US" dirty="0"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ea typeface="Microsoft JhengHei" panose="020B0604030504040204" pitchFamily="34" charset="-120"/>
              </a:rPr>
              <a:t>2.0B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7358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71A3-75D7-2039-7CB5-7377A5AD8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0DE4B-36A7-745E-68DD-CBC87F9EB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Data Frame with Bit Stuffing Example</a:t>
            </a:r>
            <a:endParaRPr lang="zh-TW" altLang="en-US" dirty="0"/>
          </a:p>
        </p:txBody>
      </p:sp>
      <p:pic>
        <p:nvPicPr>
          <p:cNvPr id="5" name="圖片 4" descr="一張含有 鮮豔, 螢幕擷取畫面, 行, 正方形 的圖片&#10;&#10;AI 產生的內容可能不正確。">
            <a:extLst>
              <a:ext uri="{FF2B5EF4-FFF2-40B4-BE49-F238E27FC236}">
                <a16:creationId xmlns:a16="http://schemas.microsoft.com/office/drawing/2014/main" id="{4D1F5793-7EA8-6D06-D75D-FF70AF97A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48" y="1233884"/>
            <a:ext cx="8931352" cy="4228438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EC995A8-ECE6-B514-BC46-D647DBAC123E}"/>
              </a:ext>
            </a:extLst>
          </p:cNvPr>
          <p:cNvSpPr txBox="1"/>
          <p:nvPr/>
        </p:nvSpPr>
        <p:spPr>
          <a:xfrm>
            <a:off x="484632" y="837338"/>
            <a:ext cx="6530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CAN frame before and after the addition of stuff bits (in purple). 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1748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F2146-50A0-111B-CADA-B53051539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F21FE7-17C7-0FF3-846B-87EA5B2F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Bus Arbitration (Priority-Based)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8704B7-6152-84A0-FD80-85531FBE9E95}"/>
              </a:ext>
            </a:extLst>
          </p:cNvPr>
          <p:cNvSpPr txBox="1">
            <a:spLocks/>
          </p:cNvSpPr>
          <p:nvPr/>
        </p:nvSpPr>
        <p:spPr>
          <a:xfrm>
            <a:off x="457200" y="1036832"/>
            <a:ext cx="8211312" cy="137718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Non-destructive:</a:t>
            </a:r>
            <a:r>
              <a:rPr lang="en-US" altLang="zh-TW" sz="2000" dirty="0"/>
              <a:t> Nodes monitor the bus while sending.</a:t>
            </a:r>
          </a:p>
          <a:p>
            <a:r>
              <a:rPr lang="en-US" altLang="zh-TW" sz="2000" b="1" dirty="0"/>
              <a:t>Logic:</a:t>
            </a:r>
            <a:r>
              <a:rPr lang="en-US" altLang="zh-TW" sz="2000" dirty="0"/>
              <a:t> If a node sends a 1 (Recessive) but hears a 0 (Dominant), it yields to the other node.</a:t>
            </a:r>
          </a:p>
          <a:p>
            <a:r>
              <a:rPr lang="en-US" altLang="zh-TW" sz="2000" b="1" dirty="0"/>
              <a:t>Result:</a:t>
            </a:r>
            <a:r>
              <a:rPr lang="en-US" altLang="zh-TW" sz="2000" dirty="0"/>
              <a:t> The lower the ID number, the higher the priority on the bus.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E8E6549-731F-1519-E1A1-3F2BE5FC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15" y="2709824"/>
            <a:ext cx="68008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50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8DA36-E90B-B782-8887-BB94F8E4E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0C749-58E6-4323-3277-D3B8F76F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DLC (Data Length Code) for CAN and CAN FD</a:t>
            </a:r>
            <a:endParaRPr lang="zh-TW" altLang="en-US" dirty="0"/>
          </a:p>
        </p:txBody>
      </p:sp>
      <p:pic>
        <p:nvPicPr>
          <p:cNvPr id="5" name="圖片 4" descr="一張含有 文字, 數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6F6F967-0126-76EF-1B5A-1335F38F1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74" y="1182623"/>
            <a:ext cx="5121402" cy="404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433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751ED-94BA-F2C3-1D54-7B7246AA2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E86C27-1337-8CA5-6D0D-3ECA20B5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Frame CRC &amp; ACK Mechanism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F6210A-7AA1-538F-C747-A2E060A70E46}"/>
              </a:ext>
            </a:extLst>
          </p:cNvPr>
          <p:cNvSpPr txBox="1">
            <a:spLocks/>
          </p:cNvSpPr>
          <p:nvPr/>
        </p:nvSpPr>
        <p:spPr>
          <a:xfrm>
            <a:off x="496224" y="831547"/>
            <a:ext cx="2850479" cy="47453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Delimiters:</a:t>
            </a:r>
            <a:r>
              <a:rPr lang="en-US" altLang="zh-TW" sz="2000" dirty="0"/>
              <a:t> 1-bit Recessive gaps (CRC/ACK Delimiters) for hardware processing.</a:t>
            </a:r>
          </a:p>
          <a:p>
            <a:r>
              <a:rPr lang="en-US" altLang="zh-TW" sz="2000" b="1" dirty="0"/>
              <a:t>ACK Mechanism:</a:t>
            </a:r>
            <a:r>
              <a:rPr lang="en-US" altLang="zh-TW" sz="2000" dirty="0"/>
              <a:t> Receivers pull the bus Dominant in the ACK slot to confirm valid reception.</a:t>
            </a:r>
          </a:p>
          <a:p>
            <a:r>
              <a:rPr lang="en-US" altLang="zh-TW" sz="2000" b="1" dirty="0"/>
              <a:t>Error Check:</a:t>
            </a:r>
            <a:r>
              <a:rPr lang="en-US" altLang="zh-TW" sz="2000" dirty="0"/>
              <a:t> If no ACK is detected, the transmitter triggers an ACK Error.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pic>
        <p:nvPicPr>
          <p:cNvPr id="7" name="圖片 6" descr="一張含有 文字, 螢幕擷取畫面, 行, 字型 的圖片&#10;&#10;AI 產生的內容可能不正確。">
            <a:extLst>
              <a:ext uri="{FF2B5EF4-FFF2-40B4-BE49-F238E27FC236}">
                <a16:creationId xmlns:a16="http://schemas.microsoft.com/office/drawing/2014/main" id="{1CF759E7-9010-CE1E-CECB-527E13A8D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36686"/>
            <a:ext cx="5431410" cy="3678314"/>
          </a:xfrm>
          <a:prstGeom prst="rect">
            <a:avLst/>
          </a:prstGeom>
        </p:spPr>
      </p:pic>
      <p:pic>
        <p:nvPicPr>
          <p:cNvPr id="5" name="圖片 4" descr="一張含有 文字, 螢幕擷取畫面, 行, 字型 的圖片&#10;&#10;AI 產生的內容可能不正確。">
            <a:extLst>
              <a:ext uri="{FF2B5EF4-FFF2-40B4-BE49-F238E27FC236}">
                <a16:creationId xmlns:a16="http://schemas.microsoft.com/office/drawing/2014/main" id="{59A25BEF-EA13-98BC-906B-CA0B713C6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783986"/>
            <a:ext cx="4279392" cy="11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8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87BF-A964-CE2E-EE67-6335B94CC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58A5A-E430-BA27-9D79-D92A6EF4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End of Frame</a:t>
            </a:r>
            <a:r>
              <a:rPr lang="zh-TW" altLang="en-US" dirty="0"/>
              <a:t> </a:t>
            </a:r>
            <a:r>
              <a:rPr lang="en-US" altLang="zh-TW" dirty="0"/>
              <a:t>(EOF) and Interframe Space </a:t>
            </a:r>
            <a:endParaRPr lang="zh-TW" altLang="en-US" dirty="0"/>
          </a:p>
        </p:txBody>
      </p:sp>
      <p:pic>
        <p:nvPicPr>
          <p:cNvPr id="6" name="圖片 5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6AB561ED-61C5-BEA9-C4CB-B130DD59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12" y="1056132"/>
            <a:ext cx="6081287" cy="1699407"/>
          </a:xfrm>
          <a:prstGeom prst="rect">
            <a:avLst/>
          </a:prstGeom>
        </p:spPr>
      </p:pic>
      <p:pic>
        <p:nvPicPr>
          <p:cNvPr id="10" name="圖片 9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51873BA0-26AD-7953-BC7D-FB4537BA7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753" y="3161100"/>
            <a:ext cx="3894157" cy="241574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4AF19D-7D85-A4CC-745D-BFD152502019}"/>
              </a:ext>
            </a:extLst>
          </p:cNvPr>
          <p:cNvSpPr txBox="1"/>
          <p:nvPr/>
        </p:nvSpPr>
        <p:spPr>
          <a:xfrm>
            <a:off x="4361094" y="4549149"/>
            <a:ext cx="2816946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/>
              <a:t>IFS: 3 bits, recessive</a:t>
            </a:r>
          </a:p>
        </p:txBody>
      </p:sp>
    </p:spTree>
    <p:extLst>
      <p:ext uri="{BB962C8B-B14F-4D97-AF65-F5344CB8AC3E}">
        <p14:creationId xmlns:p14="http://schemas.microsoft.com/office/powerpoint/2010/main" val="20676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BE53-ACB2-63CE-67EC-F0181E8A1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A83A2C-8A8F-D709-0D42-E195AD69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Five Error Detection Mechanisms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6A8601-EF3E-2F03-9CA8-B534D1AF9937}"/>
              </a:ext>
            </a:extLst>
          </p:cNvPr>
          <p:cNvSpPr txBox="1">
            <a:spLocks/>
          </p:cNvSpPr>
          <p:nvPr/>
        </p:nvSpPr>
        <p:spPr>
          <a:xfrm>
            <a:off x="457200" y="1060290"/>
            <a:ext cx="8229600" cy="352999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Bit Error:</a:t>
            </a:r>
            <a:r>
              <a:rPr lang="en-US" altLang="zh-TW" sz="2000" dirty="0"/>
              <a:t> Sent bit doesn't match monitored bus level.</a:t>
            </a:r>
          </a:p>
          <a:p>
            <a:r>
              <a:rPr lang="en-US" altLang="zh-TW" sz="2000" b="1" dirty="0"/>
              <a:t>Stuff Error:</a:t>
            </a:r>
            <a:r>
              <a:rPr lang="en-US" altLang="zh-TW" sz="2000" dirty="0"/>
              <a:t> Violation of the 5+1 stuffing rule.</a:t>
            </a:r>
          </a:p>
          <a:p>
            <a:r>
              <a:rPr lang="en-US" altLang="zh-TW" sz="2000" b="1" dirty="0"/>
              <a:t>CRC Error:</a:t>
            </a:r>
            <a:r>
              <a:rPr lang="en-US" altLang="zh-TW" sz="2000" dirty="0"/>
              <a:t> Checksum mismatch.</a:t>
            </a:r>
          </a:p>
          <a:p>
            <a:r>
              <a:rPr lang="en-US" altLang="zh-TW" sz="2000" b="1" dirty="0"/>
              <a:t>Form Error:</a:t>
            </a:r>
            <a:r>
              <a:rPr lang="en-US" altLang="zh-TW" sz="2000" dirty="0"/>
              <a:t> Dominant bit found in a fixed Recessive field (Delimiter/EOF).</a:t>
            </a:r>
          </a:p>
          <a:p>
            <a:r>
              <a:rPr lang="en-US" altLang="zh-TW" sz="2000" b="1" dirty="0"/>
              <a:t>ACK Error:</a:t>
            </a:r>
            <a:r>
              <a:rPr lang="en-US" altLang="zh-TW" sz="2000" dirty="0"/>
              <a:t> No receiver drove the bus dominant.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61C1020-17EC-6F72-03A8-249D19E3B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298443"/>
              </p:ext>
            </p:extLst>
          </p:nvPr>
        </p:nvGraphicFramePr>
        <p:xfrm>
          <a:off x="136874" y="2999232"/>
          <a:ext cx="8870252" cy="2468880"/>
        </p:xfrm>
        <a:graphic>
          <a:graphicData uri="http://schemas.openxmlformats.org/drawingml/2006/table">
            <a:tbl>
              <a:tblPr/>
              <a:tblGrid>
                <a:gridCol w="465804">
                  <a:extLst>
                    <a:ext uri="{9D8B030D-6E8A-4147-A177-3AD203B41FA5}">
                      <a16:colId xmlns:a16="http://schemas.microsoft.com/office/drawing/2014/main" val="614369212"/>
                    </a:ext>
                  </a:extLst>
                </a:gridCol>
                <a:gridCol w="1530032">
                  <a:extLst>
                    <a:ext uri="{9D8B030D-6E8A-4147-A177-3AD203B41FA5}">
                      <a16:colId xmlns:a16="http://schemas.microsoft.com/office/drawing/2014/main" val="2513275385"/>
                    </a:ext>
                  </a:extLst>
                </a:gridCol>
                <a:gridCol w="1781208">
                  <a:extLst>
                    <a:ext uri="{9D8B030D-6E8A-4147-A177-3AD203B41FA5}">
                      <a16:colId xmlns:a16="http://schemas.microsoft.com/office/drawing/2014/main" val="3706818098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1839197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25602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Error </a:t>
                      </a:r>
                      <a:r>
                        <a:rPr lang="zh-TW" altLang="en-US" sz="1400" dirty="0"/>
                        <a:t>類型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偵測者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發生在哪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例外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81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Bit Error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傳送端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任一 </a:t>
                      </a:r>
                      <a:r>
                        <a:rPr lang="en-US" sz="1400" dirty="0"/>
                        <a:t>bit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Arbitration stage and ACK slot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83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Stuff Error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接收端（所有節點）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SOF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to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CRC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CRC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delimiter (1 bit), ACK Slot &amp; Delimiter</a:t>
                      </a:r>
                      <a:r>
                        <a:rPr lang="zh-TW" altLang="en-US" sz="1400" dirty="0"/>
                        <a:t> </a:t>
                      </a:r>
                      <a:r>
                        <a:rPr lang="en-US" altLang="zh-TW" sz="1400" dirty="0"/>
                        <a:t>(2 bits), intermission, EOF 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811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CRC Error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接收端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SOF, Arbitration, Control,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32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Form Error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接收端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CRC/ACK delimiter and EOF</a:t>
                      </a: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903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ACK Error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傳送端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ACK slot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713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72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7ADDFF-6FA7-8AF3-E200-242349B9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Frames &amp; Propagation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BCABC7-2DA4-3802-93D3-BB446A376B3A}"/>
              </a:ext>
            </a:extLst>
          </p:cNvPr>
          <p:cNvSpPr txBox="1">
            <a:spLocks/>
          </p:cNvSpPr>
          <p:nvPr/>
        </p:nvSpPr>
        <p:spPr>
          <a:xfrm>
            <a:off x="381599" y="1006671"/>
            <a:ext cx="8229600" cy="150003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Active Error Flag:</a:t>
            </a:r>
            <a:r>
              <a:rPr lang="en-US" altLang="zh-TW" sz="2000" dirty="0"/>
              <a:t> 6 Dominant bits sent by healthy nodes to destroy a corrupted frame.</a:t>
            </a:r>
          </a:p>
          <a:p>
            <a:r>
              <a:rPr lang="en-US" altLang="zh-TW" sz="2000" b="1" dirty="0"/>
              <a:t>Passive Error Flag:</a:t>
            </a:r>
            <a:r>
              <a:rPr lang="en-US" altLang="zh-TW" sz="2000" dirty="0"/>
              <a:t> 6 Recessive bits sent by degraded nodes.</a:t>
            </a:r>
          </a:p>
          <a:p>
            <a:r>
              <a:rPr lang="en-US" altLang="zh-TW" sz="2000" b="1" dirty="0"/>
              <a:t>Global Consistency:</a:t>
            </a:r>
            <a:r>
              <a:rPr lang="en-US" altLang="zh-TW" sz="2000" dirty="0"/>
              <a:t> All nodes discard the frame if an error is detected.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pic>
        <p:nvPicPr>
          <p:cNvPr id="5" name="圖片 4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B79B84DE-9DD2-3307-2BBE-0140D8610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32" y="2647188"/>
            <a:ext cx="5461417" cy="259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2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FB0DC-56EF-C670-AF95-BEFE76837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9ACCBC-F69C-BF2A-5A9F-9C440594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Active vs. Passive Error Frames in CAN Bus</a:t>
            </a:r>
            <a:endParaRPr lang="zh-TW" altLang="en-US" dirty="0"/>
          </a:p>
        </p:txBody>
      </p:sp>
      <p:pic>
        <p:nvPicPr>
          <p:cNvPr id="6" name="圖片 5" descr="一張含有 螢幕擷取畫面, 文字, 鮮豔, 設計 的圖片&#10;&#10;AI 產生的內容可能不正確。">
            <a:extLst>
              <a:ext uri="{FF2B5EF4-FFF2-40B4-BE49-F238E27FC236}">
                <a16:creationId xmlns:a16="http://schemas.microsoft.com/office/drawing/2014/main" id="{8D463492-1262-A5B2-F94B-98C1BC154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60" y="1216152"/>
            <a:ext cx="4270248" cy="4270248"/>
          </a:xfrm>
          <a:prstGeom prst="rect">
            <a:avLst/>
          </a:prstGeom>
        </p:spPr>
      </p:pic>
      <p:pic>
        <p:nvPicPr>
          <p:cNvPr id="7" name="圖片 6" descr="一張含有 螢幕擷取畫面, 文字, 平行, Rectangle 的圖片&#10;&#10;AI 產生的內容可能不正確。">
            <a:extLst>
              <a:ext uri="{FF2B5EF4-FFF2-40B4-BE49-F238E27FC236}">
                <a16:creationId xmlns:a16="http://schemas.microsoft.com/office/drawing/2014/main" id="{9C31BC8C-729E-3434-D538-4290A7972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16152"/>
            <a:ext cx="4270248" cy="427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3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6B1C-12DD-6C24-D3FC-0EA2979D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97091-DE14-D929-0BAE-95D92D4F7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Fault Confinement &amp; Error Management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33F79-1114-9344-DF7C-0031A6E1DC23}"/>
              </a:ext>
            </a:extLst>
          </p:cNvPr>
          <p:cNvSpPr txBox="1">
            <a:spLocks/>
          </p:cNvSpPr>
          <p:nvPr/>
        </p:nvSpPr>
        <p:spPr>
          <a:xfrm>
            <a:off x="457200" y="977994"/>
            <a:ext cx="8229600" cy="204867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The Core Objective:</a:t>
            </a:r>
          </a:p>
          <a:p>
            <a:pPr lvl="1"/>
            <a:r>
              <a:rPr lang="en-US" altLang="zh-TW" sz="1600" b="1" dirty="0"/>
              <a:t>Isolate Faulty Nodes:</a:t>
            </a:r>
            <a:r>
              <a:rPr lang="en-US" altLang="zh-TW" sz="1600" dirty="0"/>
              <a:t> Prevent a single malfunctioning node from paralyzing the entire network.</a:t>
            </a:r>
          </a:p>
          <a:p>
            <a:pPr lvl="1"/>
            <a:r>
              <a:rPr lang="en-US" altLang="zh-TW" sz="1600" b="1" dirty="0"/>
              <a:t>System Resilience:</a:t>
            </a:r>
            <a:r>
              <a:rPr lang="en-US" altLang="zh-TW" sz="1600" dirty="0"/>
              <a:t> Balance the need for global error notification with the need for bandwidth availability.</a:t>
            </a:r>
            <a:endParaRPr lang="en-US" altLang="zh-TW" sz="1600" b="1" dirty="0"/>
          </a:p>
          <a:p>
            <a:r>
              <a:rPr lang="en-US" altLang="zh-TW" sz="2000" b="1" dirty="0"/>
              <a:t>Error Counters:</a:t>
            </a:r>
            <a:r>
              <a:rPr lang="en-US" altLang="zh-TW" sz="2000" dirty="0"/>
              <a:t> Tracking TEC (Transmit) and REC (Receive) errors.</a:t>
            </a:r>
          </a:p>
          <a:p>
            <a:r>
              <a:rPr lang="en-US" altLang="zh-TW" sz="2000" b="1" dirty="0"/>
              <a:t>States:</a:t>
            </a:r>
            <a:r>
              <a:rPr lang="en-US" altLang="zh-TW" sz="2000" dirty="0"/>
              <a:t> Error Active (Normal), Error Passive (Degraded), and Bus Off (Isolated).</a:t>
            </a:r>
          </a:p>
          <a:p>
            <a:r>
              <a:rPr lang="en-US" altLang="zh-TW" sz="2000" b="1" dirty="0"/>
              <a:t>Recovery:</a:t>
            </a:r>
            <a:r>
              <a:rPr lang="en-US" altLang="zh-TW" sz="2000" dirty="0"/>
              <a:t> TEC &gt; 255 puts a node into Bus Off to protect the network.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pic>
        <p:nvPicPr>
          <p:cNvPr id="6" name="圖片 5" descr="一張含有 文字, 螢幕擷取畫面, 圓形, 圖表 的圖片&#10;&#10;AI 產生的內容可能不正確。">
            <a:extLst>
              <a:ext uri="{FF2B5EF4-FFF2-40B4-BE49-F238E27FC236}">
                <a16:creationId xmlns:a16="http://schemas.microsoft.com/office/drawing/2014/main" id="{91F65E3C-89B1-3B24-DB09-877D5F890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3072491"/>
            <a:ext cx="4608576" cy="258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76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D6B29-B7E2-E412-F6BA-70718E4B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Fault Confinement: Error Signaling &amp; Graceful Degradation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9378ECE-007A-5122-206C-9AE14BB6FC77}"/>
              </a:ext>
            </a:extLst>
          </p:cNvPr>
          <p:cNvSpPr txBox="1">
            <a:spLocks/>
          </p:cNvSpPr>
          <p:nvPr/>
        </p:nvSpPr>
        <p:spPr>
          <a:xfrm>
            <a:off x="381599" y="876853"/>
            <a:ext cx="8229600" cy="45988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Active Node </a:t>
            </a:r>
            <a:r>
              <a:rPr lang="zh-TW" altLang="en-US" sz="2000" b="1" dirty="0"/>
              <a:t>報錯</a:t>
            </a:r>
            <a:r>
              <a:rPr lang="zh-TW" altLang="en-US" sz="2000" dirty="0"/>
              <a:t>：發現錯誤後直接壓低總線（顯性），所有節點同步得知錯誤並重傳。 </a:t>
            </a:r>
            <a:endParaRPr lang="en-US" altLang="zh-TW" sz="2000" dirty="0"/>
          </a:p>
          <a:p>
            <a:r>
              <a:rPr lang="en-US" altLang="zh-TW" sz="2000" b="1" dirty="0"/>
              <a:t>Passive Node </a:t>
            </a:r>
            <a:r>
              <a:rPr lang="zh-TW" altLang="en-US" sz="2000" b="1" dirty="0"/>
              <a:t>報錯</a:t>
            </a:r>
            <a:r>
              <a:rPr lang="zh-TW" altLang="en-US" sz="2000" dirty="0"/>
              <a:t>： </a:t>
            </a:r>
            <a:endParaRPr lang="en-US" altLang="zh-TW" sz="20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dirty="0"/>
              <a:t>節點因自身故障想報錯，但只能發出隱性位元。 </a:t>
            </a:r>
            <a:endParaRPr lang="en-US" altLang="zh-TW" sz="18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dirty="0"/>
              <a:t>這些隱性位元會導致總線出現連續 </a:t>
            </a:r>
            <a:r>
              <a:rPr lang="en-US" altLang="zh-TW" sz="1800" dirty="0"/>
              <a:t>6 </a:t>
            </a:r>
            <a:r>
              <a:rPr lang="zh-TW" altLang="en-US" sz="1800" dirty="0"/>
              <a:t>個相同電平，違反 </a:t>
            </a:r>
            <a:r>
              <a:rPr lang="en-US" altLang="zh-TW" sz="1800" b="1" dirty="0"/>
              <a:t>Bit Stuffing</a:t>
            </a:r>
            <a:r>
              <a:rPr lang="zh-TW" altLang="en-US" sz="1800" dirty="0"/>
              <a:t> 規則。</a:t>
            </a:r>
            <a:endParaRPr lang="en-US" altLang="zh-TW" sz="18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健康節點 </a:t>
            </a:r>
            <a:r>
              <a:rPr lang="en-US" altLang="zh-TW" sz="1800" b="1" dirty="0"/>
              <a:t>(Active)</a:t>
            </a:r>
            <a:r>
              <a:rPr lang="zh-TW" altLang="en-US" sz="1800" dirty="0"/>
              <a:t> 偵測到填充錯誤，隨後發出 </a:t>
            </a:r>
            <a:r>
              <a:rPr lang="en-US" altLang="zh-TW" sz="1800" dirty="0"/>
              <a:t>Active Flag </a:t>
            </a:r>
            <a:r>
              <a:rPr lang="zh-TW" altLang="en-US" sz="1800" dirty="0"/>
              <a:t>摧毀該幀。</a:t>
            </a:r>
            <a:endParaRPr lang="en-US" altLang="zh-TW" sz="1800" dirty="0"/>
          </a:p>
          <a:p>
            <a:pPr marL="800100" lvl="1" indent="-342900">
              <a:buFont typeface="+mj-lt"/>
              <a:buAutoNum type="arabicPeriod"/>
            </a:pPr>
            <a:r>
              <a:rPr lang="zh-TW" altLang="en-US" sz="1800" b="1" dirty="0"/>
              <a:t>結果</a:t>
            </a:r>
            <a:r>
              <a:rPr lang="zh-TW" altLang="en-US" sz="1800" dirty="0"/>
              <a:t>：如果只有該 </a:t>
            </a:r>
            <a:r>
              <a:rPr lang="en-US" altLang="zh-TW" sz="1800" dirty="0"/>
              <a:t>Passive </a:t>
            </a:r>
            <a:r>
              <a:rPr lang="zh-TW" altLang="en-US" sz="1800" dirty="0"/>
              <a:t>節點出錯，它的隱性報錯會被淹沒，不影響正常通訊，達成「隔離」效果。</a:t>
            </a:r>
            <a:endParaRPr lang="en-US" altLang="zh-TW" sz="1800" dirty="0"/>
          </a:p>
          <a:p>
            <a:pPr marL="800100" lvl="1" indent="-342900">
              <a:buFont typeface="+mj-lt"/>
              <a:buAutoNum type="arabicPeriod"/>
            </a:pPr>
            <a:endParaRPr lang="en-US" altLang="zh-TW" dirty="0"/>
          </a:p>
          <a:p>
            <a:pPr marL="400050"/>
            <a:r>
              <a:rPr lang="zh-TW" altLang="en-US" sz="2000" dirty="0"/>
              <a:t>結論：優雅降級 </a:t>
            </a:r>
            <a:r>
              <a:rPr lang="en-US" altLang="zh-TW" sz="2000" dirty="0"/>
              <a:t>(Graceful Degradation)</a:t>
            </a:r>
          </a:p>
          <a:p>
            <a:pPr marL="800100" lvl="1"/>
            <a:r>
              <a:rPr lang="en-US" altLang="zh-TW" sz="1800" b="1" dirty="0"/>
              <a:t>Error Active</a:t>
            </a:r>
            <a:r>
              <a:rPr lang="zh-TW" altLang="en-US" sz="1800" dirty="0"/>
              <a:t>：負責維持全網數據的一致性。</a:t>
            </a:r>
            <a:endParaRPr lang="en-US" altLang="zh-TW" sz="1800" dirty="0"/>
          </a:p>
          <a:p>
            <a:pPr marL="800100" lvl="1"/>
            <a:r>
              <a:rPr lang="en-US" altLang="zh-TW" sz="1800" b="1" dirty="0"/>
              <a:t>Error Passive</a:t>
            </a:r>
            <a:r>
              <a:rPr lang="zh-TW" altLang="en-US" sz="1800" dirty="0"/>
              <a:t>：限制故障節點的破壞力，將頻寬讓給健康節點。</a:t>
            </a:r>
            <a:endParaRPr lang="en-US" altLang="zh-TW" sz="1800" dirty="0"/>
          </a:p>
          <a:p>
            <a:pPr marL="800100" lvl="1"/>
            <a:r>
              <a:rPr lang="en-US" altLang="zh-TW" sz="1800" b="1" dirty="0"/>
              <a:t>Bus Off</a:t>
            </a:r>
            <a:r>
              <a:rPr lang="zh-TW" altLang="en-US" sz="1800" dirty="0"/>
              <a:t>：最終手段，徹底切除嚴重故障的節點，保護系統不崩潰。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817499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08A67-D0AE-C517-C6B1-7F5D535C9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D3AD6-1A7A-4107-F3CF-4B2801C68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Evolution: CAN FD (Flexible Data-Rate) Features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E01375-D696-F5A9-7A25-0FCECF84C8B4}"/>
              </a:ext>
            </a:extLst>
          </p:cNvPr>
          <p:cNvSpPr txBox="1">
            <a:spLocks/>
          </p:cNvSpPr>
          <p:nvPr/>
        </p:nvSpPr>
        <p:spPr>
          <a:xfrm>
            <a:off x="191861" y="968849"/>
            <a:ext cx="3328416" cy="451655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/>
              <a:t>Speed:</a:t>
            </a:r>
            <a:r>
              <a:rPr lang="en-US" altLang="zh-TW" sz="2000" dirty="0"/>
              <a:t> Dual bitrate allows the data phase to run much faster than the arbitration phase. </a:t>
            </a:r>
          </a:p>
          <a:p>
            <a:r>
              <a:rPr lang="en-US" altLang="zh-TW" sz="2000" b="1" dirty="0"/>
              <a:t>Payload:</a:t>
            </a:r>
            <a:r>
              <a:rPr lang="en-US" altLang="zh-TW" sz="2000" dirty="0"/>
              <a:t> Expands from 8 bytes to 64 bytes. </a:t>
            </a:r>
          </a:p>
          <a:p>
            <a:r>
              <a:rPr lang="en-US" altLang="zh-TW" sz="2000" b="1" dirty="0"/>
              <a:t>Incompatibility:</a:t>
            </a:r>
            <a:r>
              <a:rPr lang="en-US" altLang="zh-TW" sz="2000" dirty="0"/>
              <a:t> Standard CAN controllers will treat CAN FD frames as errors.</a:t>
            </a:r>
          </a:p>
          <a:p>
            <a:r>
              <a:rPr lang="en-US" altLang="zh-TW" sz="2000" b="1" dirty="0"/>
              <a:t>STC (Stuff Count):</a:t>
            </a:r>
            <a:r>
              <a:rPr lang="en-US" altLang="zh-TW" sz="2000" dirty="0"/>
              <a:t> A Gray-coded counter that ensures the number of stuff bits is correct.</a:t>
            </a:r>
          </a:p>
          <a:p>
            <a:r>
              <a:rPr lang="en-US" altLang="zh-TW" sz="2000" b="1" dirty="0"/>
              <a:t>ESI (Error State Indicator):</a:t>
            </a:r>
            <a:r>
              <a:rPr lang="en-US" altLang="zh-TW" sz="2000" dirty="0"/>
              <a:t> A bit that tells other nodes if the sender is currently Error Active or Passive.</a:t>
            </a:r>
          </a:p>
          <a:p>
            <a:r>
              <a:rPr lang="en-US" altLang="zh-TW" sz="2000" b="1" dirty="0"/>
              <a:t>FDF (FD Format):</a:t>
            </a:r>
          </a:p>
          <a:p>
            <a:pPr lvl="1"/>
            <a:r>
              <a:rPr lang="en-US" altLang="zh-TW" sz="1600" b="1" dirty="0"/>
              <a:t>1: </a:t>
            </a:r>
            <a:r>
              <a:rPr lang="en-US" altLang="zh-TW" sz="1600" dirty="0"/>
              <a:t>CAN FD frame</a:t>
            </a:r>
          </a:p>
          <a:p>
            <a:pPr lvl="1"/>
            <a:r>
              <a:rPr lang="en-US" altLang="zh-TW" sz="1600" b="1" dirty="0"/>
              <a:t>0: </a:t>
            </a:r>
            <a:r>
              <a:rPr lang="en-US" altLang="zh-TW" sz="1600" dirty="0"/>
              <a:t>Classical CAN</a:t>
            </a:r>
            <a:endParaRPr lang="en-US" altLang="zh-TW" sz="1600" b="1" dirty="0"/>
          </a:p>
        </p:txBody>
      </p:sp>
      <p:pic>
        <p:nvPicPr>
          <p:cNvPr id="5" name="圖片 4" descr="一張含有 文字, 螢幕擷取畫面, 陳列, 圖表 的圖片&#10;&#10;AI 產生的內容可能不正確。">
            <a:extLst>
              <a:ext uri="{FF2B5EF4-FFF2-40B4-BE49-F238E27FC236}">
                <a16:creationId xmlns:a16="http://schemas.microsoft.com/office/drawing/2014/main" id="{92EB1D3E-35C3-4B48-A497-B98533CA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405173"/>
            <a:ext cx="5474970" cy="306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47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D925C0-F4F6-3F04-82B4-CC67D57C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CAN FD Frame Structure with Bit Rate Switching</a:t>
            </a:r>
            <a:endParaRPr lang="zh-TW" altLang="en-US" dirty="0"/>
          </a:p>
        </p:txBody>
      </p:sp>
      <p:pic>
        <p:nvPicPr>
          <p:cNvPr id="4" name="圖片 3" descr="一張含有 文字, 螢幕擷取畫面, Rectangle, 平行 的圖片&#10;&#10;AI 產生的內容可能不正確。">
            <a:extLst>
              <a:ext uri="{FF2B5EF4-FFF2-40B4-BE49-F238E27FC236}">
                <a16:creationId xmlns:a16="http://schemas.microsoft.com/office/drawing/2014/main" id="{1DBABA66-FE7C-08ED-0699-BFEF4A21C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268"/>
            <a:ext cx="9144000" cy="288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70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5EA2-713A-14CB-449A-C97E935F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B27C4E-CF56-C8C4-E198-8505A7EE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Frame Comparison: Classic CAN vs. CAN FD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D4313D-AC13-52A9-0EE9-7D243E1C8A5C}"/>
              </a:ext>
            </a:extLst>
          </p:cNvPr>
          <p:cNvSpPr txBox="1">
            <a:spLocks/>
          </p:cNvSpPr>
          <p:nvPr/>
        </p:nvSpPr>
        <p:spPr>
          <a:xfrm>
            <a:off x="457200" y="1036832"/>
            <a:ext cx="8211312" cy="289508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b="1" dirty="0"/>
              <a:t>Classic CAN:</a:t>
            </a:r>
            <a:r>
              <a:rPr lang="en-US" altLang="zh-TW" sz="2000" dirty="0"/>
              <a:t> Fixed speed and 8-byte limit.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b="1" dirty="0"/>
              <a:t>CAN FD (No Speed Switch):</a:t>
            </a:r>
            <a:r>
              <a:rPr lang="en-US" altLang="zh-TW" sz="2000" dirty="0"/>
              <a:t> Adds new control bits (FDF, BRS, ESI) but keeps arbitration speed.: No dedicated clock line (saves weight and cost).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b="1" dirty="0"/>
              <a:t>CAN FD (Speed Switch):</a:t>
            </a:r>
            <a:r>
              <a:rPr lang="en-US" altLang="zh-TW" sz="2000" dirty="0"/>
              <a:t> Increases speed during the Data/CRC phase.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>
              <a:lnSpc>
                <a:spcPct val="90000"/>
              </a:lnSpc>
            </a:pPr>
            <a:r>
              <a:rPr lang="en-US" altLang="zh-TW" sz="2000" b="1" dirty="0"/>
              <a:t>High Capacity:</a:t>
            </a:r>
            <a:r>
              <a:rPr lang="en-US" altLang="zh-TW" sz="2000" dirty="0"/>
              <a:t> Supports up to 64 bytes with 10x arbitration speed in data phase.</a:t>
            </a:r>
          </a:p>
          <a:p>
            <a:pPr>
              <a:lnSpc>
                <a:spcPct val="90000"/>
              </a:lnSpc>
            </a:pPr>
            <a:endParaRPr lang="en-US" altLang="zh-TW" sz="2000" dirty="0"/>
          </a:p>
          <a:p>
            <a:pPr lvl="1">
              <a:lnSpc>
                <a:spcPct val="90000"/>
              </a:lnSpc>
            </a:pPr>
            <a:endParaRPr lang="en-US" altLang="zh-TW" sz="1600" dirty="0"/>
          </a:p>
          <a:p>
            <a:pPr>
              <a:lnSpc>
                <a:spcPct val="90000"/>
              </a:lnSpc>
            </a:pPr>
            <a:endParaRPr lang="en-US" altLang="zh-TW" sz="20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403E774-3C3B-1200-E2D8-0E3EC42DE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769043"/>
              </p:ext>
            </p:extLst>
          </p:nvPr>
        </p:nvGraphicFramePr>
        <p:xfrm>
          <a:off x="604812" y="4060013"/>
          <a:ext cx="8229600" cy="1493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9732834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1547203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237668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速度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為什麼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96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Arbitration Phase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低速（例：</a:t>
                      </a:r>
                      <a:r>
                        <a:rPr lang="en-US" altLang="zh-TW" sz="1600"/>
                        <a:t>500 </a:t>
                      </a:r>
                      <a:r>
                        <a:rPr lang="en-US" sz="1600"/>
                        <a:t>kbps）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為了讓所有 </a:t>
                      </a:r>
                      <a:r>
                        <a:rPr lang="en-US" altLang="zh-TW" sz="1600" dirty="0"/>
                        <a:t>node </a:t>
                      </a:r>
                      <a:r>
                        <a:rPr lang="zh-TW" altLang="en-US" sz="1600" dirty="0"/>
                        <a:t>都能參與仲裁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252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Data Phase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/>
                        <a:t>高速（例：</a:t>
                      </a:r>
                      <a:r>
                        <a:rPr lang="en-US" altLang="zh-TW" sz="1600"/>
                        <a:t>5 </a:t>
                      </a:r>
                      <a:r>
                        <a:rPr lang="en-US" sz="1600"/>
                        <a:t>Mbps）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只要贏得仲裁即可高速傳資料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57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537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00A1-E0BA-F2AF-0453-025B44D5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335E6F-DF89-3540-54E6-78F924BA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Higher-layer CAN protocols</a:t>
            </a:r>
          </a:p>
        </p:txBody>
      </p:sp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BD9AE08-2180-2E06-B3E6-A1E6E009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456" y="1632850"/>
            <a:ext cx="2636748" cy="2712955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F43C5B2B-5EAB-6DD3-8A87-6B06351B1E6E}"/>
              </a:ext>
            </a:extLst>
          </p:cNvPr>
          <p:cNvGrpSpPr/>
          <p:nvPr/>
        </p:nvGrpSpPr>
        <p:grpSpPr>
          <a:xfrm>
            <a:off x="177684" y="1043822"/>
            <a:ext cx="1713018" cy="2110858"/>
            <a:chOff x="300951" y="2013086"/>
            <a:chExt cx="1713018" cy="2110858"/>
          </a:xfrm>
        </p:grpSpPr>
        <p:pic>
          <p:nvPicPr>
            <p:cNvPr id="7" name="圖片 6" descr="一張含有 文字, 車, 車輛, 陸上交通工具 的圖片&#10;&#10;AI 產生的內容可能不正確。">
              <a:extLst>
                <a:ext uri="{FF2B5EF4-FFF2-40B4-BE49-F238E27FC236}">
                  <a16:creationId xmlns:a16="http://schemas.microsoft.com/office/drawing/2014/main" id="{86474134-FF92-05A5-01D1-51AD8012A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951" y="2013086"/>
              <a:ext cx="1713018" cy="204700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40E395-1219-6F27-413F-816A64931C9C}"/>
                </a:ext>
              </a:extLst>
            </p:cNvPr>
            <p:cNvSpPr/>
            <p:nvPr/>
          </p:nvSpPr>
          <p:spPr>
            <a:xfrm>
              <a:off x="342795" y="2013086"/>
              <a:ext cx="1602489" cy="211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F276E94E-2247-88CD-3F2F-A4C6130E340A}"/>
              </a:ext>
            </a:extLst>
          </p:cNvPr>
          <p:cNvGrpSpPr/>
          <p:nvPr/>
        </p:nvGrpSpPr>
        <p:grpSpPr>
          <a:xfrm>
            <a:off x="1939938" y="1043822"/>
            <a:ext cx="1644334" cy="2110858"/>
            <a:chOff x="2127478" y="920093"/>
            <a:chExt cx="1644334" cy="2110858"/>
          </a:xfrm>
        </p:grpSpPr>
        <p:pic>
          <p:nvPicPr>
            <p:cNvPr id="10" name="圖片 9" descr="一張含有 文字, 螢幕擷取畫面, 字型, 設計 的圖片&#10;&#10;AI 產生的內容可能不正確。">
              <a:extLst>
                <a:ext uri="{FF2B5EF4-FFF2-40B4-BE49-F238E27FC236}">
                  <a16:creationId xmlns:a16="http://schemas.microsoft.com/office/drawing/2014/main" id="{BDCDEB17-DFFE-EE75-10BE-21C91EBE13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54069" y="961716"/>
              <a:ext cx="1591151" cy="2027612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37D7D25-CCA2-9129-C206-367C2D2F1043}"/>
                </a:ext>
              </a:extLst>
            </p:cNvPr>
            <p:cNvSpPr/>
            <p:nvPr/>
          </p:nvSpPr>
          <p:spPr>
            <a:xfrm>
              <a:off x="2127478" y="920093"/>
              <a:ext cx="1644334" cy="211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EFDA169D-F4B1-C736-A007-C47222DA632A}"/>
              </a:ext>
            </a:extLst>
          </p:cNvPr>
          <p:cNvGrpSpPr/>
          <p:nvPr/>
        </p:nvGrpSpPr>
        <p:grpSpPr>
          <a:xfrm>
            <a:off x="3633508" y="1034393"/>
            <a:ext cx="1727065" cy="2120287"/>
            <a:chOff x="3998116" y="915521"/>
            <a:chExt cx="1727065" cy="2120287"/>
          </a:xfrm>
        </p:grpSpPr>
        <p:pic>
          <p:nvPicPr>
            <p:cNvPr id="14" name="圖片 13" descr="一張含有 文字, 螢幕擷取畫面, 字型, 設計 的圖片&#10;&#10;AI 產生的內容可能不正確。">
              <a:extLst>
                <a:ext uri="{FF2B5EF4-FFF2-40B4-BE49-F238E27FC236}">
                  <a16:creationId xmlns:a16="http://schemas.microsoft.com/office/drawing/2014/main" id="{2AD131AB-BBA3-AC8C-B653-75636DB17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98116" y="915521"/>
              <a:ext cx="1727065" cy="2110858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FA8A79C-C352-58C0-9743-4C90686951F7}"/>
                </a:ext>
              </a:extLst>
            </p:cNvPr>
            <p:cNvSpPr/>
            <p:nvPr/>
          </p:nvSpPr>
          <p:spPr>
            <a:xfrm>
              <a:off x="4047352" y="924950"/>
              <a:ext cx="1644334" cy="211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2BB8FDA-0E53-DD66-6C0F-7676324AFEC3}"/>
              </a:ext>
            </a:extLst>
          </p:cNvPr>
          <p:cNvGrpSpPr/>
          <p:nvPr/>
        </p:nvGrpSpPr>
        <p:grpSpPr>
          <a:xfrm>
            <a:off x="219528" y="3366954"/>
            <a:ext cx="1588322" cy="2014847"/>
            <a:chOff x="219528" y="3366954"/>
            <a:chExt cx="1588322" cy="2014847"/>
          </a:xfrm>
        </p:grpSpPr>
        <p:pic>
          <p:nvPicPr>
            <p:cNvPr id="20" name="圖片 19" descr="一張含有 文字, 字型, 螢幕擷取畫面, 設計 的圖片&#10;&#10;AI 產生的內容可能不正確。">
              <a:extLst>
                <a:ext uri="{FF2B5EF4-FFF2-40B4-BE49-F238E27FC236}">
                  <a16:creationId xmlns:a16="http://schemas.microsoft.com/office/drawing/2014/main" id="{86BA0D40-142D-D9BE-8FE4-5A5CD1010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0536" y="3366954"/>
              <a:ext cx="1547314" cy="2014847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6CA0C999-7F79-9B40-5619-8D734DFA2ED1}"/>
                </a:ext>
              </a:extLst>
            </p:cNvPr>
            <p:cNvSpPr/>
            <p:nvPr/>
          </p:nvSpPr>
          <p:spPr>
            <a:xfrm>
              <a:off x="219528" y="3366954"/>
              <a:ext cx="1588322" cy="201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3B38B72A-F800-BDBE-1868-319F55FE31F7}"/>
              </a:ext>
            </a:extLst>
          </p:cNvPr>
          <p:cNvGrpSpPr/>
          <p:nvPr/>
        </p:nvGrpSpPr>
        <p:grpSpPr>
          <a:xfrm>
            <a:off x="1939938" y="3366953"/>
            <a:ext cx="1588322" cy="2014847"/>
            <a:chOff x="1966529" y="3366953"/>
            <a:chExt cx="1588322" cy="2014847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0A5D9CB-507B-3465-BFC1-FF20360C4075}"/>
                </a:ext>
              </a:extLst>
            </p:cNvPr>
            <p:cNvSpPr/>
            <p:nvPr/>
          </p:nvSpPr>
          <p:spPr>
            <a:xfrm>
              <a:off x="1966529" y="3366953"/>
              <a:ext cx="1588322" cy="201484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>
                <a:ea typeface="Microsoft JhengHei" panose="020B0604030504040204" pitchFamily="34" charset="-120"/>
              </a:endParaRPr>
            </a:p>
          </p:txBody>
        </p:sp>
        <p:pic>
          <p:nvPicPr>
            <p:cNvPr id="26" name="圖片 25" descr="一張含有 文字, 手推車, 設計 的圖片&#10;&#10;AI 產生的內容可能不正確。">
              <a:extLst>
                <a:ext uri="{FF2B5EF4-FFF2-40B4-BE49-F238E27FC236}">
                  <a16:creationId xmlns:a16="http://schemas.microsoft.com/office/drawing/2014/main" id="{47028DBD-0924-79DB-0B97-BA67AC669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30714" y="3392964"/>
              <a:ext cx="1459951" cy="1962823"/>
            </a:xfrm>
            <a:prstGeom prst="rect">
              <a:avLst/>
            </a:prstGeom>
          </p:spPr>
        </p:pic>
      </p:grpSp>
      <p:pic>
        <p:nvPicPr>
          <p:cNvPr id="28" name="圖片 27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0A614BE5-EEAC-5D24-6FB7-D410AB0AD8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6940" y="3511296"/>
            <a:ext cx="2317318" cy="150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12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CEF09-CE79-C192-85FE-503E2B6D1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OBD-II vs. UDS: Diagnostic Protocol Comparison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3DDBD57-8F83-9421-CC36-E47628A41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06543"/>
              </p:ext>
            </p:extLst>
          </p:nvPr>
        </p:nvGraphicFramePr>
        <p:xfrm>
          <a:off x="928550" y="1333500"/>
          <a:ext cx="6971865" cy="3842000"/>
        </p:xfrm>
        <a:graphic>
          <a:graphicData uri="http://schemas.openxmlformats.org/drawingml/2006/table">
            <a:tbl>
              <a:tblPr/>
              <a:tblGrid>
                <a:gridCol w="2323955">
                  <a:extLst>
                    <a:ext uri="{9D8B030D-6E8A-4147-A177-3AD203B41FA5}">
                      <a16:colId xmlns:a16="http://schemas.microsoft.com/office/drawing/2014/main" val="2387871439"/>
                    </a:ext>
                  </a:extLst>
                </a:gridCol>
                <a:gridCol w="2323955">
                  <a:extLst>
                    <a:ext uri="{9D8B030D-6E8A-4147-A177-3AD203B41FA5}">
                      <a16:colId xmlns:a16="http://schemas.microsoft.com/office/drawing/2014/main" val="4061825483"/>
                    </a:ext>
                  </a:extLst>
                </a:gridCol>
                <a:gridCol w="2323955">
                  <a:extLst>
                    <a:ext uri="{9D8B030D-6E8A-4147-A177-3AD203B41FA5}">
                      <a16:colId xmlns:a16="http://schemas.microsoft.com/office/drawing/2014/main" val="149705730"/>
                    </a:ext>
                  </a:extLst>
                </a:gridCol>
              </a:tblGrid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特性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OBD2 (On-Board Diagnostics)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UDS (Unified Diagnostic Services)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715761"/>
                  </a:ext>
                </a:extLst>
              </a:tr>
              <a:tr h="3161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標準規範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ISO 15031 / SAE J1979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ISO 14229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231992"/>
                  </a:ext>
                </a:extLst>
              </a:tr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應用範圍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僅限</a:t>
                      </a: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排放相關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系統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引擎、變速箱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全車所有 </a:t>
                      </a:r>
                      <a:r>
                        <a:rPr lang="en-US" altLang="zh-TW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ECU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動力、車身、底盤等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846726"/>
                  </a:ext>
                </a:extLst>
              </a:tr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法規強制性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強制性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政府要求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非強制性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車廠自主開發使用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29952"/>
                  </a:ext>
                </a:extLst>
              </a:tr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主要功能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讀取故障碼、查看即時數據、清除故障碼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診斷、</a:t>
                      </a:r>
                      <a:r>
                        <a:rPr lang="en-US" altLang="zh-TW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ECU </a:t>
                      </a: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刷寫</a:t>
                      </a:r>
                      <a:r>
                        <a:rPr lang="en-US" altLang="zh-TW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(Flash)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、參數配置、安全存取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695507"/>
                  </a:ext>
                </a:extLst>
              </a:tr>
              <a:tr h="31611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數據識別碼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PID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(Parameter ID, 1 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字節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DID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(Data ID, 2 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字節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698825"/>
                  </a:ext>
                </a:extLst>
              </a:tr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安全性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較低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任何人用標準工具皆可讀取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較高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具有 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Security Access 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權限驗證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737131"/>
                  </a:ext>
                </a:extLst>
              </a:tr>
              <a:tr h="5349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物理接口</a:t>
                      </a:r>
                      <a:endParaRPr lang="zh-TW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固定使用 </a:t>
                      </a:r>
                      <a:r>
                        <a:rPr lang="en-US" altLang="zh-TW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16-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pin OBD2 </a:t>
                      </a:r>
                      <a:r>
                        <a:rPr lang="zh-TW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接頭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通常使用 </a:t>
                      </a:r>
                      <a:r>
                        <a:rPr lang="en-US" altLang="zh-TW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OBD2 </a:t>
                      </a:r>
                      <a:r>
                        <a:rPr lang="zh-TW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接頭，但不限於此</a:t>
                      </a:r>
                    </a:p>
                  </a:txBody>
                  <a:tcPr marL="71618" marR="71618" marT="47746" marB="477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13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95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5332C-178A-B8D8-16C3-F0F7E19CB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AEFDEB-00C1-2096-025A-CD355ED8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06" y="138151"/>
            <a:ext cx="8006387" cy="693397"/>
          </a:xfrm>
        </p:spPr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D016D5-FD03-8B64-4DB1-87557150B5EB}"/>
              </a:ext>
            </a:extLst>
          </p:cNvPr>
          <p:cNvSpPr txBox="1">
            <a:spLocks/>
          </p:cNvSpPr>
          <p:nvPr/>
        </p:nvSpPr>
        <p:spPr>
          <a:xfrm>
            <a:off x="457200" y="817376"/>
            <a:ext cx="8211312" cy="38369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Wingdings" charset="2"/>
              <a:buChar char=""/>
              <a:defRPr sz="24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20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•"/>
              <a:defRPr sz="18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SzPct val="50000"/>
              <a:buFont typeface="Arial"/>
              <a:buChar char="–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FF6600"/>
              </a:buClr>
              <a:buFont typeface="Arial"/>
              <a:buChar char="»"/>
              <a:defRPr sz="1600" kern="1200">
                <a:solidFill>
                  <a:srgbClr val="7F7F7F"/>
                </a:solidFill>
                <a:latin typeface="+mn-lt"/>
                <a:ea typeface="Microsoft JhengHei" panose="020B0604030504040204" pitchFamily="34" charset="-12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2"/>
              </a:rPr>
              <a:t>https://en.wikipedia.org/wiki/CAN_bus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3"/>
              </a:rPr>
              <a:t>https://wiki.csie.ncku.edu.tw/embedded/CAN#interframe-spacing%E9%80%9A%E8%A8%8A%E6%A0%BC%E5%BC%8F%E9%96%93%E9%9A%94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4"/>
              </a:rPr>
              <a:t>https://www.winstar.com.tw/zh-tw/can-bus-interface-communication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5"/>
              </a:rPr>
              <a:t>https://wellstsai.com/post/can-protocol/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>
                <a:hlinkClick r:id="rId6"/>
              </a:rPr>
              <a:t>https</a:t>
            </a:r>
            <a:r>
              <a:rPr lang="en-US" altLang="zh-TW" sz="2000" dirty="0">
                <a:hlinkClick r:id="rId6"/>
              </a:rPr>
              <a:t>://www.circuitbread.com/tutorials/understanding-can-a-beginners-guide-to-the-controller-area-network-protocol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7"/>
              </a:rPr>
              <a:t>https://www.csselectronics.com/pages/can-bus-simple-intro-tutorial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hlinkClick r:id="rId8"/>
              </a:rPr>
              <a:t>https://www.systemaccess.com.tw/page/about/index.aspx?kind=1164</a:t>
            </a:r>
            <a:endParaRPr lang="en-US" altLang="zh-TW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78207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 dirty="0">
            <a:ea typeface="Microsoft JhengHei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>
            <a:ea typeface="Microsoft JhengHei" panose="020B0604030504040204" pitchFamily="34" charset="-12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簡報範本.pptx" id="{C4B2354E-D2B7-4E6F-B6E2-6BE9763D69E9}" vid="{DEB38413-A941-4F84-901A-6D4FFC72C9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Pega_BU6_Template_20210505</Template>
  <TotalTime>38121</TotalTime>
  <Words>1812</Words>
  <Application>Microsoft Office PowerPoint</Application>
  <PresentationFormat>如螢幕大小 (16:10)</PresentationFormat>
  <Paragraphs>210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Google Sans Text</vt:lpstr>
      <vt:lpstr>微軟正黑體</vt:lpstr>
      <vt:lpstr>微軟正黑體</vt:lpstr>
      <vt:lpstr>Arial</vt:lpstr>
      <vt:lpstr>Calibri</vt:lpstr>
      <vt:lpstr>Candara</vt:lpstr>
      <vt:lpstr>Wingdings</vt:lpstr>
      <vt:lpstr>Office 佈景主題</vt:lpstr>
      <vt:lpstr>Introduction to CAN and CAN FD </vt:lpstr>
      <vt:lpstr>What is CAN Bus?</vt:lpstr>
      <vt:lpstr>The CAN bus history in short</vt:lpstr>
      <vt:lpstr>CAN in the OSI Model (Layered Architecture)</vt:lpstr>
      <vt:lpstr>CAN Bus Topology (1/2)</vt:lpstr>
      <vt:lpstr>CAN Bus Topology (2/2)</vt:lpstr>
      <vt:lpstr>Physical Layer Constraints &amp; Requirements</vt:lpstr>
      <vt:lpstr>Physical Layer Signaling: Dominant vs. Recessive</vt:lpstr>
      <vt:lpstr>Asynchronous &amp; Self-Synchronization</vt:lpstr>
      <vt:lpstr>CAN Frame Types</vt:lpstr>
      <vt:lpstr>CAN Frame Types – Data Frame</vt:lpstr>
      <vt:lpstr>Data Frame with Bit Stuffing Example</vt:lpstr>
      <vt:lpstr>Bus Arbitration (Priority-Based)</vt:lpstr>
      <vt:lpstr>DLC (Data Length Code) for CAN and CAN FD</vt:lpstr>
      <vt:lpstr>CAN Frame CRC &amp; ACK Mechanism</vt:lpstr>
      <vt:lpstr>End of Frame (EOF) and Interframe Space </vt:lpstr>
      <vt:lpstr>Five Error Detection Mechanisms</vt:lpstr>
      <vt:lpstr>Error Frames &amp; Propagation</vt:lpstr>
      <vt:lpstr>Active vs. Passive Error Frames in CAN Bus</vt:lpstr>
      <vt:lpstr>Fault Confinement &amp; Error Management</vt:lpstr>
      <vt:lpstr>CAN Fault Confinement: Error Signaling &amp; Graceful Degradation</vt:lpstr>
      <vt:lpstr>Evolution: CAN FD (Flexible Data-Rate) Features</vt:lpstr>
      <vt:lpstr>CAN FD Frame Structure with Bit Rate Switching</vt:lpstr>
      <vt:lpstr>Frame Comparison: Classic CAN vs. CAN FD</vt:lpstr>
      <vt:lpstr>Higher-layer CAN protocols</vt:lpstr>
      <vt:lpstr>OBD-II vs. UDS: Diagnostic Protocol Comparison</vt:lpstr>
      <vt:lpstr>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Sean Hsieh(謝光勳_Pegatron)</dc:creator>
  <cp:keywords/>
  <dc:description/>
  <cp:lastModifiedBy>Allan Chen</cp:lastModifiedBy>
  <cp:revision>698</cp:revision>
  <dcterms:created xsi:type="dcterms:W3CDTF">2021-10-25T05:55:12Z</dcterms:created>
  <dcterms:modified xsi:type="dcterms:W3CDTF">2026-01-16T03:55:16Z</dcterms:modified>
  <cp:category/>
</cp:coreProperties>
</file>