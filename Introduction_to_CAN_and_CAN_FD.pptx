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650" r:id="rId2"/>
    <p:sldId id="2383" r:id="rId3"/>
    <p:sldId id="2389" r:id="rId4"/>
    <p:sldId id="2390" r:id="rId5"/>
    <p:sldId id="2384" r:id="rId6"/>
    <p:sldId id="2382" r:id="rId7"/>
    <p:sldId id="2391" r:id="rId8"/>
    <p:sldId id="2386" r:id="rId9"/>
    <p:sldId id="2388" r:id="rId10"/>
    <p:sldId id="2392" r:id="rId11"/>
    <p:sldId id="2395" r:id="rId12"/>
    <p:sldId id="2393" r:id="rId13"/>
    <p:sldId id="2396" r:id="rId14"/>
    <p:sldId id="2405" r:id="rId15"/>
    <p:sldId id="2397" r:id="rId16"/>
    <p:sldId id="2398" r:id="rId17"/>
    <p:sldId id="2399" r:id="rId18"/>
    <p:sldId id="2400" r:id="rId19"/>
    <p:sldId id="2401" r:id="rId20"/>
    <p:sldId id="2402" r:id="rId21"/>
    <p:sldId id="2403" r:id="rId22"/>
    <p:sldId id="2394" r:id="rId23"/>
    <p:sldId id="2404" r:id="rId24"/>
    <p:sldId id="2387" r:id="rId25"/>
  </p:sldIdLst>
  <p:sldSz cx="9144000" cy="5715000" type="screen16x10"/>
  <p:notesSz cx="6858000" cy="9144000"/>
  <p:defaultTextStyle>
    <a:defPPr>
      <a:defRPr lang="zh-TW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0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ean Hsieh(謝光勳_Pegatron)" initials="SH" lastIdx="3" clrIdx="0">
    <p:extLst>
      <p:ext uri="{19B8F6BF-5375-455C-9EA6-DF929625EA0E}">
        <p15:presenceInfo xmlns:p15="http://schemas.microsoft.com/office/powerpoint/2012/main" userId="S::Sean_Hsieh@pegatroncorp.com::d9a20341-52c8-4794-98c7-273f7f44fdf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72284"/>
    <a:srgbClr val="2BD9FD"/>
    <a:srgbClr val="FF7C00"/>
    <a:srgbClr val="7F7F7F"/>
    <a:srgbClr val="D0E3EA"/>
    <a:srgbClr val="E9F1F6"/>
    <a:srgbClr val="4BACC6"/>
    <a:srgbClr val="31859C"/>
    <a:srgbClr val="F44136"/>
    <a:srgbClr val="00AB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93D81CF-94F2-401A-BA57-92F5A7B2D0C5}" styleName="中等深淺樣式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7AC3CCA-C797-4891-BE02-D94E43425B78}" styleName="中等深淺樣式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74C1A8A3-306A-4EB7-A6B1-4F7E0EB9C5D6}" styleName="中等深淺樣式 3 - 輔色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EB344D84-9AFB-497E-A393-DC336BA19D2E}" styleName="中等深淺樣式 3 - 輔色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E25E649-3F16-4E02-A733-19D2CDBF48F0}" styleName="中等深淺樣式 3 - 輔色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中等深淺樣式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453" autoAdjust="0"/>
    <p:restoredTop sz="89825" autoAdjust="0"/>
  </p:normalViewPr>
  <p:slideViewPr>
    <p:cSldViewPr snapToGrid="0" snapToObjects="1">
      <p:cViewPr varScale="1">
        <p:scale>
          <a:sx n="84" d="100"/>
          <a:sy n="84" d="100"/>
        </p:scale>
        <p:origin x="1574" y="288"/>
      </p:cViewPr>
      <p:guideLst>
        <p:guide orient="horz" pos="180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98" d="100"/>
        <a:sy n="98" d="100"/>
      </p:scale>
      <p:origin x="0" y="204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commentAuthors" Target="commentAuthors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882776D-8DBB-6B4C-921E-4492EBE8FBDF}" type="datetimeFigureOut">
              <a:rPr kumimoji="1" lang="zh-TW" altLang="en-US" smtClean="0"/>
              <a:t>2026/1/14</a:t>
            </a:fld>
            <a:endParaRPr kumimoji="1"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FA5E25-993E-9445-81FD-CFEBDDA1F986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7907333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microsoft.com/office/2007/relationships/hdphoto" Target="../media/hdphoto6.wdp"/><Relationship Id="rId3" Type="http://schemas.microsoft.com/office/2007/relationships/hdphoto" Target="../media/hdphoto1.wdp"/><Relationship Id="rId7" Type="http://schemas.microsoft.com/office/2007/relationships/hdphoto" Target="../media/hdphoto3.wdp"/><Relationship Id="rId12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11" Type="http://schemas.microsoft.com/office/2007/relationships/hdphoto" Target="../media/hdphoto5.wdp"/><Relationship Id="rId5" Type="http://schemas.microsoft.com/office/2007/relationships/hdphoto" Target="../media/hdphoto2.wdp"/><Relationship Id="rId15" Type="http://schemas.microsoft.com/office/2007/relationships/hdphoto" Target="../media/hdphoto7.wdp"/><Relationship Id="rId10" Type="http://schemas.openxmlformats.org/officeDocument/2006/relationships/image" Target="../media/image6.png"/><Relationship Id="rId4" Type="http://schemas.openxmlformats.org/officeDocument/2006/relationships/image" Target="../media/image3.png"/><Relationship Id="rId9" Type="http://schemas.microsoft.com/office/2007/relationships/hdphoto" Target="../media/hdphoto4.wdp"/><Relationship Id="rId14" Type="http://schemas.openxmlformats.org/officeDocument/2006/relationships/image" Target="../media/image8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準CTRDC封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Box 4"/>
          <p:cNvSpPr txBox="1">
            <a:spLocks noChangeArrowheads="1"/>
          </p:cNvSpPr>
          <p:nvPr userDrawn="1"/>
        </p:nvSpPr>
        <p:spPr bwMode="auto">
          <a:xfrm>
            <a:off x="4787015" y="2530371"/>
            <a:ext cx="3254855" cy="22648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02375" tIns="51187" rIns="102375" bIns="51187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Calibri" charset="0"/>
                <a:ea typeface="新細明體" charset="0"/>
                <a:cs typeface="新細明體" charset="0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Calibri" charset="0"/>
                <a:ea typeface="新細明體" charset="0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Calibri" charset="0"/>
                <a:ea typeface="新細明體" charset="0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Calibri" charset="0"/>
                <a:ea typeface="新細明體" charset="0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Calibri" charset="0"/>
                <a:ea typeface="新細明體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Calibri" charset="0"/>
                <a:ea typeface="新細明體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Calibri" charset="0"/>
                <a:ea typeface="新細明體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Calibri" charset="0"/>
                <a:ea typeface="新細明體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Calibri" charset="0"/>
                <a:ea typeface="新細明體" charset="0"/>
              </a:defRPr>
            </a:lvl9pPr>
          </a:lstStyle>
          <a:p>
            <a:pPr eaLnBrk="1" hangingPunct="1"/>
            <a:r>
              <a:rPr kumimoji="0" lang="en-US" altLang="zh-TW" sz="800" dirty="0">
                <a:solidFill>
                  <a:srgbClr val="00B0FF"/>
                </a:solidFill>
                <a:latin typeface="Arial" charset="0"/>
                <a:ea typeface="宋体" charset="0"/>
                <a:cs typeface="Arial" charset="0"/>
              </a:rPr>
              <a:t>BU6 5G Product Development Center-Product Development Div. 3</a:t>
            </a:r>
          </a:p>
        </p:txBody>
      </p:sp>
      <p:sp>
        <p:nvSpPr>
          <p:cNvPr id="9" name="矩形 8"/>
          <p:cNvSpPr>
            <a:spLocks noChangeArrowheads="1"/>
          </p:cNvSpPr>
          <p:nvPr userDrawn="1"/>
        </p:nvSpPr>
        <p:spPr bwMode="auto">
          <a:xfrm rot="16200000">
            <a:off x="4537023" y="-512536"/>
            <a:ext cx="69954" cy="6660000"/>
          </a:xfrm>
          <a:prstGeom prst="rect">
            <a:avLst/>
          </a:prstGeom>
          <a:solidFill>
            <a:srgbClr val="F57C00"/>
          </a:solidFill>
          <a:ln>
            <a:noFill/>
          </a:ln>
          <a:effectLst>
            <a:outerShdw blurRad="50800" dist="38100" dir="2700000" algn="tl" rotWithShape="0">
              <a:srgbClr val="000000">
                <a:alpha val="39999"/>
              </a:srgbClr>
            </a:outerShdw>
          </a:effectLst>
        </p:spPr>
        <p:txBody>
          <a:bodyPr lIns="97332" tIns="48667" rIns="97332" bIns="48667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zh-TW" altLang="en-US" dirty="0">
              <a:solidFill>
                <a:schemeClr val="lt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+mn-lt"/>
              <a:ea typeface="+mn-ea"/>
              <a:cs typeface="+mn-cs"/>
            </a:endParaRPr>
          </a:p>
        </p:txBody>
      </p:sp>
      <p:sp>
        <p:nvSpPr>
          <p:cNvPr id="10" name="文字方塊 9"/>
          <p:cNvSpPr txBox="1"/>
          <p:nvPr userDrawn="1"/>
        </p:nvSpPr>
        <p:spPr>
          <a:xfrm>
            <a:off x="4787013" y="2327737"/>
            <a:ext cx="3206407" cy="267562"/>
          </a:xfrm>
          <a:prstGeom prst="rect">
            <a:avLst/>
          </a:prstGeom>
          <a:noFill/>
        </p:spPr>
        <p:txBody>
          <a:bodyPr wrap="square" lIns="97332" tIns="48667" rIns="97332" bIns="48667" rtlCol="0">
            <a:spAutoFit/>
          </a:bodyPr>
          <a:lstStyle/>
          <a:p>
            <a:pPr algn="l"/>
            <a:r>
              <a:rPr lang="zh-CN" altLang="en-US" sz="1100" dirty="0">
                <a:latin typeface="微軟正黑體"/>
                <a:ea typeface="微軟正黑體"/>
                <a:cs typeface="微軟正黑體"/>
              </a:rPr>
              <a:t>第六事業處</a:t>
            </a:r>
            <a:r>
              <a:rPr lang="en-US" altLang="zh-CN" sz="1100" dirty="0">
                <a:latin typeface="微軟正黑體"/>
                <a:ea typeface="微軟正黑體"/>
                <a:cs typeface="微軟正黑體"/>
              </a:rPr>
              <a:t>5G</a:t>
            </a:r>
            <a:r>
              <a:rPr lang="zh-TW" altLang="en-US" sz="1100" dirty="0">
                <a:latin typeface="微軟正黑體"/>
                <a:ea typeface="微軟正黑體"/>
                <a:cs typeface="微軟正黑體"/>
              </a:rPr>
              <a:t>產品開發事業處</a:t>
            </a:r>
            <a:r>
              <a:rPr lang="en-US" altLang="zh-TW" sz="1100" dirty="0">
                <a:latin typeface="微軟正黑體"/>
                <a:ea typeface="微軟正黑體"/>
                <a:cs typeface="微軟正黑體"/>
              </a:rPr>
              <a:t>-</a:t>
            </a:r>
            <a:r>
              <a:rPr lang="zh-CN" altLang="en-US" sz="1100" dirty="0">
                <a:latin typeface="微軟正黑體"/>
                <a:ea typeface="微軟正黑體"/>
                <a:cs typeface="微軟正黑體"/>
              </a:rPr>
              <a:t>產品開發三處</a:t>
            </a:r>
            <a:endParaRPr lang="zh-TW" altLang="en-US" sz="1100" dirty="0">
              <a:latin typeface="微軟正黑體"/>
              <a:ea typeface="微軟正黑體"/>
              <a:cs typeface="微軟正黑體"/>
            </a:endParaRPr>
          </a:p>
        </p:txBody>
      </p:sp>
      <p:sp>
        <p:nvSpPr>
          <p:cNvPr id="21" name="日期版面配置區 20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62C7BDE2-4401-E347-B894-96E96B98C55C}" type="datetimeFigureOut">
              <a:rPr kumimoji="1" lang="zh-TW" altLang="en-US" smtClean="0"/>
              <a:pPr/>
              <a:t>2026/1/14</a:t>
            </a:fld>
            <a:endParaRPr kumimoji="1" lang="zh-TW" altLang="en-US" dirty="0"/>
          </a:p>
        </p:txBody>
      </p:sp>
      <p:sp>
        <p:nvSpPr>
          <p:cNvPr id="22" name="頁尾版面配置區 21"/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kumimoji="1" lang="en-US" altLang="zh-TW" dirty="0"/>
              <a:t>CTRDC</a:t>
            </a:r>
            <a:endParaRPr kumimoji="1" lang="zh-TW" altLang="en-US" dirty="0"/>
          </a:p>
        </p:txBody>
      </p:sp>
      <p:sp>
        <p:nvSpPr>
          <p:cNvPr id="23" name="投影片編號版面配置區 22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903D5BB0-1216-8E48-A837-0CCFD9BD7164}" type="slidenum">
              <a:rPr kumimoji="1" lang="zh-TW" altLang="en-US" smtClean="0"/>
              <a:pPr/>
              <a:t>‹#›</a:t>
            </a:fld>
            <a:endParaRPr kumimoji="1" lang="zh-TW" altLang="en-US" dirty="0"/>
          </a:p>
        </p:txBody>
      </p:sp>
      <p:sp>
        <p:nvSpPr>
          <p:cNvPr id="25" name="子標題 2"/>
          <p:cNvSpPr>
            <a:spLocks noGrp="1"/>
          </p:cNvSpPr>
          <p:nvPr>
            <p:ph type="subTitle" idx="1" hasCustomPrompt="1"/>
          </p:nvPr>
        </p:nvSpPr>
        <p:spPr>
          <a:xfrm>
            <a:off x="6483409" y="3492748"/>
            <a:ext cx="1421621" cy="325908"/>
          </a:xfrm>
          <a:ln>
            <a:noFill/>
          </a:ln>
        </p:spPr>
        <p:txBody>
          <a:bodyPr anchor="ctr">
            <a:normAutofit/>
          </a:bodyPr>
          <a:lstStyle>
            <a:lvl1pPr marL="0" indent="0" algn="l">
              <a:buNone/>
              <a:defRPr sz="1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kumimoji="1" lang="zh-TW" altLang="en-US" dirty="0"/>
              <a:t>點按可編輯日期</a:t>
            </a:r>
          </a:p>
        </p:txBody>
      </p:sp>
      <p:sp>
        <p:nvSpPr>
          <p:cNvPr id="26" name="標題 1"/>
          <p:cNvSpPr>
            <a:spLocks noGrp="1"/>
          </p:cNvSpPr>
          <p:nvPr>
            <p:ph type="ctrTitle"/>
          </p:nvPr>
        </p:nvSpPr>
        <p:spPr>
          <a:xfrm>
            <a:off x="3336652" y="3005843"/>
            <a:ext cx="4550753" cy="325908"/>
          </a:xfrm>
        </p:spPr>
        <p:txBody>
          <a:bodyPr>
            <a:normAutofit/>
          </a:bodyPr>
          <a:lstStyle>
            <a:lvl1pPr algn="l">
              <a:defRPr sz="2100" baseline="0">
                <a:solidFill>
                  <a:srgbClr val="F57C00"/>
                </a:solidFill>
                <a:latin typeface="Arial" charset="0"/>
              </a:defRPr>
            </a:lvl1pPr>
          </a:lstStyle>
          <a:p>
            <a:r>
              <a:rPr kumimoji="1" lang="zh-TW" altLang="en-US"/>
              <a:t>按一下以編輯母片標題樣式</a:t>
            </a:r>
            <a:endParaRPr kumimoji="1" lang="zh-TW" altLang="en-US" dirty="0"/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4C81D5FA-62C9-7D44-AAA9-0FD2244AF7C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74699" y="2332253"/>
            <a:ext cx="3639256" cy="429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81891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準通用封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>
            <a:spLocks noChangeArrowheads="1"/>
          </p:cNvSpPr>
          <p:nvPr userDrawn="1"/>
        </p:nvSpPr>
        <p:spPr bwMode="auto">
          <a:xfrm rot="5400000">
            <a:off x="4241739" y="48512"/>
            <a:ext cx="69954" cy="5537904"/>
          </a:xfrm>
          <a:prstGeom prst="rect">
            <a:avLst/>
          </a:prstGeom>
          <a:solidFill>
            <a:srgbClr val="F57C00"/>
          </a:solidFill>
          <a:ln>
            <a:noFill/>
          </a:ln>
          <a:effectLst>
            <a:outerShdw blurRad="50800" dist="38100" dir="2700000" algn="tl" rotWithShape="0">
              <a:srgbClr val="000000">
                <a:alpha val="39999"/>
              </a:srgbClr>
            </a:outerShdw>
          </a:effectLst>
        </p:spPr>
        <p:txBody>
          <a:bodyPr lIns="97332" tIns="48667" rIns="97332" bIns="48667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zh-TW" altLang="en-US" dirty="0">
              <a:solidFill>
                <a:schemeClr val="lt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+mn-lt"/>
              <a:ea typeface="+mn-ea"/>
              <a:cs typeface="+mn-cs"/>
            </a:endParaRPr>
          </a:p>
        </p:txBody>
      </p:sp>
      <p:sp>
        <p:nvSpPr>
          <p:cNvPr id="21" name="日期版面配置區 20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62C7BDE2-4401-E347-B894-96E96B98C55C}" type="datetimeFigureOut">
              <a:rPr kumimoji="1" lang="zh-TW" altLang="en-US" smtClean="0"/>
              <a:pPr/>
              <a:t>2026/1/14</a:t>
            </a:fld>
            <a:endParaRPr kumimoji="1" lang="zh-TW" altLang="en-US" dirty="0"/>
          </a:p>
        </p:txBody>
      </p:sp>
      <p:sp>
        <p:nvSpPr>
          <p:cNvPr id="22" name="頁尾版面配置區 21"/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kumimoji="1" lang="zh-TW" altLang="en-US" dirty="0"/>
          </a:p>
        </p:txBody>
      </p:sp>
      <p:sp>
        <p:nvSpPr>
          <p:cNvPr id="23" name="投影片編號版面配置區 22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903D5BB0-1216-8E48-A837-0CCFD9BD7164}" type="slidenum">
              <a:rPr kumimoji="1" lang="zh-TW" altLang="en-US" smtClean="0"/>
              <a:pPr/>
              <a:t>‹#›</a:t>
            </a:fld>
            <a:endParaRPr kumimoji="1" lang="zh-TW" altLang="en-US" dirty="0"/>
          </a:p>
        </p:txBody>
      </p:sp>
      <p:sp>
        <p:nvSpPr>
          <p:cNvPr id="25" name="子標題 2"/>
          <p:cNvSpPr>
            <a:spLocks noGrp="1"/>
          </p:cNvSpPr>
          <p:nvPr>
            <p:ph type="subTitle" idx="1" hasCustomPrompt="1"/>
          </p:nvPr>
        </p:nvSpPr>
        <p:spPr>
          <a:xfrm>
            <a:off x="6229078" y="3492748"/>
            <a:ext cx="1421621" cy="325908"/>
          </a:xfrm>
          <a:ln>
            <a:noFill/>
          </a:ln>
        </p:spPr>
        <p:txBody>
          <a:bodyPr anchor="ctr">
            <a:normAutofit/>
          </a:bodyPr>
          <a:lstStyle>
            <a:lvl1pPr marL="0" indent="0" algn="l">
              <a:buNone/>
              <a:defRPr sz="1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kumimoji="1" lang="zh-TW" altLang="en-US" dirty="0"/>
              <a:t>點按可編輯日期</a:t>
            </a:r>
          </a:p>
        </p:txBody>
      </p:sp>
      <p:sp>
        <p:nvSpPr>
          <p:cNvPr id="26" name="標題 1"/>
          <p:cNvSpPr>
            <a:spLocks noGrp="1"/>
          </p:cNvSpPr>
          <p:nvPr>
            <p:ph type="ctrTitle"/>
          </p:nvPr>
        </p:nvSpPr>
        <p:spPr>
          <a:xfrm>
            <a:off x="2979677" y="3005843"/>
            <a:ext cx="4065992" cy="325908"/>
          </a:xfrm>
        </p:spPr>
        <p:txBody>
          <a:bodyPr>
            <a:normAutofit/>
          </a:bodyPr>
          <a:lstStyle>
            <a:lvl1pPr algn="l">
              <a:defRPr sz="2100" baseline="0">
                <a:solidFill>
                  <a:srgbClr val="F57C00"/>
                </a:solidFill>
                <a:latin typeface="Arial" charset="0"/>
              </a:defRPr>
            </a:lvl1pPr>
          </a:lstStyle>
          <a:p>
            <a:r>
              <a:rPr kumimoji="1" lang="zh-TW" altLang="en-US"/>
              <a:t>按一下以編輯母片標題樣式</a:t>
            </a:r>
            <a:endParaRPr kumimoji="1" lang="zh-TW" altLang="en-US" dirty="0"/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4C81D5FA-62C9-7D44-AAA9-0FD2244AF7C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07764" y="2253525"/>
            <a:ext cx="3639256" cy="429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92518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暗色系封面">
    <p:bg>
      <p:bgPr>
        <a:solidFill>
          <a:srgbClr val="3E3E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日期版面配置區 20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62C7BDE2-4401-E347-B894-96E96B98C55C}" type="datetimeFigureOut">
              <a:rPr kumimoji="1" lang="zh-TW" altLang="en-US" smtClean="0"/>
              <a:pPr/>
              <a:t>2026/1/14</a:t>
            </a:fld>
            <a:endParaRPr kumimoji="1" lang="zh-TW" altLang="en-US" dirty="0"/>
          </a:p>
        </p:txBody>
      </p:sp>
      <p:sp>
        <p:nvSpPr>
          <p:cNvPr id="22" name="頁尾版面配置區 21"/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kumimoji="1" lang="en-US" altLang="zh-TW" dirty="0"/>
              <a:t>CTRDC</a:t>
            </a:r>
            <a:endParaRPr kumimoji="1" lang="zh-TW" altLang="en-US" dirty="0"/>
          </a:p>
        </p:txBody>
      </p:sp>
      <p:sp>
        <p:nvSpPr>
          <p:cNvPr id="23" name="投影片編號版面配置區 22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903D5BB0-1216-8E48-A837-0CCFD9BD7164}" type="slidenum">
              <a:rPr kumimoji="1" lang="zh-TW" altLang="en-US" smtClean="0"/>
              <a:pPr/>
              <a:t>‹#›</a:t>
            </a:fld>
            <a:endParaRPr kumimoji="1" lang="zh-TW" altLang="en-US" dirty="0"/>
          </a:p>
        </p:txBody>
      </p:sp>
      <p:sp>
        <p:nvSpPr>
          <p:cNvPr id="25" name="子標題 2"/>
          <p:cNvSpPr>
            <a:spLocks noGrp="1"/>
          </p:cNvSpPr>
          <p:nvPr>
            <p:ph type="subTitle" idx="1" hasCustomPrompt="1"/>
          </p:nvPr>
        </p:nvSpPr>
        <p:spPr>
          <a:xfrm>
            <a:off x="6229078" y="3492748"/>
            <a:ext cx="1421621" cy="325908"/>
          </a:xfrm>
          <a:ln>
            <a:noFill/>
          </a:ln>
        </p:spPr>
        <p:txBody>
          <a:bodyPr anchor="ctr">
            <a:normAutofit/>
          </a:bodyPr>
          <a:lstStyle>
            <a:lvl1pPr marL="0" indent="0" algn="l">
              <a:buNone/>
              <a:defRPr sz="1200">
                <a:solidFill>
                  <a:schemeClr val="bg1"/>
                </a:solidFill>
                <a:effectLst>
                  <a:outerShdw blurRad="101600" dist="635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kumimoji="1" lang="zh-TW" altLang="en-US" dirty="0"/>
              <a:t>點按可編輯日期</a:t>
            </a:r>
          </a:p>
        </p:txBody>
      </p:sp>
      <p:sp>
        <p:nvSpPr>
          <p:cNvPr id="26" name="標題 1"/>
          <p:cNvSpPr>
            <a:spLocks noGrp="1"/>
          </p:cNvSpPr>
          <p:nvPr>
            <p:ph type="ctrTitle"/>
          </p:nvPr>
        </p:nvSpPr>
        <p:spPr>
          <a:xfrm>
            <a:off x="2979677" y="3005843"/>
            <a:ext cx="4065992" cy="325908"/>
          </a:xfrm>
        </p:spPr>
        <p:txBody>
          <a:bodyPr>
            <a:normAutofit/>
          </a:bodyPr>
          <a:lstStyle>
            <a:lvl1pPr algn="l">
              <a:defRPr sz="2100" baseline="0">
                <a:solidFill>
                  <a:srgbClr val="F57C00"/>
                </a:solidFill>
                <a:effectLst>
                  <a:outerShdw blurRad="101600" dist="63500" dir="2700000" algn="tl" rotWithShape="0">
                    <a:prstClr val="black">
                      <a:alpha val="43000"/>
                    </a:prstClr>
                  </a:outerShdw>
                </a:effectLst>
                <a:latin typeface="Arial" charset="0"/>
              </a:defRPr>
            </a:lvl1pPr>
          </a:lstStyle>
          <a:p>
            <a:r>
              <a:rPr kumimoji="1" lang="zh-TW" altLang="en-US"/>
              <a:t>按一下以編輯母片標題樣式</a:t>
            </a:r>
            <a:endParaRPr kumimoji="1" lang="zh-TW" altLang="en-US" dirty="0"/>
          </a:p>
        </p:txBody>
      </p:sp>
      <p:grpSp>
        <p:nvGrpSpPr>
          <p:cNvPr id="14" name="群組 13">
            <a:extLst>
              <a:ext uri="{FF2B5EF4-FFF2-40B4-BE49-F238E27FC236}">
                <a16:creationId xmlns:a16="http://schemas.microsoft.com/office/drawing/2014/main" id="{65004438-2552-7D46-88BA-2E23F462FCA2}"/>
              </a:ext>
            </a:extLst>
          </p:cNvPr>
          <p:cNvGrpSpPr/>
          <p:nvPr userDrawn="1"/>
        </p:nvGrpSpPr>
        <p:grpSpPr>
          <a:xfrm>
            <a:off x="1503272" y="2286078"/>
            <a:ext cx="3639914" cy="364304"/>
            <a:chOff x="4047265" y="725389"/>
            <a:chExt cx="3639914" cy="364304"/>
          </a:xfrm>
          <a:effectLst>
            <a:outerShdw blurRad="63500" dist="63500" dir="2700000" algn="tl" rotWithShape="0">
              <a:prstClr val="black">
                <a:alpha val="40000"/>
              </a:prstClr>
            </a:outerShdw>
          </a:effectLst>
        </p:grpSpPr>
        <p:pic>
          <p:nvPicPr>
            <p:cNvPr id="12" name="圖片 11">
              <a:extLst>
                <a:ext uri="{FF2B5EF4-FFF2-40B4-BE49-F238E27FC236}">
                  <a16:creationId xmlns:a16="http://schemas.microsoft.com/office/drawing/2014/main" id="{E4DB9CAA-F5B7-264B-9DE8-6C7E46048F64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 cstate="screen">
              <a:clrChange>
                <a:clrFrom>
                  <a:srgbClr val="007BC7"/>
                </a:clrFrom>
                <a:clrTo>
                  <a:srgbClr val="007BC7">
                    <a:alpha val="0"/>
                  </a:srgbClr>
                </a:clrTo>
              </a:clrChange>
              <a:grayscl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4047265" y="725389"/>
              <a:ext cx="1721146" cy="338355"/>
            </a:xfrm>
            <a:prstGeom prst="rect">
              <a:avLst/>
            </a:prstGeom>
          </p:spPr>
        </p:pic>
        <p:grpSp>
          <p:nvGrpSpPr>
            <p:cNvPr id="13" name="群組 12">
              <a:extLst>
                <a:ext uri="{FF2B5EF4-FFF2-40B4-BE49-F238E27FC236}">
                  <a16:creationId xmlns:a16="http://schemas.microsoft.com/office/drawing/2014/main" id="{79F5D871-1546-8745-BB16-6C82356D8689}"/>
                </a:ext>
              </a:extLst>
            </p:cNvPr>
            <p:cNvGrpSpPr/>
            <p:nvPr userDrawn="1"/>
          </p:nvGrpSpPr>
          <p:grpSpPr>
            <a:xfrm>
              <a:off x="5826798" y="728654"/>
              <a:ext cx="1860381" cy="361039"/>
              <a:chOff x="5826798" y="728654"/>
              <a:chExt cx="1860381" cy="361039"/>
            </a:xfrm>
          </p:grpSpPr>
          <p:pic>
            <p:nvPicPr>
              <p:cNvPr id="18" name="圖片 17">
                <a:extLst>
                  <a:ext uri="{FF2B5EF4-FFF2-40B4-BE49-F238E27FC236}">
                    <a16:creationId xmlns:a16="http://schemas.microsoft.com/office/drawing/2014/main" id="{5FBF2356-4CA6-3848-BFA1-DB7C640CCFE0}"/>
                  </a:ext>
                </a:extLst>
              </p:cNvPr>
              <p:cNvPicPr>
                <a:picLocks noChangeAspect="1"/>
              </p:cNvPicPr>
              <p:nvPr userDrawn="1"/>
            </p:nvPicPr>
            <p:blipFill rotWithShape="1">
              <a:blip r:embed="rId4" cstate="screen">
                <a:clrChange>
                  <a:clrFrom>
                    <a:srgbClr val="007BC7"/>
                  </a:clrFrom>
                  <a:clrTo>
                    <a:srgbClr val="007BC7">
                      <a:alpha val="0"/>
                    </a:srgbClr>
                  </a:clrTo>
                </a:clrChange>
                <a:grayscl/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5826798" y="728654"/>
                <a:ext cx="377123" cy="361039"/>
              </a:xfrm>
              <a:prstGeom prst="rect">
                <a:avLst/>
              </a:prstGeom>
            </p:spPr>
          </p:pic>
          <p:pic>
            <p:nvPicPr>
              <p:cNvPr id="19" name="圖片 18">
                <a:extLst>
                  <a:ext uri="{FF2B5EF4-FFF2-40B4-BE49-F238E27FC236}">
                    <a16:creationId xmlns:a16="http://schemas.microsoft.com/office/drawing/2014/main" id="{C5800301-8CC8-5F41-B11C-B0C66DFA178C}"/>
                  </a:ext>
                </a:extLst>
              </p:cNvPr>
              <p:cNvPicPr>
                <a:picLocks noChangeAspect="1"/>
              </p:cNvPicPr>
              <p:nvPr userDrawn="1"/>
            </p:nvPicPr>
            <p:blipFill rotWithShape="1">
              <a:blip r:embed="rId6" cstate="screen">
                <a:clrChange>
                  <a:clrFrom>
                    <a:srgbClr val="007BC7"/>
                  </a:clrFrom>
                  <a:clrTo>
                    <a:srgbClr val="007BC7">
                      <a:alpha val="0"/>
                    </a:srgbClr>
                  </a:clrTo>
                </a:clrChange>
                <a:grayscl/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6093150" y="728654"/>
                <a:ext cx="414471" cy="361039"/>
              </a:xfrm>
              <a:prstGeom prst="rect">
                <a:avLst/>
              </a:prstGeom>
            </p:spPr>
          </p:pic>
          <p:pic>
            <p:nvPicPr>
              <p:cNvPr id="20" name="圖片 19">
                <a:extLst>
                  <a:ext uri="{FF2B5EF4-FFF2-40B4-BE49-F238E27FC236}">
                    <a16:creationId xmlns:a16="http://schemas.microsoft.com/office/drawing/2014/main" id="{5EEE8330-03AB-C74F-A103-BBB893472455}"/>
                  </a:ext>
                </a:extLst>
              </p:cNvPr>
              <p:cNvPicPr>
                <a:picLocks noChangeAspect="1"/>
              </p:cNvPicPr>
              <p:nvPr userDrawn="1"/>
            </p:nvPicPr>
            <p:blipFill rotWithShape="1">
              <a:blip r:embed="rId8" cstate="screen">
                <a:clrChange>
                  <a:clrFrom>
                    <a:srgbClr val="007BC7"/>
                  </a:clrFrom>
                  <a:clrTo>
                    <a:srgbClr val="007BC7">
                      <a:alpha val="0"/>
                    </a:srgbClr>
                  </a:clrTo>
                </a:clrChange>
                <a:grayscl/>
                <a:extLst>
                  <a:ext uri="{BEBA8EAE-BF5A-486C-A8C5-ECC9F3942E4B}">
                    <a14:imgProps xmlns:a14="http://schemas.microsoft.com/office/drawing/2010/main">
                      <a14:imgLayer r:embed="rId9"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6384813" y="728654"/>
                <a:ext cx="435497" cy="361039"/>
              </a:xfrm>
              <a:prstGeom prst="rect">
                <a:avLst/>
              </a:prstGeom>
            </p:spPr>
          </p:pic>
          <p:pic>
            <p:nvPicPr>
              <p:cNvPr id="24" name="圖片 23">
                <a:extLst>
                  <a:ext uri="{FF2B5EF4-FFF2-40B4-BE49-F238E27FC236}">
                    <a16:creationId xmlns:a16="http://schemas.microsoft.com/office/drawing/2014/main" id="{B3C0CB6F-0561-C34B-8330-E442CA37D271}"/>
                  </a:ext>
                </a:extLst>
              </p:cNvPr>
              <p:cNvPicPr>
                <a:picLocks noChangeAspect="1"/>
              </p:cNvPicPr>
              <p:nvPr userDrawn="1"/>
            </p:nvPicPr>
            <p:blipFill rotWithShape="1">
              <a:blip r:embed="rId10" cstate="screen">
                <a:clrChange>
                  <a:clrFrom>
                    <a:srgbClr val="007BC7"/>
                  </a:clrFrom>
                  <a:clrTo>
                    <a:srgbClr val="007BC7">
                      <a:alpha val="0"/>
                    </a:srgbClr>
                  </a:clrTo>
                </a:clrChange>
                <a:grayscl/>
                <a:extLst>
                  <a:ext uri="{BEBA8EAE-BF5A-486C-A8C5-ECC9F3942E4B}">
                    <a14:imgProps xmlns:a14="http://schemas.microsoft.com/office/drawing/2010/main">
                      <a14:imgLayer r:embed="rId11"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6706169" y="728654"/>
                <a:ext cx="401653" cy="361039"/>
              </a:xfrm>
              <a:prstGeom prst="rect">
                <a:avLst/>
              </a:prstGeom>
            </p:spPr>
          </p:pic>
          <p:pic>
            <p:nvPicPr>
              <p:cNvPr id="27" name="圖片 26">
                <a:extLst>
                  <a:ext uri="{FF2B5EF4-FFF2-40B4-BE49-F238E27FC236}">
                    <a16:creationId xmlns:a16="http://schemas.microsoft.com/office/drawing/2014/main" id="{34526400-52AB-9245-9565-863A619B1257}"/>
                  </a:ext>
                </a:extLst>
              </p:cNvPr>
              <p:cNvPicPr>
                <a:picLocks noChangeAspect="1"/>
              </p:cNvPicPr>
              <p:nvPr userDrawn="1"/>
            </p:nvPicPr>
            <p:blipFill rotWithShape="1">
              <a:blip r:embed="rId12" cstate="screen">
                <a:clrChange>
                  <a:clrFrom>
                    <a:srgbClr val="007BC7"/>
                  </a:clrFrom>
                  <a:clrTo>
                    <a:srgbClr val="007BC7">
                      <a:alpha val="0"/>
                    </a:srgbClr>
                  </a:clrTo>
                </a:clrChange>
                <a:grayscl/>
                <a:extLst>
                  <a:ext uri="{BEBA8EAE-BF5A-486C-A8C5-ECC9F3942E4B}">
                    <a14:imgProps xmlns:a14="http://schemas.microsoft.com/office/drawing/2010/main">
                      <a14:imgLayer r:embed="rId13"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7001202" y="728654"/>
                <a:ext cx="397379" cy="361039"/>
              </a:xfrm>
              <a:prstGeom prst="rect">
                <a:avLst/>
              </a:prstGeom>
            </p:spPr>
          </p:pic>
          <p:pic>
            <p:nvPicPr>
              <p:cNvPr id="28" name="圖片 27">
                <a:extLst>
                  <a:ext uri="{FF2B5EF4-FFF2-40B4-BE49-F238E27FC236}">
                    <a16:creationId xmlns:a16="http://schemas.microsoft.com/office/drawing/2014/main" id="{434679FE-6885-BD45-9B25-4225E41EDC9C}"/>
                  </a:ext>
                </a:extLst>
              </p:cNvPr>
              <p:cNvPicPr>
                <a:picLocks noChangeAspect="1"/>
              </p:cNvPicPr>
              <p:nvPr userDrawn="1"/>
            </p:nvPicPr>
            <p:blipFill rotWithShape="1">
              <a:blip r:embed="rId14" cstate="screen">
                <a:clrChange>
                  <a:clrFrom>
                    <a:srgbClr val="007BC7"/>
                  </a:clrFrom>
                  <a:clrTo>
                    <a:srgbClr val="007BC7">
                      <a:alpha val="0"/>
                    </a:srgbClr>
                  </a:clrTo>
                </a:clrChange>
                <a:grayscl/>
                <a:extLst>
                  <a:ext uri="{BEBA8EAE-BF5A-486C-A8C5-ECC9F3942E4B}">
                    <a14:imgProps xmlns:a14="http://schemas.microsoft.com/office/drawing/2010/main">
                      <a14:imgLayer r:embed="rId15"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/>
            </p:blipFill>
            <p:spPr>
              <a:xfrm>
                <a:off x="7322558" y="728654"/>
                <a:ext cx="364621" cy="361039"/>
              </a:xfrm>
              <a:prstGeom prst="rect">
                <a:avLst/>
              </a:prstGeom>
            </p:spPr>
          </p:pic>
        </p:grpSp>
      </p:grpSp>
      <p:sp>
        <p:nvSpPr>
          <p:cNvPr id="29" name="Text Box 4">
            <a:extLst>
              <a:ext uri="{FF2B5EF4-FFF2-40B4-BE49-F238E27FC236}">
                <a16:creationId xmlns:a16="http://schemas.microsoft.com/office/drawing/2014/main" id="{DB4CC9F4-A9A5-8643-9590-51E2ECE69F1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210919" y="2451643"/>
            <a:ext cx="1906717" cy="257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102375" tIns="51187" rIns="102375" bIns="51187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Calibri" charset="0"/>
                <a:ea typeface="新細明體" charset="0"/>
                <a:cs typeface="新細明體" charset="0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Calibri" charset="0"/>
                <a:ea typeface="新細明體" charset="0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Calibri" charset="0"/>
                <a:ea typeface="新細明體" charset="0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Calibri" charset="0"/>
                <a:ea typeface="新細明體" charset="0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Calibri" charset="0"/>
                <a:ea typeface="新細明體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Calibri" charset="0"/>
                <a:ea typeface="新細明體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Calibri" charset="0"/>
                <a:ea typeface="新細明體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Calibri" charset="0"/>
                <a:ea typeface="新細明體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Calibri" charset="0"/>
                <a:ea typeface="新細明體" charset="0"/>
              </a:defRPr>
            </a:lvl9pPr>
          </a:lstStyle>
          <a:p>
            <a:pPr eaLnBrk="1" hangingPunct="1"/>
            <a:r>
              <a:rPr kumimoji="0" lang="en-US" altLang="zh-TW" sz="1000" dirty="0">
                <a:solidFill>
                  <a:srgbClr val="00B0FF"/>
                </a:solidFill>
                <a:latin typeface="Arial" charset="0"/>
                <a:ea typeface="宋体" charset="0"/>
                <a:cs typeface="Arial" charset="0"/>
              </a:rPr>
              <a:t>Core Technology R&amp;D Center</a:t>
            </a:r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4A892B46-6E5E-214D-B4CF-F5F58DFA17AB}"/>
              </a:ext>
            </a:extLst>
          </p:cNvPr>
          <p:cNvSpPr txBox="1"/>
          <p:nvPr userDrawn="1"/>
        </p:nvSpPr>
        <p:spPr>
          <a:xfrm>
            <a:off x="5210919" y="2249009"/>
            <a:ext cx="1838984" cy="283112"/>
          </a:xfrm>
          <a:prstGeom prst="rect">
            <a:avLst/>
          </a:prstGeom>
          <a:noFill/>
        </p:spPr>
        <p:txBody>
          <a:bodyPr wrap="square" lIns="97332" tIns="48667" rIns="97332" bIns="48667" rtlCol="0">
            <a:spAutoFit/>
          </a:bodyPr>
          <a:lstStyle/>
          <a:p>
            <a:pPr algn="dist"/>
            <a:r>
              <a:rPr lang="zh-TW" altLang="en-US" sz="1200" dirty="0">
                <a:solidFill>
                  <a:schemeClr val="bg1"/>
                </a:solidFill>
                <a:latin typeface="微軟正黑體"/>
                <a:ea typeface="微軟正黑體"/>
                <a:cs typeface="微軟正黑體"/>
              </a:rPr>
              <a:t>核心技術研發中心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194FC159-7C7F-1342-8CAA-EB880F47242A}"/>
              </a:ext>
            </a:extLst>
          </p:cNvPr>
          <p:cNvSpPr>
            <a:spLocks noChangeArrowheads="1"/>
          </p:cNvSpPr>
          <p:nvPr userDrawn="1"/>
        </p:nvSpPr>
        <p:spPr bwMode="auto">
          <a:xfrm rot="5400000">
            <a:off x="4241739" y="48512"/>
            <a:ext cx="69954" cy="5537904"/>
          </a:xfrm>
          <a:prstGeom prst="rect">
            <a:avLst/>
          </a:prstGeom>
          <a:solidFill>
            <a:srgbClr val="F57C00"/>
          </a:solidFill>
          <a:ln>
            <a:noFill/>
          </a:ln>
          <a:effectLst>
            <a:outerShdw blurRad="50800" dist="38100" dir="2700000" algn="tl" rotWithShape="0">
              <a:srgbClr val="000000">
                <a:alpha val="39999"/>
              </a:srgbClr>
            </a:outerShdw>
          </a:effectLst>
        </p:spPr>
        <p:txBody>
          <a:bodyPr lIns="97332" tIns="48667" rIns="97332" bIns="48667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zh-TW" altLang="en-US" dirty="0">
              <a:solidFill>
                <a:schemeClr val="lt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04812" y="138151"/>
            <a:ext cx="8006387" cy="693397"/>
          </a:xfrm>
        </p:spPr>
        <p:txBody>
          <a:bodyPr>
            <a:normAutofit/>
          </a:bodyPr>
          <a:lstStyle>
            <a:lvl1pPr algn="l">
              <a:defRPr sz="2400">
                <a:solidFill>
                  <a:srgbClr val="7F7F7F"/>
                </a:solidFill>
              </a:defRPr>
            </a:lvl1pPr>
          </a:lstStyle>
          <a:p>
            <a:r>
              <a:rPr kumimoji="1" lang="zh-TW" altLang="en-US"/>
              <a:t>按一下以編輯母片標題樣式</a:t>
            </a:r>
            <a:endParaRPr kumimoji="1"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57200" y="1040482"/>
            <a:ext cx="8229600" cy="4064654"/>
          </a:xfrm>
        </p:spPr>
        <p:txBody>
          <a:bodyPr/>
          <a:lstStyle>
            <a:lvl1pPr>
              <a:defRPr>
                <a:solidFill>
                  <a:srgbClr val="7F7F7F"/>
                </a:solidFill>
              </a:defRPr>
            </a:lvl1pPr>
            <a:lvl2pPr>
              <a:defRPr>
                <a:solidFill>
                  <a:srgbClr val="7F7F7F"/>
                </a:solidFill>
              </a:defRPr>
            </a:lvl2pPr>
            <a:lvl3pPr>
              <a:defRPr>
                <a:solidFill>
                  <a:srgbClr val="7F7F7F"/>
                </a:solidFill>
              </a:defRPr>
            </a:lvl3pPr>
            <a:lvl4pPr>
              <a:defRPr>
                <a:solidFill>
                  <a:srgbClr val="7F7F7F"/>
                </a:solidFill>
              </a:defRPr>
            </a:lvl4pPr>
            <a:lvl5pPr>
              <a:defRPr>
                <a:solidFill>
                  <a:srgbClr val="7F7F7F"/>
                </a:solidFill>
              </a:defRPr>
            </a:lvl5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7BDE2-4401-E347-B894-96E96B98C55C}" type="datetimeFigureOut">
              <a:rPr kumimoji="1" lang="zh-TW" altLang="en-US" smtClean="0"/>
              <a:t>2026/1/14</a:t>
            </a:fld>
            <a:endParaRPr kumimoji="1"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kumimoji="1" lang="en-US" altLang="zh-TW" dirty="0"/>
              <a:t>CTRDC</a:t>
            </a:r>
            <a:endParaRPr kumimoji="1" lang="zh-TW" altLang="en-US" dirty="0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3D5BB0-1216-8E48-A837-0CCFD9BD7164}" type="slidenum">
              <a:rPr kumimoji="1" lang="zh-TW" altLang="en-US" smtClean="0"/>
              <a:t>‹#›</a:t>
            </a:fld>
            <a:endParaRPr kumimoji="1" lang="zh-TW" altLang="en-US"/>
          </a:p>
        </p:txBody>
      </p:sp>
      <p:sp>
        <p:nvSpPr>
          <p:cNvPr id="7" name="矩形 6"/>
          <p:cNvSpPr>
            <a:spLocks noChangeArrowheads="1"/>
          </p:cNvSpPr>
          <p:nvPr userDrawn="1"/>
        </p:nvSpPr>
        <p:spPr bwMode="auto">
          <a:xfrm>
            <a:off x="0" y="322924"/>
            <a:ext cx="503238" cy="323850"/>
          </a:xfrm>
          <a:prstGeom prst="rect">
            <a:avLst/>
          </a:prstGeom>
          <a:solidFill>
            <a:srgbClr val="FF6600"/>
          </a:solidFill>
          <a:ln>
            <a:noFill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zh-TW" altLang="en-US" dirty="0">
              <a:solidFill>
                <a:prstClr val="white"/>
              </a:solidFill>
              <a:latin typeface="+mn-lt"/>
              <a:ea typeface="黑体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871533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(No Bulle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04812" y="138151"/>
            <a:ext cx="8006387" cy="693397"/>
          </a:xfrm>
        </p:spPr>
        <p:txBody>
          <a:bodyPr>
            <a:normAutofit/>
          </a:bodyPr>
          <a:lstStyle>
            <a:lvl1pPr algn="l">
              <a:defRPr sz="2400">
                <a:solidFill>
                  <a:srgbClr val="7F7F7F"/>
                </a:solidFill>
              </a:defRPr>
            </a:lvl1pPr>
          </a:lstStyle>
          <a:p>
            <a:r>
              <a:rPr kumimoji="1" lang="zh-TW" altLang="en-US"/>
              <a:t>按一下以編輯母片標題樣式</a:t>
            </a:r>
            <a:endParaRPr kumimoji="1"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57200" y="1040482"/>
            <a:ext cx="8229600" cy="4064654"/>
          </a:xfrm>
        </p:spPr>
        <p:txBody>
          <a:bodyPr lIns="447040"/>
          <a:lstStyle>
            <a:lvl1pPr marL="0" indent="0">
              <a:buFontTx/>
              <a:buNone/>
              <a:defRPr>
                <a:solidFill>
                  <a:srgbClr val="7F7F7F"/>
                </a:solidFill>
              </a:defRPr>
            </a:lvl1pPr>
            <a:lvl2pPr marL="457200" indent="0">
              <a:buFontTx/>
              <a:buNone/>
              <a:defRPr>
                <a:solidFill>
                  <a:srgbClr val="7F7F7F"/>
                </a:solidFill>
              </a:defRPr>
            </a:lvl2pPr>
            <a:lvl3pPr marL="914400" indent="0">
              <a:buFontTx/>
              <a:buNone/>
              <a:defRPr>
                <a:solidFill>
                  <a:srgbClr val="7F7F7F"/>
                </a:solidFill>
              </a:defRPr>
            </a:lvl3pPr>
            <a:lvl4pPr marL="1371600" indent="0">
              <a:buFontTx/>
              <a:buNone/>
              <a:defRPr>
                <a:solidFill>
                  <a:srgbClr val="7F7F7F"/>
                </a:solidFill>
              </a:defRPr>
            </a:lvl4pPr>
            <a:lvl5pPr marL="1828800" indent="0">
              <a:buFontTx/>
              <a:buNone/>
              <a:defRPr>
                <a:solidFill>
                  <a:srgbClr val="7F7F7F"/>
                </a:solidFill>
              </a:defRPr>
            </a:lvl5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7BDE2-4401-E347-B894-96E96B98C55C}" type="datetimeFigureOut">
              <a:rPr kumimoji="1" lang="zh-TW" altLang="en-US" smtClean="0"/>
              <a:t>2026/1/14</a:t>
            </a:fld>
            <a:endParaRPr kumimoji="1"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kumimoji="1" lang="en-US" altLang="zh-TW" dirty="0"/>
              <a:t>CTRDC</a:t>
            </a:r>
            <a:endParaRPr kumimoji="1" lang="zh-TW" altLang="en-US" dirty="0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3D5BB0-1216-8E48-A837-0CCFD9BD7164}" type="slidenum">
              <a:rPr kumimoji="1" lang="zh-TW" altLang="en-US" smtClean="0"/>
              <a:t>‹#›</a:t>
            </a:fld>
            <a:endParaRPr kumimoji="1" lang="zh-TW" altLang="en-US"/>
          </a:p>
        </p:txBody>
      </p:sp>
      <p:sp>
        <p:nvSpPr>
          <p:cNvPr id="7" name="矩形 6"/>
          <p:cNvSpPr>
            <a:spLocks noChangeArrowheads="1"/>
          </p:cNvSpPr>
          <p:nvPr userDrawn="1"/>
        </p:nvSpPr>
        <p:spPr bwMode="auto">
          <a:xfrm>
            <a:off x="0" y="322924"/>
            <a:ext cx="503238" cy="323850"/>
          </a:xfrm>
          <a:prstGeom prst="rect">
            <a:avLst/>
          </a:prstGeom>
          <a:solidFill>
            <a:srgbClr val="FF6600"/>
          </a:solidFill>
          <a:ln>
            <a:noFill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zh-TW" altLang="en-US" dirty="0">
              <a:solidFill>
                <a:prstClr val="white"/>
              </a:solidFill>
              <a:latin typeface="+mn-lt"/>
              <a:ea typeface="黑体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615734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(Dark Gray)">
    <p:bg>
      <p:bgPr>
        <a:solidFill>
          <a:schemeClr val="tx1">
            <a:lumMod val="65000"/>
            <a:lumOff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04812" y="138151"/>
            <a:ext cx="8006387" cy="693397"/>
          </a:xfrm>
          <a:effectLst>
            <a:outerShdw blurRad="101600" dist="63500" dir="2700000" algn="tl" rotWithShape="0">
              <a:srgbClr val="000000">
                <a:alpha val="43000"/>
              </a:srgbClr>
            </a:outerShdw>
          </a:effectLst>
        </p:spPr>
        <p:txBody>
          <a:bodyPr>
            <a:normAutofit/>
          </a:bodyPr>
          <a:lstStyle>
            <a:lvl1pPr algn="l">
              <a:defRPr sz="2400">
                <a:solidFill>
                  <a:schemeClr val="bg1"/>
                </a:solidFill>
              </a:defRPr>
            </a:lvl1pPr>
          </a:lstStyle>
          <a:p>
            <a:r>
              <a:rPr kumimoji="1" lang="zh-TW" altLang="en-US"/>
              <a:t>按一下以編輯母片標題樣式</a:t>
            </a:r>
            <a:endParaRPr kumimoji="1"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57200" y="1040482"/>
            <a:ext cx="8229600" cy="4064654"/>
          </a:xfrm>
        </p:spPr>
        <p:txBody>
          <a:bodyPr/>
          <a:lstStyle>
            <a:lvl1pPr>
              <a:buClr>
                <a:srgbClr val="FF8400"/>
              </a:buClr>
              <a:defRPr>
                <a:solidFill>
                  <a:schemeClr val="bg1"/>
                </a:solidFill>
              </a:defRPr>
            </a:lvl1pPr>
            <a:lvl2pPr>
              <a:buClr>
                <a:srgbClr val="FF8400"/>
              </a:buClr>
              <a:defRPr>
                <a:solidFill>
                  <a:schemeClr val="bg1"/>
                </a:solidFill>
              </a:defRPr>
            </a:lvl2pPr>
            <a:lvl3pPr>
              <a:buClr>
                <a:srgbClr val="FF8400"/>
              </a:buClr>
              <a:defRPr>
                <a:solidFill>
                  <a:schemeClr val="bg1"/>
                </a:solidFill>
              </a:defRPr>
            </a:lvl3pPr>
            <a:lvl4pPr>
              <a:buClr>
                <a:srgbClr val="FF8400"/>
              </a:buClr>
              <a:defRPr>
                <a:solidFill>
                  <a:schemeClr val="bg1"/>
                </a:solidFill>
              </a:defRPr>
            </a:lvl4pPr>
            <a:lvl5pPr>
              <a:buClr>
                <a:srgbClr val="FF8400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7BDE2-4401-E347-B894-96E96B98C55C}" type="datetimeFigureOut">
              <a:rPr kumimoji="1" lang="zh-TW" altLang="en-US" smtClean="0"/>
              <a:t>2026/1/14</a:t>
            </a:fld>
            <a:endParaRPr kumimoji="1"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kumimoji="1" lang="en-US" altLang="zh-TW" dirty="0"/>
              <a:t>CTRDC</a:t>
            </a:r>
            <a:endParaRPr kumimoji="1" lang="zh-TW" altLang="en-US" dirty="0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3D5BB0-1216-8E48-A837-0CCFD9BD7164}" type="slidenum">
              <a:rPr kumimoji="1" lang="zh-TW" altLang="en-US" smtClean="0"/>
              <a:t>‹#›</a:t>
            </a:fld>
            <a:endParaRPr kumimoji="1" lang="zh-TW" altLang="en-US"/>
          </a:p>
        </p:txBody>
      </p:sp>
      <p:sp>
        <p:nvSpPr>
          <p:cNvPr id="7" name="矩形 6"/>
          <p:cNvSpPr>
            <a:spLocks noChangeArrowheads="1"/>
          </p:cNvSpPr>
          <p:nvPr userDrawn="1"/>
        </p:nvSpPr>
        <p:spPr bwMode="auto">
          <a:xfrm>
            <a:off x="0" y="322924"/>
            <a:ext cx="503238" cy="323850"/>
          </a:xfrm>
          <a:prstGeom prst="rect">
            <a:avLst/>
          </a:prstGeom>
          <a:solidFill>
            <a:srgbClr val="FF6600"/>
          </a:solidFill>
          <a:ln>
            <a:noFill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zh-TW" altLang="en-US" dirty="0">
              <a:solidFill>
                <a:prstClr val="white"/>
              </a:solidFill>
              <a:latin typeface="+mn-lt"/>
              <a:ea typeface="黑体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996499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(Dark Gray, No Bullet)">
    <p:bg>
      <p:bgPr>
        <a:solidFill>
          <a:schemeClr val="tx1">
            <a:lumMod val="65000"/>
            <a:lumOff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04812" y="138151"/>
            <a:ext cx="8006387" cy="693397"/>
          </a:xfrm>
          <a:effectLst>
            <a:outerShdw blurRad="101600" dist="63500" dir="2700000" algn="tl" rotWithShape="0">
              <a:srgbClr val="000000">
                <a:alpha val="43000"/>
              </a:srgbClr>
            </a:outerShdw>
          </a:effectLst>
        </p:spPr>
        <p:txBody>
          <a:bodyPr>
            <a:normAutofit/>
          </a:bodyPr>
          <a:lstStyle>
            <a:lvl1pPr algn="l">
              <a:defRPr sz="2400">
                <a:solidFill>
                  <a:schemeClr val="bg1"/>
                </a:solidFill>
              </a:defRPr>
            </a:lvl1pPr>
          </a:lstStyle>
          <a:p>
            <a:r>
              <a:rPr kumimoji="1" lang="zh-TW" altLang="en-US"/>
              <a:t>按一下以編輯母片標題樣式</a:t>
            </a:r>
            <a:endParaRPr kumimoji="1"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57200" y="1040482"/>
            <a:ext cx="8229600" cy="4064654"/>
          </a:xfrm>
        </p:spPr>
        <p:txBody>
          <a:bodyPr lIns="447040"/>
          <a:lstStyle>
            <a:lvl1pPr marL="0" indent="0">
              <a:buClr>
                <a:srgbClr val="FF8400"/>
              </a:buClr>
              <a:buFontTx/>
              <a:buNone/>
              <a:defRPr>
                <a:solidFill>
                  <a:schemeClr val="bg1"/>
                </a:solidFill>
              </a:defRPr>
            </a:lvl1pPr>
            <a:lvl2pPr marL="457200" indent="0">
              <a:buClr>
                <a:srgbClr val="FF8400"/>
              </a:buClr>
              <a:buFontTx/>
              <a:buNone/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 marL="914400" indent="0">
              <a:buClr>
                <a:srgbClr val="FF8400"/>
              </a:buClr>
              <a:buFontTx/>
              <a:buNone/>
              <a:defRPr>
                <a:solidFill>
                  <a:schemeClr val="bg1">
                    <a:lumMod val="85000"/>
                  </a:schemeClr>
                </a:solidFill>
              </a:defRPr>
            </a:lvl3pPr>
            <a:lvl4pPr marL="1371600" indent="0">
              <a:buClr>
                <a:srgbClr val="FF8400"/>
              </a:buClr>
              <a:buFontTx/>
              <a:buNone/>
              <a:defRPr>
                <a:solidFill>
                  <a:srgbClr val="D9D9D9"/>
                </a:solidFill>
              </a:defRPr>
            </a:lvl4pPr>
            <a:lvl5pPr marL="1828800" indent="0">
              <a:buClr>
                <a:srgbClr val="FF8400"/>
              </a:buClr>
              <a:buFontTx/>
              <a:buNone/>
              <a:defRPr>
                <a:solidFill>
                  <a:srgbClr val="D9D9D9"/>
                </a:solidFill>
              </a:defRPr>
            </a:lvl5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7BDE2-4401-E347-B894-96E96B98C55C}" type="datetimeFigureOut">
              <a:rPr kumimoji="1" lang="zh-TW" altLang="en-US" smtClean="0"/>
              <a:t>2026/1/14</a:t>
            </a:fld>
            <a:endParaRPr kumimoji="1"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kumimoji="1" lang="en-US" altLang="zh-TW" dirty="0"/>
              <a:t>CTRDC</a:t>
            </a:r>
            <a:endParaRPr kumimoji="1" lang="zh-TW" altLang="en-US" dirty="0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3D5BB0-1216-8E48-A837-0CCFD9BD7164}" type="slidenum">
              <a:rPr kumimoji="1" lang="zh-TW" altLang="en-US" smtClean="0"/>
              <a:t>‹#›</a:t>
            </a:fld>
            <a:endParaRPr kumimoji="1" lang="zh-TW" altLang="en-US"/>
          </a:p>
        </p:txBody>
      </p:sp>
      <p:sp>
        <p:nvSpPr>
          <p:cNvPr id="7" name="矩形 6"/>
          <p:cNvSpPr>
            <a:spLocks noChangeArrowheads="1"/>
          </p:cNvSpPr>
          <p:nvPr userDrawn="1"/>
        </p:nvSpPr>
        <p:spPr bwMode="auto">
          <a:xfrm>
            <a:off x="0" y="322924"/>
            <a:ext cx="503238" cy="323850"/>
          </a:xfrm>
          <a:prstGeom prst="rect">
            <a:avLst/>
          </a:prstGeom>
          <a:solidFill>
            <a:srgbClr val="FF6600"/>
          </a:solidFill>
          <a:ln>
            <a:noFill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zh-TW" altLang="en-US" dirty="0">
              <a:solidFill>
                <a:prstClr val="white"/>
              </a:solidFill>
              <a:latin typeface="+mn-lt"/>
              <a:ea typeface="黑体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282379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、副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04812" y="138151"/>
            <a:ext cx="8006387" cy="693397"/>
          </a:xfrm>
        </p:spPr>
        <p:txBody>
          <a:bodyPr>
            <a:normAutofit/>
          </a:bodyPr>
          <a:lstStyle>
            <a:lvl1pPr algn="l">
              <a:defRPr sz="2400">
                <a:solidFill>
                  <a:srgbClr val="7F7F7F"/>
                </a:solidFill>
              </a:defRPr>
            </a:lvl1pPr>
          </a:lstStyle>
          <a:p>
            <a:r>
              <a:rPr kumimoji="1" lang="zh-TW" altLang="en-US"/>
              <a:t>按一下以編輯母片標題樣式</a:t>
            </a:r>
            <a:endParaRPr kumimoji="1"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57200" y="1040482"/>
            <a:ext cx="8229600" cy="4064654"/>
          </a:xfrm>
        </p:spPr>
        <p:txBody>
          <a:bodyPr/>
          <a:lstStyle>
            <a:lvl1pPr>
              <a:defRPr>
                <a:solidFill>
                  <a:srgbClr val="7F7F7F"/>
                </a:solidFill>
              </a:defRPr>
            </a:lvl1pPr>
            <a:lvl2pPr>
              <a:defRPr>
                <a:solidFill>
                  <a:srgbClr val="7F7F7F"/>
                </a:solidFill>
              </a:defRPr>
            </a:lvl2pPr>
            <a:lvl3pPr>
              <a:defRPr>
                <a:solidFill>
                  <a:srgbClr val="7F7F7F"/>
                </a:solidFill>
              </a:defRPr>
            </a:lvl3pPr>
            <a:lvl4pPr>
              <a:defRPr>
                <a:solidFill>
                  <a:srgbClr val="7F7F7F"/>
                </a:solidFill>
              </a:defRPr>
            </a:lvl4pPr>
            <a:lvl5pPr>
              <a:defRPr>
                <a:solidFill>
                  <a:srgbClr val="7F7F7F"/>
                </a:solidFill>
              </a:defRPr>
            </a:lvl5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7BDE2-4401-E347-B894-96E96B98C55C}" type="datetimeFigureOut">
              <a:rPr kumimoji="1" lang="zh-TW" altLang="en-US" smtClean="0"/>
              <a:t>2026/1/14</a:t>
            </a:fld>
            <a:endParaRPr kumimoji="1"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kumimoji="1" lang="en-US" altLang="zh-TW" dirty="0"/>
              <a:t>CTRDC</a:t>
            </a:r>
            <a:endParaRPr kumimoji="1" lang="zh-TW" altLang="en-US" dirty="0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3D5BB0-1216-8E48-A837-0CCFD9BD7164}" type="slidenum">
              <a:rPr kumimoji="1" lang="zh-TW" altLang="en-US" smtClean="0"/>
              <a:t>‹#›</a:t>
            </a:fld>
            <a:endParaRPr kumimoji="1" lang="zh-TW" altLang="en-US"/>
          </a:p>
        </p:txBody>
      </p:sp>
      <p:sp>
        <p:nvSpPr>
          <p:cNvPr id="7" name="矩形 6"/>
          <p:cNvSpPr>
            <a:spLocks noChangeArrowheads="1"/>
          </p:cNvSpPr>
          <p:nvPr userDrawn="1"/>
        </p:nvSpPr>
        <p:spPr bwMode="auto">
          <a:xfrm>
            <a:off x="0" y="322924"/>
            <a:ext cx="503238" cy="323850"/>
          </a:xfrm>
          <a:prstGeom prst="rect">
            <a:avLst/>
          </a:prstGeom>
          <a:solidFill>
            <a:srgbClr val="FF6600"/>
          </a:solidFill>
          <a:ln>
            <a:noFill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zh-TW" altLang="en-US" dirty="0">
              <a:solidFill>
                <a:prstClr val="white"/>
              </a:solidFill>
              <a:latin typeface="+mn-lt"/>
              <a:ea typeface="黑体"/>
              <a:cs typeface="+mn-cs"/>
            </a:endParaRPr>
          </a:p>
        </p:txBody>
      </p:sp>
      <p:sp>
        <p:nvSpPr>
          <p:cNvPr id="17" name="文字版面配置區 13"/>
          <p:cNvSpPr>
            <a:spLocks noGrp="1"/>
          </p:cNvSpPr>
          <p:nvPr>
            <p:ph type="body" sz="quarter" idx="13" hasCustomPrompt="1"/>
          </p:nvPr>
        </p:nvSpPr>
        <p:spPr>
          <a:xfrm>
            <a:off x="604812" y="723686"/>
            <a:ext cx="8006387" cy="333463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zh-TW" altLang="en-US" dirty="0"/>
              <a:t>按一下以編輯母片副標題樣式</a:t>
            </a:r>
          </a:p>
        </p:txBody>
      </p:sp>
    </p:spTree>
    <p:extLst>
      <p:ext uri="{BB962C8B-B14F-4D97-AF65-F5344CB8AC3E}">
        <p14:creationId xmlns:p14="http://schemas.microsoft.com/office/powerpoint/2010/main" val="22821075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、副標題及物件(No Bulle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04812" y="138151"/>
            <a:ext cx="8006387" cy="693397"/>
          </a:xfrm>
        </p:spPr>
        <p:txBody>
          <a:bodyPr>
            <a:normAutofit/>
          </a:bodyPr>
          <a:lstStyle>
            <a:lvl1pPr algn="l">
              <a:defRPr sz="2400">
                <a:solidFill>
                  <a:srgbClr val="7F7F7F"/>
                </a:solidFill>
              </a:defRPr>
            </a:lvl1pPr>
          </a:lstStyle>
          <a:p>
            <a:r>
              <a:rPr kumimoji="1" lang="zh-TW" altLang="en-US"/>
              <a:t>按一下以編輯母片標題樣式</a:t>
            </a:r>
            <a:endParaRPr kumimoji="1"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57200" y="1040482"/>
            <a:ext cx="8229600" cy="4064654"/>
          </a:xfrm>
          <a:effectLst/>
        </p:spPr>
        <p:txBody>
          <a:bodyPr lIns="447040"/>
          <a:lstStyle>
            <a:lvl1pPr marL="0" indent="0">
              <a:buFontTx/>
              <a:buNone/>
              <a:defRPr>
                <a:solidFill>
                  <a:srgbClr val="7F7F7F"/>
                </a:solidFill>
              </a:defRPr>
            </a:lvl1pPr>
            <a:lvl2pPr marL="457200" indent="0">
              <a:buFontTx/>
              <a:buNone/>
              <a:defRPr>
                <a:solidFill>
                  <a:srgbClr val="7F7F7F"/>
                </a:solidFill>
              </a:defRPr>
            </a:lvl2pPr>
            <a:lvl3pPr marL="914400" indent="0">
              <a:buFontTx/>
              <a:buNone/>
              <a:defRPr>
                <a:solidFill>
                  <a:srgbClr val="7F7F7F"/>
                </a:solidFill>
              </a:defRPr>
            </a:lvl3pPr>
            <a:lvl4pPr marL="1371600" indent="0">
              <a:buFontTx/>
              <a:buNone/>
              <a:defRPr>
                <a:solidFill>
                  <a:srgbClr val="7F7F7F"/>
                </a:solidFill>
              </a:defRPr>
            </a:lvl4pPr>
            <a:lvl5pPr marL="1828800" indent="0">
              <a:buFontTx/>
              <a:buNone/>
              <a:defRPr>
                <a:solidFill>
                  <a:srgbClr val="7F7F7F"/>
                </a:solidFill>
              </a:defRPr>
            </a:lvl5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7BDE2-4401-E347-B894-96E96B98C55C}" type="datetimeFigureOut">
              <a:rPr kumimoji="1" lang="zh-TW" altLang="en-US" smtClean="0"/>
              <a:t>2026/1/14</a:t>
            </a:fld>
            <a:endParaRPr kumimoji="1"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kumimoji="1" lang="en-US" altLang="zh-TW" dirty="0"/>
              <a:t>CTRDC</a:t>
            </a:r>
            <a:endParaRPr kumimoji="1" lang="zh-TW" altLang="en-US" dirty="0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3D5BB0-1216-8E48-A837-0CCFD9BD7164}" type="slidenum">
              <a:rPr kumimoji="1" lang="zh-TW" altLang="en-US" smtClean="0"/>
              <a:t>‹#›</a:t>
            </a:fld>
            <a:endParaRPr kumimoji="1" lang="zh-TW" altLang="en-US"/>
          </a:p>
        </p:txBody>
      </p:sp>
      <p:sp>
        <p:nvSpPr>
          <p:cNvPr id="7" name="矩形 6"/>
          <p:cNvSpPr>
            <a:spLocks noChangeArrowheads="1"/>
          </p:cNvSpPr>
          <p:nvPr userDrawn="1"/>
        </p:nvSpPr>
        <p:spPr bwMode="auto">
          <a:xfrm>
            <a:off x="0" y="322924"/>
            <a:ext cx="503238" cy="323850"/>
          </a:xfrm>
          <a:prstGeom prst="rect">
            <a:avLst/>
          </a:prstGeom>
          <a:solidFill>
            <a:srgbClr val="FF6600"/>
          </a:solidFill>
          <a:ln>
            <a:noFill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zh-TW" altLang="en-US" dirty="0">
              <a:solidFill>
                <a:prstClr val="white"/>
              </a:solidFill>
              <a:latin typeface="+mn-lt"/>
              <a:ea typeface="黑体"/>
              <a:cs typeface="+mn-cs"/>
            </a:endParaRPr>
          </a:p>
        </p:txBody>
      </p:sp>
      <p:sp>
        <p:nvSpPr>
          <p:cNvPr id="17" name="文字版面配置區 13"/>
          <p:cNvSpPr>
            <a:spLocks noGrp="1"/>
          </p:cNvSpPr>
          <p:nvPr>
            <p:ph type="body" sz="quarter" idx="13" hasCustomPrompt="1"/>
          </p:nvPr>
        </p:nvSpPr>
        <p:spPr>
          <a:xfrm>
            <a:off x="604812" y="723686"/>
            <a:ext cx="8006387" cy="333463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zh-TW" altLang="en-US" dirty="0"/>
              <a:t>按一下以編輯母片副標題樣式</a:t>
            </a:r>
          </a:p>
        </p:txBody>
      </p:sp>
    </p:spTree>
    <p:extLst>
      <p:ext uri="{BB962C8B-B14F-4D97-AF65-F5344CB8AC3E}">
        <p14:creationId xmlns:p14="http://schemas.microsoft.com/office/powerpoint/2010/main" val="39263902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、副標題及物件(Dark Gray)">
    <p:bg>
      <p:bgPr>
        <a:solidFill>
          <a:schemeClr val="tx1">
            <a:lumMod val="65000"/>
            <a:lumOff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04812" y="138151"/>
            <a:ext cx="8006387" cy="693397"/>
          </a:xfrm>
          <a:effectLst>
            <a:outerShdw blurRad="101600" dist="63500" dir="2700000" algn="tl" rotWithShape="0">
              <a:srgbClr val="000000">
                <a:alpha val="43000"/>
              </a:srgbClr>
            </a:outerShdw>
          </a:effectLst>
        </p:spPr>
        <p:txBody>
          <a:bodyPr>
            <a:normAutofit/>
          </a:bodyPr>
          <a:lstStyle>
            <a:lvl1pPr algn="l">
              <a:defRPr sz="2400">
                <a:solidFill>
                  <a:schemeClr val="bg1"/>
                </a:solidFill>
              </a:defRPr>
            </a:lvl1pPr>
          </a:lstStyle>
          <a:p>
            <a:r>
              <a:rPr kumimoji="1" lang="zh-TW" altLang="en-US"/>
              <a:t>按一下以編輯母片標題樣式</a:t>
            </a:r>
            <a:endParaRPr kumimoji="1"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57200" y="1040482"/>
            <a:ext cx="8229600" cy="4064654"/>
          </a:xfrm>
        </p:spPr>
        <p:txBody>
          <a:bodyPr/>
          <a:lstStyle>
            <a:lvl1pPr>
              <a:buClr>
                <a:srgbClr val="FF7A00"/>
              </a:buClr>
              <a:defRPr>
                <a:solidFill>
                  <a:schemeClr val="bg1"/>
                </a:solidFill>
              </a:defRPr>
            </a:lvl1pPr>
            <a:lvl2pPr>
              <a:buClr>
                <a:srgbClr val="FF7A00"/>
              </a:buClr>
              <a:defRPr>
                <a:solidFill>
                  <a:schemeClr val="bg1"/>
                </a:solidFill>
              </a:defRPr>
            </a:lvl2pPr>
            <a:lvl3pPr>
              <a:buClr>
                <a:srgbClr val="FF7A00"/>
              </a:buClr>
              <a:defRPr>
                <a:solidFill>
                  <a:schemeClr val="bg1"/>
                </a:solidFill>
              </a:defRPr>
            </a:lvl3pPr>
            <a:lvl4pPr>
              <a:buClr>
                <a:srgbClr val="FF7A00"/>
              </a:buClr>
              <a:defRPr>
                <a:solidFill>
                  <a:schemeClr val="bg1"/>
                </a:solidFill>
              </a:defRPr>
            </a:lvl4pPr>
            <a:lvl5pPr>
              <a:buClr>
                <a:srgbClr val="FF7A00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7BDE2-4401-E347-B894-96E96B98C55C}" type="datetimeFigureOut">
              <a:rPr kumimoji="1" lang="zh-TW" altLang="en-US" smtClean="0"/>
              <a:t>2026/1/14</a:t>
            </a:fld>
            <a:endParaRPr kumimoji="1"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kumimoji="1" lang="en-US" altLang="zh-TW" dirty="0"/>
              <a:t>CTRDC</a:t>
            </a:r>
            <a:endParaRPr kumimoji="1" lang="zh-TW" altLang="en-US" dirty="0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3D5BB0-1216-8E48-A837-0CCFD9BD7164}" type="slidenum">
              <a:rPr kumimoji="1" lang="zh-TW" altLang="en-US" smtClean="0"/>
              <a:t>‹#›</a:t>
            </a:fld>
            <a:endParaRPr kumimoji="1" lang="zh-TW" altLang="en-US"/>
          </a:p>
        </p:txBody>
      </p:sp>
      <p:sp>
        <p:nvSpPr>
          <p:cNvPr id="7" name="矩形 6"/>
          <p:cNvSpPr>
            <a:spLocks noChangeArrowheads="1"/>
          </p:cNvSpPr>
          <p:nvPr userDrawn="1"/>
        </p:nvSpPr>
        <p:spPr bwMode="auto">
          <a:xfrm>
            <a:off x="0" y="322924"/>
            <a:ext cx="503238" cy="323850"/>
          </a:xfrm>
          <a:prstGeom prst="rect">
            <a:avLst/>
          </a:prstGeom>
          <a:solidFill>
            <a:srgbClr val="FF6600"/>
          </a:solidFill>
          <a:ln>
            <a:noFill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zh-TW" altLang="en-US" dirty="0">
              <a:solidFill>
                <a:prstClr val="white"/>
              </a:solidFill>
              <a:latin typeface="+mn-lt"/>
              <a:ea typeface="黑体"/>
              <a:cs typeface="+mn-cs"/>
            </a:endParaRPr>
          </a:p>
        </p:txBody>
      </p:sp>
      <p:sp>
        <p:nvSpPr>
          <p:cNvPr id="17" name="文字版面配置區 13"/>
          <p:cNvSpPr>
            <a:spLocks noGrp="1"/>
          </p:cNvSpPr>
          <p:nvPr>
            <p:ph type="body" sz="quarter" idx="13" hasCustomPrompt="1"/>
          </p:nvPr>
        </p:nvSpPr>
        <p:spPr>
          <a:xfrm>
            <a:off x="604812" y="723686"/>
            <a:ext cx="8006387" cy="333463"/>
          </a:xfrm>
          <a:effectLst>
            <a:outerShdw blurRad="101600" dist="63500" dir="2700000" algn="tl" rotWithShape="0">
              <a:srgbClr val="000000">
                <a:alpha val="43000"/>
              </a:srgbClr>
            </a:outerShdw>
          </a:effectLst>
        </p:spPr>
        <p:txBody>
          <a:bodyPr>
            <a:noAutofit/>
          </a:bodyPr>
          <a:lstStyle>
            <a:lvl1pPr marL="0" indent="0">
              <a:buFontTx/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zh-TW" altLang="en-US" dirty="0"/>
              <a:t>按一下以編輯母片副標題樣式</a:t>
            </a:r>
          </a:p>
        </p:txBody>
      </p:sp>
    </p:spTree>
    <p:extLst>
      <p:ext uri="{BB962C8B-B14F-4D97-AF65-F5344CB8AC3E}">
        <p14:creationId xmlns:p14="http://schemas.microsoft.com/office/powerpoint/2010/main" val="21534168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、副標題及物件(Dark Gray, No Bullet)">
    <p:bg>
      <p:bgPr>
        <a:solidFill>
          <a:schemeClr val="tx1">
            <a:lumMod val="65000"/>
            <a:lumOff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04812" y="138151"/>
            <a:ext cx="8006387" cy="693397"/>
          </a:xfrm>
          <a:effectLst>
            <a:outerShdw blurRad="101600" dist="63500" dir="2700000" algn="tl" rotWithShape="0">
              <a:srgbClr val="000000">
                <a:alpha val="43000"/>
              </a:srgbClr>
            </a:outerShdw>
          </a:effectLst>
        </p:spPr>
        <p:txBody>
          <a:bodyPr>
            <a:normAutofit/>
          </a:bodyPr>
          <a:lstStyle>
            <a:lvl1pPr algn="l">
              <a:defRPr sz="2400">
                <a:solidFill>
                  <a:schemeClr val="bg1"/>
                </a:solidFill>
              </a:defRPr>
            </a:lvl1pPr>
          </a:lstStyle>
          <a:p>
            <a:r>
              <a:rPr kumimoji="1" lang="zh-TW" altLang="en-US"/>
              <a:t>按一下以編輯母片標題樣式</a:t>
            </a:r>
            <a:endParaRPr kumimoji="1"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57200" y="1040482"/>
            <a:ext cx="8229600" cy="4064654"/>
          </a:xfrm>
        </p:spPr>
        <p:txBody>
          <a:bodyPr lIns="447040"/>
          <a:lstStyle>
            <a:lvl1pPr marL="0" indent="0">
              <a:buClr>
                <a:srgbClr val="FF7A00"/>
              </a:buClr>
              <a:buFontTx/>
              <a:buNone/>
              <a:defRPr>
                <a:solidFill>
                  <a:schemeClr val="bg1"/>
                </a:solidFill>
              </a:defRPr>
            </a:lvl1pPr>
            <a:lvl2pPr marL="457200" indent="0">
              <a:buClr>
                <a:srgbClr val="FF7A00"/>
              </a:buClr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Clr>
                <a:srgbClr val="FF7A00"/>
              </a:buClr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Clr>
                <a:srgbClr val="FF7A00"/>
              </a:buClr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Clr>
                <a:srgbClr val="FF7A00"/>
              </a:buClr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7BDE2-4401-E347-B894-96E96B98C55C}" type="datetimeFigureOut">
              <a:rPr kumimoji="1" lang="zh-TW" altLang="en-US" smtClean="0"/>
              <a:t>2026/1/14</a:t>
            </a:fld>
            <a:endParaRPr kumimoji="1"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kumimoji="1" lang="en-US" altLang="zh-TW" dirty="0"/>
              <a:t>CTRDC</a:t>
            </a:r>
            <a:endParaRPr kumimoji="1" lang="zh-TW" altLang="en-US" dirty="0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3D5BB0-1216-8E48-A837-0CCFD9BD7164}" type="slidenum">
              <a:rPr kumimoji="1" lang="zh-TW" altLang="en-US" smtClean="0"/>
              <a:t>‹#›</a:t>
            </a:fld>
            <a:endParaRPr kumimoji="1" lang="zh-TW" altLang="en-US"/>
          </a:p>
        </p:txBody>
      </p:sp>
      <p:sp>
        <p:nvSpPr>
          <p:cNvPr id="7" name="矩形 6"/>
          <p:cNvSpPr>
            <a:spLocks noChangeArrowheads="1"/>
          </p:cNvSpPr>
          <p:nvPr userDrawn="1"/>
        </p:nvSpPr>
        <p:spPr bwMode="auto">
          <a:xfrm>
            <a:off x="0" y="322924"/>
            <a:ext cx="503238" cy="323850"/>
          </a:xfrm>
          <a:prstGeom prst="rect">
            <a:avLst/>
          </a:prstGeom>
          <a:solidFill>
            <a:srgbClr val="FF6600"/>
          </a:solidFill>
          <a:ln>
            <a:noFill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zh-TW" altLang="en-US" dirty="0">
              <a:solidFill>
                <a:prstClr val="white"/>
              </a:solidFill>
              <a:latin typeface="+mn-lt"/>
              <a:ea typeface="黑体"/>
              <a:cs typeface="+mn-cs"/>
            </a:endParaRPr>
          </a:p>
        </p:txBody>
      </p:sp>
      <p:sp>
        <p:nvSpPr>
          <p:cNvPr id="17" name="文字版面配置區 13"/>
          <p:cNvSpPr>
            <a:spLocks noGrp="1"/>
          </p:cNvSpPr>
          <p:nvPr>
            <p:ph type="body" sz="quarter" idx="13" hasCustomPrompt="1"/>
          </p:nvPr>
        </p:nvSpPr>
        <p:spPr>
          <a:xfrm>
            <a:off x="604812" y="723686"/>
            <a:ext cx="8006387" cy="333463"/>
          </a:xfrm>
          <a:effectLst>
            <a:outerShdw blurRad="101600" dist="63500" dir="2700000" algn="tl" rotWithShape="0">
              <a:srgbClr val="000000">
                <a:alpha val="43000"/>
              </a:srgbClr>
            </a:outerShdw>
          </a:effectLst>
        </p:spPr>
        <p:txBody>
          <a:bodyPr>
            <a:noAutofit/>
          </a:bodyPr>
          <a:lstStyle>
            <a:lvl1pPr marL="0" indent="0">
              <a:buFontTx/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zh-TW" altLang="en-US" dirty="0"/>
              <a:t>按一下以編輯母片副標題樣式</a:t>
            </a:r>
          </a:p>
        </p:txBody>
      </p:sp>
    </p:spTree>
    <p:extLst>
      <p:ext uri="{BB962C8B-B14F-4D97-AF65-F5344CB8AC3E}">
        <p14:creationId xmlns:p14="http://schemas.microsoft.com/office/powerpoint/2010/main" val="15631113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區段標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3613750" y="1766962"/>
            <a:ext cx="5397947" cy="676201"/>
          </a:xfrm>
        </p:spPr>
        <p:txBody>
          <a:bodyPr anchor="t"/>
          <a:lstStyle>
            <a:lvl1pPr algn="l">
              <a:defRPr sz="4000" b="0" cap="none" baseline="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kumimoji="1" lang="zh-TW" altLang="en-US"/>
              <a:t>按一下以編輯母片標題樣式</a:t>
            </a:r>
            <a:endParaRPr kumimoji="1" lang="zh-TW" altLang="en-US" dirty="0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7BDE2-4401-E347-B894-96E96B98C55C}" type="datetimeFigureOut">
              <a:rPr kumimoji="1" lang="zh-TW" altLang="en-US" smtClean="0"/>
              <a:t>2026/1/14</a:t>
            </a:fld>
            <a:endParaRPr kumimoji="1"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kumimoji="1" lang="en-US" altLang="zh-TW" dirty="0"/>
              <a:t>CTRDC</a:t>
            </a:r>
            <a:endParaRPr kumimoji="1" lang="zh-TW" altLang="en-US" dirty="0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3D5BB0-1216-8E48-A837-0CCFD9BD7164}" type="slidenum">
              <a:rPr kumimoji="1" lang="zh-TW" altLang="en-US" smtClean="0"/>
              <a:t>‹#›</a:t>
            </a:fld>
            <a:endParaRPr kumimoji="1" lang="zh-TW" altLang="en-US"/>
          </a:p>
        </p:txBody>
      </p:sp>
      <p:sp>
        <p:nvSpPr>
          <p:cNvPr id="7" name="矩形 6"/>
          <p:cNvSpPr>
            <a:spLocks noChangeArrowheads="1"/>
          </p:cNvSpPr>
          <p:nvPr userDrawn="1"/>
        </p:nvSpPr>
        <p:spPr bwMode="auto">
          <a:xfrm rot="5400000">
            <a:off x="1409700" y="358019"/>
            <a:ext cx="674688" cy="3494088"/>
          </a:xfrm>
          <a:prstGeom prst="rect">
            <a:avLst/>
          </a:prstGeom>
          <a:solidFill>
            <a:srgbClr val="FF6600"/>
          </a:solidFill>
          <a:ln>
            <a:noFill/>
          </a:ln>
          <a:effectLst>
            <a:outerShdw blurRad="50800" dist="38100" dir="2700000" algn="tl" rotWithShape="0">
              <a:srgbClr val="000000">
                <a:alpha val="39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zh-TW" altLang="en-US" dirty="0">
              <a:solidFill>
                <a:schemeClr val="lt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+mn-lt"/>
              <a:ea typeface="黑体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4748923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57200" y="1029138"/>
            <a:ext cx="4038600" cy="32253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8200" y="1029138"/>
            <a:ext cx="4038600" cy="32253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7BDE2-4401-E347-B894-96E96B98C55C}" type="datetimeFigureOut">
              <a:rPr kumimoji="1" lang="zh-TW" altLang="en-US" smtClean="0"/>
              <a:t>2026/1/14</a:t>
            </a:fld>
            <a:endParaRPr kumimoji="1"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kumimoji="1" lang="en-US" altLang="zh-TW" dirty="0"/>
              <a:t>CTRDC</a:t>
            </a:r>
            <a:endParaRPr kumimoji="1" lang="zh-TW" altLang="en-US" dirty="0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3D5BB0-1216-8E48-A837-0CCFD9BD7164}" type="slidenum">
              <a:rPr kumimoji="1" lang="zh-TW" altLang="en-US" smtClean="0"/>
              <a:t>‹#›</a:t>
            </a:fld>
            <a:endParaRPr kumimoji="1" lang="zh-TW" altLang="en-US"/>
          </a:p>
        </p:txBody>
      </p:sp>
      <p:sp>
        <p:nvSpPr>
          <p:cNvPr id="8" name="標題 1"/>
          <p:cNvSpPr>
            <a:spLocks noGrp="1"/>
          </p:cNvSpPr>
          <p:nvPr>
            <p:ph type="title"/>
          </p:nvPr>
        </p:nvSpPr>
        <p:spPr>
          <a:xfrm>
            <a:off x="604812" y="138151"/>
            <a:ext cx="8006387" cy="693397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kumimoji="1" lang="zh-TW" altLang="en-US"/>
              <a:t>按一下以編輯母片標題樣式</a:t>
            </a:r>
            <a:endParaRPr kumimoji="1" lang="zh-TW" altLang="en-US" dirty="0"/>
          </a:p>
        </p:txBody>
      </p:sp>
      <p:sp>
        <p:nvSpPr>
          <p:cNvPr id="9" name="矩形 8"/>
          <p:cNvSpPr>
            <a:spLocks noChangeArrowheads="1"/>
          </p:cNvSpPr>
          <p:nvPr userDrawn="1"/>
        </p:nvSpPr>
        <p:spPr bwMode="auto">
          <a:xfrm>
            <a:off x="0" y="322924"/>
            <a:ext cx="503238" cy="323850"/>
          </a:xfrm>
          <a:prstGeom prst="rect">
            <a:avLst/>
          </a:prstGeom>
          <a:solidFill>
            <a:srgbClr val="FF6600"/>
          </a:solidFill>
          <a:ln>
            <a:noFill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zh-TW" altLang="en-US" dirty="0">
              <a:solidFill>
                <a:prstClr val="white"/>
              </a:solidFill>
              <a:latin typeface="+mn-lt"/>
              <a:ea typeface="黑体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0519419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029138"/>
            <a:ext cx="4040188" cy="53313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1562273"/>
            <a:ext cx="4040188" cy="354286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6" y="1029138"/>
            <a:ext cx="4041775" cy="53313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6" y="1562273"/>
            <a:ext cx="4041775" cy="354286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7BDE2-4401-E347-B894-96E96B98C55C}" type="datetimeFigureOut">
              <a:rPr kumimoji="1" lang="zh-TW" altLang="en-US" smtClean="0"/>
              <a:t>2026/1/14</a:t>
            </a:fld>
            <a:endParaRPr kumimoji="1"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kumimoji="1" lang="en-US" altLang="zh-TW" dirty="0"/>
              <a:t>CTRDC</a:t>
            </a:r>
            <a:endParaRPr kumimoji="1" lang="zh-TW" altLang="en-US" dirty="0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3D5BB0-1216-8E48-A837-0CCFD9BD7164}" type="slidenum">
              <a:rPr kumimoji="1" lang="zh-TW" altLang="en-US" smtClean="0"/>
              <a:t>‹#›</a:t>
            </a:fld>
            <a:endParaRPr kumimoji="1" lang="zh-TW" altLang="en-US"/>
          </a:p>
        </p:txBody>
      </p:sp>
      <p:sp>
        <p:nvSpPr>
          <p:cNvPr id="10" name="標題 1"/>
          <p:cNvSpPr>
            <a:spLocks noGrp="1"/>
          </p:cNvSpPr>
          <p:nvPr>
            <p:ph type="title"/>
          </p:nvPr>
        </p:nvSpPr>
        <p:spPr>
          <a:xfrm>
            <a:off x="604812" y="138151"/>
            <a:ext cx="8006387" cy="693397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kumimoji="1" lang="zh-TW" altLang="en-US"/>
              <a:t>按一下以編輯母片標題樣式</a:t>
            </a:r>
            <a:endParaRPr kumimoji="1" lang="zh-TW" altLang="en-US" dirty="0"/>
          </a:p>
        </p:txBody>
      </p:sp>
      <p:sp>
        <p:nvSpPr>
          <p:cNvPr id="11" name="矩形 10"/>
          <p:cNvSpPr>
            <a:spLocks noChangeArrowheads="1"/>
          </p:cNvSpPr>
          <p:nvPr userDrawn="1"/>
        </p:nvSpPr>
        <p:spPr bwMode="auto">
          <a:xfrm>
            <a:off x="0" y="322924"/>
            <a:ext cx="503238" cy="323850"/>
          </a:xfrm>
          <a:prstGeom prst="rect">
            <a:avLst/>
          </a:prstGeom>
          <a:solidFill>
            <a:srgbClr val="FF6600"/>
          </a:solidFill>
          <a:ln>
            <a:noFill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zh-TW" altLang="en-US" dirty="0">
              <a:solidFill>
                <a:prstClr val="white"/>
              </a:solidFill>
              <a:latin typeface="+mn-lt"/>
              <a:ea typeface="黑体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8696802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7BDE2-4401-E347-B894-96E96B98C55C}" type="datetimeFigureOut">
              <a:rPr kumimoji="1" lang="zh-TW" altLang="en-US" smtClean="0"/>
              <a:t>2026/1/14</a:t>
            </a:fld>
            <a:endParaRPr kumimoji="1"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kumimoji="1" lang="en-US" altLang="zh-TW" dirty="0"/>
              <a:t>CTRDC</a:t>
            </a:r>
            <a:endParaRPr kumimoji="1" lang="zh-TW" altLang="en-US" dirty="0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3D5BB0-1216-8E48-A837-0CCFD9BD7164}" type="slidenum">
              <a:rPr kumimoji="1" lang="zh-TW" altLang="en-US" smtClean="0"/>
              <a:t>‹#›</a:t>
            </a:fld>
            <a:endParaRPr kumimoji="1" lang="zh-TW" altLang="en-US"/>
          </a:p>
        </p:txBody>
      </p:sp>
      <p:sp>
        <p:nvSpPr>
          <p:cNvPr id="6" name="標題 1"/>
          <p:cNvSpPr>
            <a:spLocks noGrp="1"/>
          </p:cNvSpPr>
          <p:nvPr>
            <p:ph type="title"/>
          </p:nvPr>
        </p:nvSpPr>
        <p:spPr>
          <a:xfrm>
            <a:off x="604812" y="138151"/>
            <a:ext cx="8006387" cy="693397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kumimoji="1" lang="zh-TW" altLang="en-US"/>
              <a:t>按一下以編輯母片標題樣式</a:t>
            </a:r>
            <a:endParaRPr kumimoji="1" lang="zh-TW" altLang="en-US" dirty="0"/>
          </a:p>
        </p:txBody>
      </p:sp>
      <p:sp>
        <p:nvSpPr>
          <p:cNvPr id="7" name="矩形 6"/>
          <p:cNvSpPr>
            <a:spLocks noChangeArrowheads="1"/>
          </p:cNvSpPr>
          <p:nvPr userDrawn="1"/>
        </p:nvSpPr>
        <p:spPr bwMode="auto">
          <a:xfrm>
            <a:off x="0" y="322924"/>
            <a:ext cx="503238" cy="323850"/>
          </a:xfrm>
          <a:prstGeom prst="rect">
            <a:avLst/>
          </a:prstGeom>
          <a:solidFill>
            <a:srgbClr val="FF6600"/>
          </a:solidFill>
          <a:ln>
            <a:noFill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zh-TW" altLang="en-US" dirty="0">
              <a:solidFill>
                <a:prstClr val="white"/>
              </a:solidFill>
              <a:latin typeface="+mn-lt"/>
              <a:ea typeface="黑体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41475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只有標題(Dark Gray)">
    <p:bg>
      <p:bgPr>
        <a:solidFill>
          <a:schemeClr val="tx1">
            <a:lumMod val="65000"/>
            <a:lumOff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7BDE2-4401-E347-B894-96E96B98C55C}" type="datetimeFigureOut">
              <a:rPr kumimoji="1" lang="zh-TW" altLang="en-US" smtClean="0"/>
              <a:t>2026/1/14</a:t>
            </a:fld>
            <a:endParaRPr kumimoji="1"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kumimoji="1" lang="en-US" altLang="zh-TW" dirty="0"/>
              <a:t>CTRDC</a:t>
            </a:r>
            <a:endParaRPr kumimoji="1" lang="zh-TW" altLang="en-US" dirty="0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3D5BB0-1216-8E48-A837-0CCFD9BD7164}" type="slidenum">
              <a:rPr kumimoji="1" lang="zh-TW" altLang="en-US" smtClean="0"/>
              <a:t>‹#›</a:t>
            </a:fld>
            <a:endParaRPr kumimoji="1" lang="zh-TW" altLang="en-US"/>
          </a:p>
        </p:txBody>
      </p:sp>
      <p:sp>
        <p:nvSpPr>
          <p:cNvPr id="6" name="標題 1"/>
          <p:cNvSpPr>
            <a:spLocks noGrp="1"/>
          </p:cNvSpPr>
          <p:nvPr>
            <p:ph type="title"/>
          </p:nvPr>
        </p:nvSpPr>
        <p:spPr>
          <a:xfrm>
            <a:off x="604812" y="138151"/>
            <a:ext cx="8006387" cy="693397"/>
          </a:xfrm>
          <a:effectLst>
            <a:outerShdw blurRad="101600" dist="63500" dir="2700000" algn="tl" rotWithShape="0">
              <a:srgbClr val="000000">
                <a:alpha val="43000"/>
              </a:srgbClr>
            </a:outerShdw>
          </a:effectLst>
        </p:spPr>
        <p:txBody>
          <a:bodyPr>
            <a:normAutofit/>
          </a:bodyPr>
          <a:lstStyle>
            <a:lvl1pPr algn="l">
              <a:defRPr sz="2400">
                <a:solidFill>
                  <a:srgbClr val="FFFFFF"/>
                </a:solidFill>
              </a:defRPr>
            </a:lvl1pPr>
          </a:lstStyle>
          <a:p>
            <a:r>
              <a:rPr kumimoji="1" lang="zh-TW" altLang="en-US"/>
              <a:t>按一下以編輯母片標題樣式</a:t>
            </a:r>
            <a:endParaRPr kumimoji="1" lang="zh-TW" altLang="en-US" dirty="0"/>
          </a:p>
        </p:txBody>
      </p:sp>
      <p:sp>
        <p:nvSpPr>
          <p:cNvPr id="7" name="矩形 6"/>
          <p:cNvSpPr>
            <a:spLocks noChangeArrowheads="1"/>
          </p:cNvSpPr>
          <p:nvPr userDrawn="1"/>
        </p:nvSpPr>
        <p:spPr bwMode="auto">
          <a:xfrm>
            <a:off x="0" y="322924"/>
            <a:ext cx="503238" cy="323850"/>
          </a:xfrm>
          <a:prstGeom prst="rect">
            <a:avLst/>
          </a:prstGeom>
          <a:solidFill>
            <a:srgbClr val="FF6600"/>
          </a:solidFill>
          <a:ln>
            <a:noFill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zh-TW" altLang="en-US" dirty="0">
              <a:solidFill>
                <a:prstClr val="white"/>
              </a:solidFill>
              <a:latin typeface="+mn-lt"/>
              <a:ea typeface="黑体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619841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只有標題與副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7BDE2-4401-E347-B894-96E96B98C55C}" type="datetimeFigureOut">
              <a:rPr kumimoji="1" lang="zh-TW" altLang="en-US" smtClean="0"/>
              <a:t>2026/1/14</a:t>
            </a:fld>
            <a:endParaRPr kumimoji="1"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kumimoji="1" lang="en-US" altLang="zh-TW" dirty="0"/>
              <a:t>CTRDC</a:t>
            </a:r>
            <a:endParaRPr kumimoji="1" lang="zh-TW" altLang="en-US" dirty="0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3D5BB0-1216-8E48-A837-0CCFD9BD7164}" type="slidenum">
              <a:rPr kumimoji="1" lang="zh-TW" altLang="en-US" smtClean="0"/>
              <a:t>‹#›</a:t>
            </a:fld>
            <a:endParaRPr kumimoji="1" lang="zh-TW" altLang="en-US"/>
          </a:p>
        </p:txBody>
      </p:sp>
      <p:sp>
        <p:nvSpPr>
          <p:cNvPr id="6" name="標題 1"/>
          <p:cNvSpPr>
            <a:spLocks noGrp="1"/>
          </p:cNvSpPr>
          <p:nvPr>
            <p:ph type="title"/>
          </p:nvPr>
        </p:nvSpPr>
        <p:spPr>
          <a:xfrm>
            <a:off x="604812" y="138151"/>
            <a:ext cx="8006387" cy="693397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kumimoji="1" lang="zh-TW" altLang="en-US"/>
              <a:t>按一下以編輯母片標題樣式</a:t>
            </a:r>
            <a:endParaRPr kumimoji="1" lang="zh-TW" altLang="en-US" dirty="0"/>
          </a:p>
        </p:txBody>
      </p:sp>
      <p:sp>
        <p:nvSpPr>
          <p:cNvPr id="7" name="矩形 6"/>
          <p:cNvSpPr>
            <a:spLocks noChangeArrowheads="1"/>
          </p:cNvSpPr>
          <p:nvPr userDrawn="1"/>
        </p:nvSpPr>
        <p:spPr bwMode="auto">
          <a:xfrm>
            <a:off x="0" y="322924"/>
            <a:ext cx="503238" cy="323850"/>
          </a:xfrm>
          <a:prstGeom prst="rect">
            <a:avLst/>
          </a:prstGeom>
          <a:solidFill>
            <a:srgbClr val="FF6600"/>
          </a:solidFill>
          <a:ln>
            <a:noFill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zh-TW" altLang="en-US" dirty="0">
              <a:solidFill>
                <a:prstClr val="white"/>
              </a:solidFill>
              <a:latin typeface="+mn-lt"/>
              <a:ea typeface="黑体"/>
              <a:cs typeface="+mn-cs"/>
            </a:endParaRPr>
          </a:p>
        </p:txBody>
      </p:sp>
      <p:sp>
        <p:nvSpPr>
          <p:cNvPr id="8" name="文字版面配置區 13"/>
          <p:cNvSpPr>
            <a:spLocks noGrp="1"/>
          </p:cNvSpPr>
          <p:nvPr>
            <p:ph type="body" sz="quarter" idx="13" hasCustomPrompt="1"/>
          </p:nvPr>
        </p:nvSpPr>
        <p:spPr>
          <a:xfrm>
            <a:off x="604812" y="723686"/>
            <a:ext cx="8006387" cy="333463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zh-TW" altLang="en-US" dirty="0"/>
              <a:t>按一下以編輯母片副標題樣式</a:t>
            </a:r>
          </a:p>
        </p:txBody>
      </p:sp>
    </p:spTree>
    <p:extLst>
      <p:ext uri="{BB962C8B-B14F-4D97-AF65-F5344CB8AC3E}">
        <p14:creationId xmlns:p14="http://schemas.microsoft.com/office/powerpoint/2010/main" val="141917210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只有標題與副標題(Dark Gray)">
    <p:bg>
      <p:bgPr>
        <a:solidFill>
          <a:schemeClr val="tx1">
            <a:lumMod val="65000"/>
            <a:lumOff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7BDE2-4401-E347-B894-96E96B98C55C}" type="datetimeFigureOut">
              <a:rPr kumimoji="1" lang="zh-TW" altLang="en-US" smtClean="0"/>
              <a:t>2026/1/14</a:t>
            </a:fld>
            <a:endParaRPr kumimoji="1"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kumimoji="1" lang="en-US" altLang="zh-TW" dirty="0"/>
              <a:t>CTRDC</a:t>
            </a:r>
            <a:endParaRPr kumimoji="1" lang="zh-TW" altLang="en-US" dirty="0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3D5BB0-1216-8E48-A837-0CCFD9BD7164}" type="slidenum">
              <a:rPr kumimoji="1" lang="zh-TW" altLang="en-US" smtClean="0"/>
              <a:t>‹#›</a:t>
            </a:fld>
            <a:endParaRPr kumimoji="1" lang="zh-TW" altLang="en-US"/>
          </a:p>
        </p:txBody>
      </p:sp>
      <p:sp>
        <p:nvSpPr>
          <p:cNvPr id="6" name="標題 1"/>
          <p:cNvSpPr>
            <a:spLocks noGrp="1"/>
          </p:cNvSpPr>
          <p:nvPr>
            <p:ph type="title"/>
          </p:nvPr>
        </p:nvSpPr>
        <p:spPr>
          <a:xfrm>
            <a:off x="604812" y="138151"/>
            <a:ext cx="8006387" cy="693397"/>
          </a:xfrm>
          <a:effectLst>
            <a:outerShdw blurRad="101600" dist="63500" dir="2700000" algn="tl" rotWithShape="0">
              <a:srgbClr val="000000">
                <a:alpha val="43000"/>
              </a:srgbClr>
            </a:outerShdw>
          </a:effectLst>
        </p:spPr>
        <p:txBody>
          <a:bodyPr>
            <a:normAutofit/>
          </a:bodyPr>
          <a:lstStyle>
            <a:lvl1pPr algn="l">
              <a:defRPr sz="2400">
                <a:solidFill>
                  <a:srgbClr val="FFFFFF"/>
                </a:solidFill>
              </a:defRPr>
            </a:lvl1pPr>
          </a:lstStyle>
          <a:p>
            <a:r>
              <a:rPr kumimoji="1" lang="zh-TW" altLang="en-US"/>
              <a:t>按一下以編輯母片標題樣式</a:t>
            </a:r>
            <a:endParaRPr kumimoji="1" lang="zh-TW" altLang="en-US" dirty="0"/>
          </a:p>
        </p:txBody>
      </p:sp>
      <p:sp>
        <p:nvSpPr>
          <p:cNvPr id="7" name="矩形 6"/>
          <p:cNvSpPr>
            <a:spLocks noChangeArrowheads="1"/>
          </p:cNvSpPr>
          <p:nvPr userDrawn="1"/>
        </p:nvSpPr>
        <p:spPr bwMode="auto">
          <a:xfrm>
            <a:off x="0" y="322924"/>
            <a:ext cx="503238" cy="323850"/>
          </a:xfrm>
          <a:prstGeom prst="rect">
            <a:avLst/>
          </a:prstGeom>
          <a:solidFill>
            <a:srgbClr val="FF6600"/>
          </a:solidFill>
          <a:ln>
            <a:noFill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zh-TW" altLang="en-US" dirty="0">
              <a:solidFill>
                <a:prstClr val="white"/>
              </a:solidFill>
              <a:latin typeface="+mn-lt"/>
              <a:ea typeface="黑体"/>
              <a:cs typeface="+mn-cs"/>
            </a:endParaRPr>
          </a:p>
        </p:txBody>
      </p:sp>
      <p:sp>
        <p:nvSpPr>
          <p:cNvPr id="8" name="文字版面配置區 13"/>
          <p:cNvSpPr>
            <a:spLocks noGrp="1"/>
          </p:cNvSpPr>
          <p:nvPr>
            <p:ph type="body" sz="quarter" idx="13" hasCustomPrompt="1"/>
          </p:nvPr>
        </p:nvSpPr>
        <p:spPr>
          <a:xfrm>
            <a:off x="604812" y="723686"/>
            <a:ext cx="8006387" cy="333463"/>
          </a:xfrm>
          <a:effectLst>
            <a:outerShdw blurRad="101600" dist="63500" dir="2700000" algn="tl" rotWithShape="0">
              <a:srgbClr val="000000">
                <a:alpha val="43000"/>
              </a:srgbClr>
            </a:outerShdw>
          </a:effectLst>
        </p:spPr>
        <p:txBody>
          <a:bodyPr>
            <a:noAutofit/>
          </a:bodyPr>
          <a:lstStyle>
            <a:lvl1pPr marL="0" indent="0">
              <a:buFontTx/>
              <a:buNone/>
              <a:defRPr sz="1600">
                <a:solidFill>
                  <a:srgbClr val="FFFFFF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kumimoji="1" lang="zh-TW" altLang="en-US" dirty="0"/>
              <a:t>按一下以編輯母片副標題樣式</a:t>
            </a:r>
          </a:p>
        </p:txBody>
      </p:sp>
    </p:spTree>
    <p:extLst>
      <p:ext uri="{BB962C8B-B14F-4D97-AF65-F5344CB8AC3E}">
        <p14:creationId xmlns:p14="http://schemas.microsoft.com/office/powerpoint/2010/main" val="237188631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7BDE2-4401-E347-B894-96E96B98C55C}" type="datetimeFigureOut">
              <a:rPr kumimoji="1" lang="zh-TW" altLang="en-US" smtClean="0"/>
              <a:t>2026/1/14</a:t>
            </a:fld>
            <a:endParaRPr kumimoji="1"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kumimoji="1" lang="en-US" altLang="zh-TW" dirty="0"/>
              <a:t>CTRDC</a:t>
            </a:r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3D5BB0-1216-8E48-A837-0CCFD9BD7164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91728753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(Dark Gray)">
    <p:bg>
      <p:bgPr>
        <a:solidFill>
          <a:srgbClr val="5959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C7BDE2-4401-E347-B894-96E96B98C55C}" type="datetimeFigureOut">
              <a:rPr kumimoji="1" lang="zh-TW" altLang="en-US" smtClean="0"/>
              <a:t>2026/1/14</a:t>
            </a:fld>
            <a:endParaRPr kumimoji="1"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kumimoji="1" lang="en-US" altLang="zh-TW" dirty="0"/>
              <a:t>CTRDC</a:t>
            </a:r>
            <a:endParaRPr kumimoji="1"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3D5BB0-1216-8E48-A837-0CCFD9BD7164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0805246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457200" y="228865"/>
            <a:ext cx="8229600" cy="952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TW" altLang="en-US" dirty="0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333500"/>
            <a:ext cx="8229600" cy="3771636"/>
          </a:xfrm>
          <a:prstGeom prst="rect">
            <a:avLst/>
          </a:prstGeom>
          <a:effectLst/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kumimoji="1" lang="zh-TW" altLang="en-US" dirty="0"/>
              <a:t>按一下以編輯母片文字樣式</a:t>
            </a:r>
          </a:p>
          <a:p>
            <a:pPr lvl="1"/>
            <a:r>
              <a:rPr kumimoji="1" lang="zh-TW" altLang="en-US" dirty="0"/>
              <a:t>第二層</a:t>
            </a:r>
          </a:p>
          <a:p>
            <a:pPr lvl="2"/>
            <a:r>
              <a:rPr kumimoji="1" lang="zh-TW" altLang="en-US" dirty="0"/>
              <a:t>第三層</a:t>
            </a:r>
          </a:p>
          <a:p>
            <a:pPr lvl="3"/>
            <a:r>
              <a:rPr kumimoji="1" lang="zh-TW" altLang="en-US" dirty="0"/>
              <a:t>第四層</a:t>
            </a:r>
          </a:p>
          <a:p>
            <a:pPr lvl="4"/>
            <a:r>
              <a:rPr kumimoji="1" lang="zh-TW" altLang="en-US" dirty="0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457200" y="5296959"/>
            <a:ext cx="2133600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ea typeface="黑体"/>
              </a:defRPr>
            </a:lvl1pPr>
          </a:lstStyle>
          <a:p>
            <a:fld id="{62C7BDE2-4401-E347-B894-96E96B98C55C}" type="datetimeFigureOut">
              <a:rPr kumimoji="1" lang="zh-TW" altLang="en-US" smtClean="0"/>
              <a:pPr/>
              <a:t>2026/1/14</a:t>
            </a:fld>
            <a:endParaRPr kumimoji="1" lang="zh-TW" altLang="en-US" dirty="0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3124200" y="5296959"/>
            <a:ext cx="2895600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ea typeface="黑体"/>
              </a:defRPr>
            </a:lvl1pPr>
          </a:lstStyle>
          <a:p>
            <a:r>
              <a:rPr kumimoji="1" lang="en-US" altLang="zh-TW" dirty="0"/>
              <a:t>CTRDC</a:t>
            </a:r>
            <a:endParaRPr kumimoji="1" lang="zh-TW" altLang="en-US" dirty="0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6553200" y="5296959"/>
            <a:ext cx="2133600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ea typeface="黑体"/>
              </a:defRPr>
            </a:lvl1pPr>
          </a:lstStyle>
          <a:p>
            <a:fld id="{903D5BB0-1216-8E48-A837-0CCFD9BD7164}" type="slidenum">
              <a:rPr kumimoji="1" lang="zh-TW" altLang="en-US" smtClean="0"/>
              <a:pPr/>
              <a:t>‹#›</a:t>
            </a:fld>
            <a:endParaRPr kumimoji="1" lang="zh-TW" altLang="en-US" dirty="0"/>
          </a:p>
        </p:txBody>
      </p:sp>
      <p:sp>
        <p:nvSpPr>
          <p:cNvPr id="8" name="圓角化同側角落矩形 7"/>
          <p:cNvSpPr>
            <a:spLocks/>
          </p:cNvSpPr>
          <p:nvPr userDrawn="1"/>
        </p:nvSpPr>
        <p:spPr>
          <a:xfrm>
            <a:off x="7884368" y="0"/>
            <a:ext cx="792088" cy="203200"/>
          </a:xfrm>
          <a:prstGeom prst="round2SameRect">
            <a:avLst>
              <a:gd name="adj1" fmla="val 0"/>
              <a:gd name="adj2" fmla="val 50000"/>
            </a:avLst>
          </a:prstGeom>
          <a:gradFill flip="none" rotWithShape="1">
            <a:gsLst>
              <a:gs pos="0">
                <a:srgbClr val="FF6600"/>
              </a:gs>
              <a:gs pos="100000">
                <a:srgbClr val="FF3300"/>
              </a:gs>
            </a:gsLst>
            <a:lin ang="5400000" scaled="0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88878" tIns="91419" rIns="88878" bIns="165061" rtlCol="0" anchor="t">
            <a:noAutofit/>
          </a:bodyPr>
          <a:lstStyle/>
          <a:p>
            <a:pPr algn="ctr"/>
            <a:r>
              <a:rPr kumimoji="1" lang="en-US" altLang="zh-TW" sz="800" dirty="0">
                <a:latin typeface="Candara"/>
                <a:cs typeface="Candara"/>
              </a:rPr>
              <a:t>Confidential</a:t>
            </a:r>
            <a:endParaRPr kumimoji="1" lang="zh-TW" altLang="en-US" sz="800" dirty="0">
              <a:latin typeface="Candara"/>
              <a:cs typeface="Candara"/>
            </a:endParaRPr>
          </a:p>
        </p:txBody>
      </p:sp>
    </p:spTree>
    <p:extLst>
      <p:ext uri="{BB962C8B-B14F-4D97-AF65-F5344CB8AC3E}">
        <p14:creationId xmlns:p14="http://schemas.microsoft.com/office/powerpoint/2010/main" val="6089836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  <p:sldLayoutId id="2147483670" r:id="rId2"/>
    <p:sldLayoutId id="2147483669" r:id="rId3"/>
    <p:sldLayoutId id="2147483650" r:id="rId4"/>
    <p:sldLayoutId id="2147483664" r:id="rId5"/>
    <p:sldLayoutId id="2147483660" r:id="rId6"/>
    <p:sldLayoutId id="2147483665" r:id="rId7"/>
    <p:sldLayoutId id="2147483656" r:id="rId8"/>
    <p:sldLayoutId id="2147483666" r:id="rId9"/>
    <p:sldLayoutId id="2147483663" r:id="rId10"/>
    <p:sldLayoutId id="2147483667" r:id="rId11"/>
    <p:sldLayoutId id="2147483651" r:id="rId12"/>
    <p:sldLayoutId id="2147483652" r:id="rId13"/>
    <p:sldLayoutId id="2147483653" r:id="rId14"/>
    <p:sldLayoutId id="2147483654" r:id="rId15"/>
    <p:sldLayoutId id="2147483658" r:id="rId16"/>
    <p:sldLayoutId id="2147483657" r:id="rId17"/>
    <p:sldLayoutId id="2147483659" r:id="rId18"/>
    <p:sldLayoutId id="2147483655" r:id="rId19"/>
    <p:sldLayoutId id="2147483662" r:id="rId20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rgbClr val="7F7F7F"/>
          </a:solidFill>
          <a:latin typeface="+mn-lt"/>
          <a:ea typeface="Microsoft JhengHei" panose="020B0604030504040204" pitchFamily="34" charset="-120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Clr>
          <a:srgbClr val="FF6600"/>
        </a:buClr>
        <a:buSzPct val="50000"/>
        <a:buFont typeface="Wingdings" charset="2"/>
        <a:buChar char=""/>
        <a:defRPr sz="2400" kern="1200">
          <a:solidFill>
            <a:srgbClr val="7F7F7F"/>
          </a:solidFill>
          <a:latin typeface="+mn-lt"/>
          <a:ea typeface="Microsoft JhengHei" panose="020B0604030504040204" pitchFamily="34" charset="-120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Clr>
          <a:srgbClr val="FF6600"/>
        </a:buClr>
        <a:buSzPct val="50000"/>
        <a:buFont typeface="Arial"/>
        <a:buChar char="–"/>
        <a:defRPr sz="2000" kern="1200">
          <a:solidFill>
            <a:srgbClr val="7F7F7F"/>
          </a:solidFill>
          <a:latin typeface="+mn-lt"/>
          <a:ea typeface="Microsoft JhengHei" panose="020B0604030504040204" pitchFamily="34" charset="-120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Clr>
          <a:srgbClr val="FF6600"/>
        </a:buClr>
        <a:buFont typeface="Arial"/>
        <a:buChar char="•"/>
        <a:defRPr sz="1800" kern="1200">
          <a:solidFill>
            <a:srgbClr val="7F7F7F"/>
          </a:solidFill>
          <a:latin typeface="+mn-lt"/>
          <a:ea typeface="Microsoft JhengHei" panose="020B0604030504040204" pitchFamily="34" charset="-120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Clr>
          <a:srgbClr val="FF6600"/>
        </a:buClr>
        <a:buSzPct val="50000"/>
        <a:buFont typeface="Arial"/>
        <a:buChar char="–"/>
        <a:defRPr sz="1600" kern="1200">
          <a:solidFill>
            <a:srgbClr val="7F7F7F"/>
          </a:solidFill>
          <a:latin typeface="+mn-lt"/>
          <a:ea typeface="Microsoft JhengHei" panose="020B0604030504040204" pitchFamily="34" charset="-120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Clr>
          <a:srgbClr val="FF6600"/>
        </a:buClr>
        <a:buFont typeface="Arial"/>
        <a:buChar char="»"/>
        <a:defRPr sz="1600" kern="1200">
          <a:solidFill>
            <a:srgbClr val="7F7F7F"/>
          </a:solidFill>
          <a:latin typeface="+mn-lt"/>
          <a:ea typeface="Microsoft JhengHei" panose="020B0604030504040204" pitchFamily="34" charset="-12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sselectronics.com/pages/can-fd-flexible-data-rate-intro" TargetMode="External"/><Relationship Id="rId2" Type="http://schemas.openxmlformats.org/officeDocument/2006/relationships/hyperlink" Target="https://en.wikipedia.org/wiki/Robert_Bosch_GmbH" TargetMode="Externa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systemaccess.com.tw/page/about/index.aspx?kind=1164" TargetMode="External"/><Relationship Id="rId3" Type="http://schemas.openxmlformats.org/officeDocument/2006/relationships/hyperlink" Target="https://wiki.csie.ncku.edu.tw/embedded/CAN#interframe-spacing%E9%80%9A%E8%A8%8A%E6%A0%BC%E5%BC%8F%E9%96%93%E9%9A%94" TargetMode="External"/><Relationship Id="rId7" Type="http://schemas.openxmlformats.org/officeDocument/2006/relationships/hyperlink" Target="https://www.csselectronics.com/pages/can-bus-simple-intro-tutorial" TargetMode="External"/><Relationship Id="rId2" Type="http://schemas.openxmlformats.org/officeDocument/2006/relationships/hyperlink" Target="https://en.wikipedia.org/wiki/CAN_bus" TargetMode="External"/><Relationship Id="rId1" Type="http://schemas.openxmlformats.org/officeDocument/2006/relationships/slideLayout" Target="../slideLayouts/slideLayout15.xml"/><Relationship Id="rId6" Type="http://schemas.openxmlformats.org/officeDocument/2006/relationships/hyperlink" Target="https://www.circuitbread.com/tutorials/understanding-can-a-beginners-guide-to-the-controller-area-network-protocol" TargetMode="External"/><Relationship Id="rId5" Type="http://schemas.openxmlformats.org/officeDocument/2006/relationships/hyperlink" Target="https://wellstsai.com/post/can-protocol/" TargetMode="External"/><Relationship Id="rId4" Type="http://schemas.openxmlformats.org/officeDocument/2006/relationships/hyperlink" Target="https://www.winstar.com.tw/zh-tw/can-bus-interface-communication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副標題 1">
            <a:extLst>
              <a:ext uri="{FF2B5EF4-FFF2-40B4-BE49-F238E27FC236}">
                <a16:creationId xmlns:a16="http://schemas.microsoft.com/office/drawing/2014/main" id="{132F6085-79EA-874B-8AE5-6B67F903FAD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en-US" altLang="zh-TW" dirty="0"/>
              <a:t>Allan Chen</a:t>
            </a:r>
            <a:endParaRPr kumimoji="1" lang="zh-TW" altLang="en-US" dirty="0"/>
          </a:p>
        </p:txBody>
      </p:sp>
      <p:sp>
        <p:nvSpPr>
          <p:cNvPr id="3" name="標題 2">
            <a:extLst>
              <a:ext uri="{FF2B5EF4-FFF2-40B4-BE49-F238E27FC236}">
                <a16:creationId xmlns:a16="http://schemas.microsoft.com/office/drawing/2014/main" id="{8D6A113B-B62F-904B-8F06-8D8A1B06AC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38970" y="2941575"/>
            <a:ext cx="6556248" cy="551173"/>
          </a:xfrm>
        </p:spPr>
        <p:txBody>
          <a:bodyPr>
            <a:normAutofit/>
          </a:bodyPr>
          <a:lstStyle/>
          <a:p>
            <a:r>
              <a:rPr lang="en-US" altLang="zh-TW" dirty="0"/>
              <a:t>Introduction to CAN and CAN FD 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0869873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A3ACB95-8B87-508D-3BAC-F1520A79743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896111"/>
            <a:ext cx="4038600" cy="4680737"/>
          </a:xfrm>
        </p:spPr>
        <p:txBody>
          <a:bodyPr>
            <a:normAutofit lnSpcReduction="10000"/>
          </a:bodyPr>
          <a:lstStyle/>
          <a:p>
            <a:pPr>
              <a:lnSpc>
                <a:spcPct val="90000"/>
              </a:lnSpc>
            </a:pPr>
            <a:r>
              <a:rPr lang="en-US" altLang="zh-TW" sz="2000" dirty="0"/>
              <a:t>Definition: </a:t>
            </a:r>
          </a:p>
          <a:p>
            <a:pPr lvl="1">
              <a:lnSpc>
                <a:spcPct val="90000"/>
              </a:lnSpc>
            </a:pPr>
            <a:r>
              <a:rPr lang="en-US" altLang="zh-TW" sz="1600" dirty="0"/>
              <a:t>Controller Area Network</a:t>
            </a:r>
          </a:p>
          <a:p>
            <a:pPr lvl="1">
              <a:lnSpc>
                <a:spcPct val="90000"/>
              </a:lnSpc>
            </a:pPr>
            <a:r>
              <a:rPr lang="en-US" altLang="zh-TW" sz="1600" dirty="0"/>
              <a:t>A high-integrity, multi-master, broadcast serial bus system.</a:t>
            </a:r>
          </a:p>
          <a:p>
            <a:pPr>
              <a:lnSpc>
                <a:spcPct val="90000"/>
              </a:lnSpc>
            </a:pPr>
            <a:endParaRPr lang="en-US" altLang="zh-TW" sz="2000" dirty="0"/>
          </a:p>
          <a:p>
            <a:pPr>
              <a:lnSpc>
                <a:spcPct val="90000"/>
              </a:lnSpc>
            </a:pPr>
            <a:r>
              <a:rPr lang="en-US" altLang="zh-TW" sz="2000" dirty="0"/>
              <a:t>Origins: Developed by Robert Bosch GmbH in the 1980s for automotive applications.</a:t>
            </a:r>
          </a:p>
          <a:p>
            <a:pPr>
              <a:lnSpc>
                <a:spcPct val="90000"/>
              </a:lnSpc>
            </a:pPr>
            <a:endParaRPr lang="en-US" altLang="zh-TW" sz="2000" dirty="0"/>
          </a:p>
          <a:p>
            <a:pPr>
              <a:lnSpc>
                <a:spcPct val="90000"/>
              </a:lnSpc>
            </a:pPr>
            <a:r>
              <a:rPr lang="en-US" altLang="zh-TW" sz="2000" dirty="0"/>
              <a:t>Key Philosophy: </a:t>
            </a:r>
          </a:p>
          <a:p>
            <a:pPr lvl="1">
              <a:lnSpc>
                <a:spcPct val="90000"/>
              </a:lnSpc>
            </a:pPr>
            <a:r>
              <a:rPr lang="en-US" altLang="zh-TW" sz="2000" dirty="0"/>
              <a:t>To replace point-to-point wiring with a single network.</a:t>
            </a:r>
          </a:p>
          <a:p>
            <a:pPr lvl="1">
              <a:lnSpc>
                <a:spcPct val="90000"/>
              </a:lnSpc>
            </a:pPr>
            <a:r>
              <a:rPr lang="en-US" altLang="zh-TW" sz="2000" dirty="0"/>
              <a:t>To ensure reliable communication in electronically "noisy" environments.</a:t>
            </a:r>
            <a:endParaRPr lang="zh-TW" altLang="en-US" sz="2000" dirty="0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CC593993-5E01-A5F3-8E7E-5081EDBCA1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4812" y="138151"/>
            <a:ext cx="8006387" cy="693397"/>
          </a:xfrm>
        </p:spPr>
        <p:txBody>
          <a:bodyPr anchor="ctr">
            <a:normAutofit/>
          </a:bodyPr>
          <a:lstStyle/>
          <a:p>
            <a:r>
              <a:rPr lang="en-US" altLang="zh-TW"/>
              <a:t>What is CAN Bus?</a:t>
            </a:r>
            <a:endParaRPr lang="zh-TW" altLang="en-US"/>
          </a:p>
        </p:txBody>
      </p:sp>
      <p:pic>
        <p:nvPicPr>
          <p:cNvPr id="8" name="圖片 7" descr="一張含有 Rectangle, 圖表, 螢幕擷取畫面, 正方形 的圖片&#10;&#10;AI 產生的內容可能不正確。">
            <a:extLst>
              <a:ext uri="{FF2B5EF4-FFF2-40B4-BE49-F238E27FC236}">
                <a16:creationId xmlns:a16="http://schemas.microsoft.com/office/drawing/2014/main" id="{1BE37372-CBDF-FDBC-CD90-F6CF263B3D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8318" y="2144213"/>
            <a:ext cx="4132490" cy="1518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23173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1AAB2-846E-94D9-6557-ED8835DBF3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3B6E32F-FB6C-1BC9-2D9E-6348836B968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30200" y="831548"/>
            <a:ext cx="8813800" cy="2639193"/>
          </a:xfrm>
        </p:spPr>
        <p:txBody>
          <a:bodyPr>
            <a:normAutofit/>
          </a:bodyPr>
          <a:lstStyle/>
          <a:p>
            <a:r>
              <a:rPr lang="en-US" altLang="zh-TW" sz="1400" b="1" dirty="0"/>
              <a:t>Pre CAN: </a:t>
            </a:r>
            <a:r>
              <a:rPr lang="en-US" altLang="zh-TW" sz="1400" dirty="0"/>
              <a:t>Car ECUs relied on complex point-to-point wiring</a:t>
            </a:r>
          </a:p>
          <a:p>
            <a:r>
              <a:rPr lang="en-US" altLang="zh-TW" sz="1400" b="1" dirty="0"/>
              <a:t>1986: </a:t>
            </a:r>
            <a:r>
              <a:rPr lang="en-US" altLang="zh-TW" sz="1400" dirty="0">
                <a:hlinkClick r:id="rId2"/>
              </a:rPr>
              <a:t>Bosch</a:t>
            </a:r>
            <a:r>
              <a:rPr lang="en-US" altLang="zh-TW" sz="1400" dirty="0"/>
              <a:t> developed the CAN protocol as a solution</a:t>
            </a:r>
          </a:p>
          <a:p>
            <a:r>
              <a:rPr lang="en-US" altLang="zh-TW" sz="1400" b="1" dirty="0"/>
              <a:t>1991: </a:t>
            </a:r>
            <a:r>
              <a:rPr lang="en-US" altLang="zh-TW" sz="1400" dirty="0"/>
              <a:t>Bosch published CAN 2.0 (CAN 2.0A: 11 bit, 2.0B: 29 bit)</a:t>
            </a:r>
          </a:p>
          <a:p>
            <a:r>
              <a:rPr lang="en-US" altLang="zh-TW" sz="1400" b="1" dirty="0"/>
              <a:t>1993: </a:t>
            </a:r>
            <a:r>
              <a:rPr lang="en-US" altLang="zh-TW" sz="1400" dirty="0"/>
              <a:t>CAN is adopted as international standard (ISO 11898)</a:t>
            </a:r>
          </a:p>
          <a:p>
            <a:r>
              <a:rPr lang="en-US" altLang="zh-TW" sz="1400" b="1" dirty="0"/>
              <a:t>2003:</a:t>
            </a:r>
            <a:r>
              <a:rPr lang="en-US" altLang="zh-TW" sz="1400" dirty="0"/>
              <a:t> ISO 11898 becomes a standard series</a:t>
            </a:r>
          </a:p>
          <a:p>
            <a:r>
              <a:rPr lang="en-US" altLang="zh-TW" sz="1400" b="1" dirty="0"/>
              <a:t>2012: </a:t>
            </a:r>
            <a:r>
              <a:rPr lang="en-US" altLang="zh-TW" sz="1400" dirty="0"/>
              <a:t>Bosch released the </a:t>
            </a:r>
            <a:r>
              <a:rPr lang="en-US" altLang="zh-TW" sz="1400" dirty="0">
                <a:hlinkClick r:id="rId3"/>
              </a:rPr>
              <a:t>CAN FD</a:t>
            </a:r>
            <a:r>
              <a:rPr lang="en-US" altLang="zh-TW" sz="1400" dirty="0"/>
              <a:t> 1.0 (flexible data rate)</a:t>
            </a:r>
          </a:p>
          <a:p>
            <a:r>
              <a:rPr lang="en-US" altLang="zh-TW" sz="1400" b="1" dirty="0"/>
              <a:t>2015:</a:t>
            </a:r>
            <a:r>
              <a:rPr lang="en-US" altLang="zh-TW" sz="1400" dirty="0"/>
              <a:t> The CAN FD protocol is standardized (ISO 11898-1)</a:t>
            </a:r>
          </a:p>
          <a:p>
            <a:r>
              <a:rPr lang="en-US" altLang="zh-TW" sz="1400" b="1" dirty="0"/>
              <a:t>2016:</a:t>
            </a:r>
            <a:r>
              <a:rPr lang="en-US" altLang="zh-TW" sz="1400" dirty="0"/>
              <a:t> The physical CAN layer for data-rates up to 5 Mbit/s standardized in ISO 11898-2 (in practice up to 8 Mbit/s)</a:t>
            </a:r>
          </a:p>
          <a:p>
            <a:r>
              <a:rPr lang="en-US" altLang="zh-TW" sz="1400" b="1" dirty="0"/>
              <a:t>2018: </a:t>
            </a:r>
            <a:r>
              <a:rPr lang="en-US" altLang="zh-TW" sz="1400" dirty="0" err="1"/>
              <a:t>CiA</a:t>
            </a:r>
            <a:r>
              <a:rPr lang="en-US" altLang="zh-TW" sz="1400" dirty="0"/>
              <a:t> starts development of CAN XL</a:t>
            </a:r>
          </a:p>
          <a:p>
            <a:r>
              <a:rPr lang="en-US" altLang="zh-TW" sz="1400" b="1" dirty="0"/>
              <a:t>2024:</a:t>
            </a:r>
            <a:r>
              <a:rPr lang="en-US" altLang="zh-TW" sz="1400" dirty="0"/>
              <a:t> CAN XL standardized (ISO 11898-1:2024, 11898-2:2024)</a:t>
            </a:r>
          </a:p>
          <a:p>
            <a:pPr>
              <a:lnSpc>
                <a:spcPct val="90000"/>
              </a:lnSpc>
            </a:pPr>
            <a:endParaRPr lang="zh-TW" altLang="en-US" sz="1400" dirty="0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1C007572-A452-6B9E-5216-5AD2BD5939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4812" y="138151"/>
            <a:ext cx="8006387" cy="693397"/>
          </a:xfrm>
        </p:spPr>
        <p:txBody>
          <a:bodyPr anchor="ctr">
            <a:normAutofit/>
          </a:bodyPr>
          <a:lstStyle/>
          <a:p>
            <a:r>
              <a:rPr lang="en-US" altLang="zh-TW" dirty="0"/>
              <a:t>The CAN bus history in short</a:t>
            </a:r>
          </a:p>
        </p:txBody>
      </p:sp>
      <p:pic>
        <p:nvPicPr>
          <p:cNvPr id="5" name="圖片 4" descr="一張含有 文字, 螢幕擷取畫面, 字型, 圖表 的圖片&#10;&#10;AI 產生的內容可能不正確。">
            <a:extLst>
              <a:ext uri="{FF2B5EF4-FFF2-40B4-BE49-F238E27FC236}">
                <a16:creationId xmlns:a16="http://schemas.microsoft.com/office/drawing/2014/main" id="{855407F8-5AD6-2DA9-4344-763850EF80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09649" y="3470741"/>
            <a:ext cx="6524702" cy="2244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93207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719764-F3DD-F6FA-C931-12C368AC80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9270A52-64A7-DE1D-E6CC-78002681EB1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65100" y="1160176"/>
            <a:ext cx="3949700" cy="3896456"/>
          </a:xfrm>
        </p:spPr>
        <p:txBody>
          <a:bodyPr>
            <a:normAutofit fontScale="92500"/>
          </a:bodyPr>
          <a:lstStyle/>
          <a:p>
            <a:r>
              <a:rPr lang="en-US" altLang="zh-TW" sz="2000" b="1" dirty="0"/>
              <a:t>Overview:</a:t>
            </a:r>
            <a:r>
              <a:rPr lang="en-US" altLang="zh-TW" sz="2000" dirty="0"/>
              <a:t> CAN covers the two lowest layers of the OSI model: Data Link and Physical.</a:t>
            </a:r>
          </a:p>
          <a:p>
            <a:endParaRPr lang="en-US" altLang="zh-TW" sz="2000" dirty="0"/>
          </a:p>
          <a:p>
            <a:r>
              <a:rPr lang="en-US" altLang="zh-TW" sz="2000" b="1" dirty="0"/>
              <a:t>Data Link Layer (ISO 11898-1):</a:t>
            </a:r>
            <a:r>
              <a:rPr lang="en-US" altLang="zh-TW" sz="2000" dirty="0"/>
              <a:t> Handles frame formats, error handling (CRC/ACK), and arbitration.</a:t>
            </a:r>
          </a:p>
          <a:p>
            <a:endParaRPr lang="en-US" altLang="zh-TW" sz="2000" dirty="0"/>
          </a:p>
          <a:p>
            <a:r>
              <a:rPr lang="en-US" altLang="zh-TW" sz="2000" b="1" dirty="0"/>
              <a:t>Physical Layer (ISO 11898-2):</a:t>
            </a:r>
            <a:r>
              <a:rPr lang="en-US" altLang="zh-TW" sz="2000" dirty="0"/>
              <a:t> Defines bit timing, synchronization, and electrical signal levels.</a:t>
            </a: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9B610ACF-C23F-8892-659C-910380A3A1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4812" y="138151"/>
            <a:ext cx="8006387" cy="693397"/>
          </a:xfrm>
        </p:spPr>
        <p:txBody>
          <a:bodyPr anchor="ctr">
            <a:normAutofit/>
          </a:bodyPr>
          <a:lstStyle/>
          <a:p>
            <a:r>
              <a:rPr lang="en-US" altLang="zh-TW" dirty="0"/>
              <a:t>CAN in the OSI Model (Layered Architecture)</a:t>
            </a:r>
          </a:p>
        </p:txBody>
      </p:sp>
      <p:pic>
        <p:nvPicPr>
          <p:cNvPr id="5" name="圖片 4" descr="一張含有 文字, 螢幕擷取畫面, 字型, 設計 的圖片&#10;&#10;AI 產生的內容可能不正確。">
            <a:extLst>
              <a:ext uri="{FF2B5EF4-FFF2-40B4-BE49-F238E27FC236}">
                <a16:creationId xmlns:a16="http://schemas.microsoft.com/office/drawing/2014/main" id="{A084B8BE-D5A9-4C32-BD49-28BDBE9617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0" y="1160176"/>
            <a:ext cx="4809928" cy="2634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7743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35C6AF-F221-C555-C1CD-DA9FAF191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CAN Bus Topology</a:t>
            </a:r>
            <a:r>
              <a:rPr lang="zh-TW" altLang="en-US" dirty="0"/>
              <a:t> </a:t>
            </a:r>
            <a:r>
              <a:rPr lang="en-US" altLang="zh-TW" dirty="0"/>
              <a:t>(1/2)</a:t>
            </a:r>
            <a:endParaRPr lang="zh-TW" altLang="en-US" dirty="0"/>
          </a:p>
        </p:txBody>
      </p:sp>
      <p:pic>
        <p:nvPicPr>
          <p:cNvPr id="4" name="圖片 3" descr="一張含有 文字, 螢幕擷取畫面, 圖表, 行 的圖片&#10;&#10;AI 產生的內容可能不正確。">
            <a:extLst>
              <a:ext uri="{FF2B5EF4-FFF2-40B4-BE49-F238E27FC236}">
                <a16:creationId xmlns:a16="http://schemas.microsoft.com/office/drawing/2014/main" id="{98E13032-2CBE-7CE2-FB73-244D79BA3B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52" y="831548"/>
            <a:ext cx="8769096" cy="4691466"/>
          </a:xfrm>
          <a:prstGeom prst="rect">
            <a:avLst/>
          </a:prstGeom>
        </p:spPr>
      </p:pic>
      <p:pic>
        <p:nvPicPr>
          <p:cNvPr id="10" name="圖片 9" descr="一張含有 圖形, 設計 的圖片&#10;&#10;AI 產生的內容可能不正確。">
            <a:extLst>
              <a:ext uri="{FF2B5EF4-FFF2-40B4-BE49-F238E27FC236}">
                <a16:creationId xmlns:a16="http://schemas.microsoft.com/office/drawing/2014/main" id="{14CB2235-A91A-D3D4-0771-953C538F68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47670" y="2011680"/>
            <a:ext cx="1508294" cy="768376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53EB6E56-9FA6-9050-C974-FEC81E9FE813}"/>
              </a:ext>
            </a:extLst>
          </p:cNvPr>
          <p:cNvSpPr/>
          <p:nvPr/>
        </p:nvSpPr>
        <p:spPr>
          <a:xfrm>
            <a:off x="7347670" y="2011680"/>
            <a:ext cx="1508294" cy="76837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6526531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E2180B9-052D-25A8-0BA2-4C25C727D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8806" y="138151"/>
            <a:ext cx="8006387" cy="693397"/>
          </a:xfrm>
        </p:spPr>
        <p:txBody>
          <a:bodyPr/>
          <a:lstStyle/>
          <a:p>
            <a:r>
              <a:rPr lang="en-US" altLang="zh-TW" dirty="0"/>
              <a:t>CAN Bus Topology</a:t>
            </a:r>
            <a:r>
              <a:rPr lang="zh-TW" altLang="en-US" dirty="0"/>
              <a:t> </a:t>
            </a:r>
            <a:r>
              <a:rPr lang="en-US" altLang="zh-TW" dirty="0"/>
              <a:t>(2/2)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5CB359E-ED0A-967A-F074-394C2BE5CB88}"/>
              </a:ext>
            </a:extLst>
          </p:cNvPr>
          <p:cNvSpPr txBox="1">
            <a:spLocks/>
          </p:cNvSpPr>
          <p:nvPr/>
        </p:nvSpPr>
        <p:spPr>
          <a:xfrm>
            <a:off x="457200" y="896111"/>
            <a:ext cx="8211312" cy="4599433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Clr>
                <a:srgbClr val="FF6600"/>
              </a:buClr>
              <a:buSzPct val="50000"/>
              <a:buFont typeface="Wingdings" charset="2"/>
              <a:buChar char=""/>
              <a:defRPr sz="2400" kern="1200">
                <a:solidFill>
                  <a:srgbClr val="7F7F7F"/>
                </a:solidFill>
                <a:latin typeface="+mn-lt"/>
                <a:ea typeface="Microsoft JhengHei" panose="020B0604030504040204" pitchFamily="34" charset="-120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Clr>
                <a:srgbClr val="FF6600"/>
              </a:buClr>
              <a:buSzPct val="50000"/>
              <a:buFont typeface="Arial"/>
              <a:buChar char="–"/>
              <a:defRPr sz="2000" kern="1200">
                <a:solidFill>
                  <a:srgbClr val="7F7F7F"/>
                </a:solidFill>
                <a:latin typeface="+mn-lt"/>
                <a:ea typeface="Microsoft JhengHei" panose="020B0604030504040204" pitchFamily="34" charset="-120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Clr>
                <a:srgbClr val="FF6600"/>
              </a:buClr>
              <a:buFont typeface="Arial"/>
              <a:buChar char="•"/>
              <a:defRPr sz="1800" kern="1200">
                <a:solidFill>
                  <a:srgbClr val="7F7F7F"/>
                </a:solidFill>
                <a:latin typeface="+mn-lt"/>
                <a:ea typeface="Microsoft JhengHei" panose="020B0604030504040204" pitchFamily="34" charset="-120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Clr>
                <a:srgbClr val="FF6600"/>
              </a:buClr>
              <a:buSzPct val="50000"/>
              <a:buFont typeface="Arial"/>
              <a:buChar char="–"/>
              <a:defRPr sz="1600" kern="1200">
                <a:solidFill>
                  <a:srgbClr val="7F7F7F"/>
                </a:solidFill>
                <a:latin typeface="+mn-lt"/>
                <a:ea typeface="Microsoft JhengHei" panose="020B0604030504040204" pitchFamily="34" charset="-120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Clr>
                <a:srgbClr val="FF6600"/>
              </a:buClr>
              <a:buFont typeface="Arial"/>
              <a:buChar char="»"/>
              <a:defRPr sz="1600" kern="1200">
                <a:solidFill>
                  <a:srgbClr val="7F7F7F"/>
                </a:solidFill>
                <a:latin typeface="+mn-lt"/>
                <a:ea typeface="Microsoft JhengHei" panose="020B0604030504040204" pitchFamily="34" charset="-120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</a:pPr>
            <a:r>
              <a:rPr lang="en-US" altLang="zh-TW" sz="2000" dirty="0"/>
              <a:t>Bus Line Structure: A linear bus topology where all nodes (ECUs) are connected to a single twisted-pair cable.</a:t>
            </a:r>
          </a:p>
          <a:p>
            <a:pPr>
              <a:lnSpc>
                <a:spcPct val="90000"/>
              </a:lnSpc>
            </a:pPr>
            <a:endParaRPr lang="en-US" altLang="zh-TW" sz="2000" dirty="0"/>
          </a:p>
          <a:p>
            <a:pPr>
              <a:lnSpc>
                <a:spcPct val="90000"/>
              </a:lnSpc>
            </a:pPr>
            <a:r>
              <a:rPr lang="en-US" altLang="zh-TW" sz="2000" dirty="0"/>
              <a:t>Key Components:</a:t>
            </a:r>
          </a:p>
          <a:p>
            <a:pPr lvl="1">
              <a:lnSpc>
                <a:spcPct val="90000"/>
              </a:lnSpc>
            </a:pPr>
            <a:r>
              <a:rPr lang="en-US" altLang="zh-TW" sz="1800" dirty="0"/>
              <a:t>Main Trunk Line: The primary cable running through the system.</a:t>
            </a:r>
          </a:p>
          <a:p>
            <a:pPr lvl="1">
              <a:lnSpc>
                <a:spcPct val="90000"/>
              </a:lnSpc>
            </a:pPr>
            <a:r>
              <a:rPr lang="en-US" altLang="zh-TW" sz="1800" dirty="0"/>
              <a:t>Drop Lines (Stubs): Short cables connecting individual nodes to the main trunk.</a:t>
            </a:r>
          </a:p>
          <a:p>
            <a:pPr lvl="1">
              <a:lnSpc>
                <a:spcPct val="90000"/>
              </a:lnSpc>
            </a:pPr>
            <a:endParaRPr lang="en-US" altLang="zh-TW" sz="1600" dirty="0"/>
          </a:p>
          <a:p>
            <a:pPr>
              <a:lnSpc>
                <a:spcPct val="90000"/>
              </a:lnSpc>
            </a:pPr>
            <a:r>
              <a:rPr lang="en-US" altLang="zh-TW" sz="2000" dirty="0"/>
              <a:t>Termination Resistors</a:t>
            </a:r>
            <a:r>
              <a:rPr lang="zh-TW" altLang="en-US" sz="2000" dirty="0"/>
              <a:t> </a:t>
            </a:r>
            <a:r>
              <a:rPr lang="en-US" altLang="zh-TW" sz="2000" dirty="0"/>
              <a:t>(120 </a:t>
            </a:r>
            <a:r>
              <a:rPr lang="el-GR" altLang="zh-TW" sz="2000" dirty="0"/>
              <a:t>Ω</a:t>
            </a:r>
            <a:r>
              <a:rPr lang="en-US" altLang="zh-TW" sz="2000" dirty="0"/>
              <a:t>)</a:t>
            </a:r>
          </a:p>
          <a:p>
            <a:pPr lvl="1">
              <a:lnSpc>
                <a:spcPct val="90000"/>
              </a:lnSpc>
            </a:pPr>
            <a:r>
              <a:rPr lang="en-US" altLang="zh-TW" sz="1800" dirty="0"/>
              <a:t>Placed at the two extreme ends of the bus.</a:t>
            </a:r>
          </a:p>
          <a:p>
            <a:pPr lvl="1">
              <a:lnSpc>
                <a:spcPct val="90000"/>
              </a:lnSpc>
            </a:pPr>
            <a:r>
              <a:rPr lang="en-US" altLang="zh-TW" sz="1800" dirty="0"/>
              <a:t>Purpose</a:t>
            </a:r>
            <a:r>
              <a:rPr lang="en-US" altLang="zh-TW" sz="1800" b="1" dirty="0"/>
              <a:t>:</a:t>
            </a:r>
            <a:r>
              <a:rPr lang="en-US" altLang="zh-TW" sz="1800" dirty="0"/>
              <a:t> To match the characteristic impedance of the cable and prevent signal reflections that can cause data corruption.</a:t>
            </a:r>
          </a:p>
          <a:p>
            <a:pPr lvl="1">
              <a:lnSpc>
                <a:spcPct val="90000"/>
              </a:lnSpc>
            </a:pPr>
            <a:endParaRPr lang="en-US" altLang="zh-TW" sz="1600" dirty="0"/>
          </a:p>
          <a:p>
            <a:pPr>
              <a:lnSpc>
                <a:spcPct val="90000"/>
              </a:lnSpc>
            </a:pPr>
            <a:r>
              <a:rPr lang="en-US" altLang="zh-TW" sz="2000" dirty="0"/>
              <a:t>Scalability:</a:t>
            </a:r>
            <a:r>
              <a:rPr lang="zh-TW" altLang="en-US" sz="2000" dirty="0"/>
              <a:t> </a:t>
            </a:r>
            <a:r>
              <a:rPr lang="en-US" altLang="zh-TW" sz="2000" dirty="0"/>
              <a:t>New nodes can be added easily without changing the entire wiring harness.</a:t>
            </a:r>
          </a:p>
        </p:txBody>
      </p:sp>
    </p:spTree>
    <p:extLst>
      <p:ext uri="{BB962C8B-B14F-4D97-AF65-F5344CB8AC3E}">
        <p14:creationId xmlns:p14="http://schemas.microsoft.com/office/powerpoint/2010/main" val="4334601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63601C-1624-F028-C986-F24804A61C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CD289E6-C08C-6B74-50F2-9CDFFA8ECB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8806" y="138151"/>
            <a:ext cx="8006387" cy="693397"/>
          </a:xfrm>
        </p:spPr>
        <p:txBody>
          <a:bodyPr/>
          <a:lstStyle/>
          <a:p>
            <a:r>
              <a:rPr lang="en-US" altLang="zh-TW" dirty="0"/>
              <a:t>Physical Layer Constraints &amp; Requirements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BFB925E-F218-3C61-4850-A7F8614C13A1}"/>
              </a:ext>
            </a:extLst>
          </p:cNvPr>
          <p:cNvSpPr txBox="1">
            <a:spLocks/>
          </p:cNvSpPr>
          <p:nvPr/>
        </p:nvSpPr>
        <p:spPr>
          <a:xfrm>
            <a:off x="466344" y="1078991"/>
            <a:ext cx="8211312" cy="3557017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Clr>
                <a:srgbClr val="FF6600"/>
              </a:buClr>
              <a:buSzPct val="50000"/>
              <a:buFont typeface="Wingdings" charset="2"/>
              <a:buChar char=""/>
              <a:defRPr sz="2400" kern="1200">
                <a:solidFill>
                  <a:srgbClr val="7F7F7F"/>
                </a:solidFill>
                <a:latin typeface="+mn-lt"/>
                <a:ea typeface="Microsoft JhengHei" panose="020B0604030504040204" pitchFamily="34" charset="-120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Clr>
                <a:srgbClr val="FF6600"/>
              </a:buClr>
              <a:buSzPct val="50000"/>
              <a:buFont typeface="Arial"/>
              <a:buChar char="–"/>
              <a:defRPr sz="2000" kern="1200">
                <a:solidFill>
                  <a:srgbClr val="7F7F7F"/>
                </a:solidFill>
                <a:latin typeface="+mn-lt"/>
                <a:ea typeface="Microsoft JhengHei" panose="020B0604030504040204" pitchFamily="34" charset="-120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Clr>
                <a:srgbClr val="FF6600"/>
              </a:buClr>
              <a:buFont typeface="Arial"/>
              <a:buChar char="•"/>
              <a:defRPr sz="1800" kern="1200">
                <a:solidFill>
                  <a:srgbClr val="7F7F7F"/>
                </a:solidFill>
                <a:latin typeface="+mn-lt"/>
                <a:ea typeface="Microsoft JhengHei" panose="020B0604030504040204" pitchFamily="34" charset="-120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Clr>
                <a:srgbClr val="FF6600"/>
              </a:buClr>
              <a:buSzPct val="50000"/>
              <a:buFont typeface="Arial"/>
              <a:buChar char="–"/>
              <a:defRPr sz="1600" kern="1200">
                <a:solidFill>
                  <a:srgbClr val="7F7F7F"/>
                </a:solidFill>
                <a:latin typeface="+mn-lt"/>
                <a:ea typeface="Microsoft JhengHei" panose="020B0604030504040204" pitchFamily="34" charset="-120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Clr>
                <a:srgbClr val="FF6600"/>
              </a:buClr>
              <a:buFont typeface="Arial"/>
              <a:buChar char="»"/>
              <a:defRPr sz="1600" kern="1200">
                <a:solidFill>
                  <a:srgbClr val="7F7F7F"/>
                </a:solidFill>
                <a:latin typeface="+mn-lt"/>
                <a:ea typeface="Microsoft JhengHei" panose="020B0604030504040204" pitchFamily="34" charset="-120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</a:pPr>
            <a:r>
              <a:rPr lang="en-US" altLang="zh-TW" sz="2000" dirty="0"/>
              <a:t>Bit Rate: Supports up to 1 Mbit/s for Classical CAN and up to 8 Mbit/s for CAN FD.</a:t>
            </a:r>
          </a:p>
          <a:p>
            <a:pPr>
              <a:lnSpc>
                <a:spcPct val="90000"/>
              </a:lnSpc>
            </a:pPr>
            <a:endParaRPr lang="en-US" altLang="zh-TW" sz="2000" dirty="0"/>
          </a:p>
          <a:p>
            <a:pPr>
              <a:lnSpc>
                <a:spcPct val="90000"/>
              </a:lnSpc>
            </a:pPr>
            <a:r>
              <a:rPr lang="en-US" altLang="zh-TW" sz="2000" dirty="0"/>
              <a:t>Cable Length vs. Speed: Maximum length is 500m (at 125 kbit/s) or 40m (at 1 Mbit/s).</a:t>
            </a:r>
          </a:p>
          <a:p>
            <a:pPr lvl="1">
              <a:lnSpc>
                <a:spcPct val="90000"/>
              </a:lnSpc>
            </a:pPr>
            <a:endParaRPr lang="en-US" altLang="zh-TW" sz="1600" dirty="0"/>
          </a:p>
          <a:p>
            <a:pPr>
              <a:lnSpc>
                <a:spcPct val="90000"/>
              </a:lnSpc>
            </a:pPr>
            <a:r>
              <a:rPr lang="en-US" altLang="zh-TW" sz="2000" dirty="0"/>
              <a:t>Hardware Requirement: Each end of the bus must be terminated with a 120 Ohm resistor.</a:t>
            </a:r>
          </a:p>
        </p:txBody>
      </p:sp>
    </p:spTree>
    <p:extLst>
      <p:ext uri="{BB962C8B-B14F-4D97-AF65-F5344CB8AC3E}">
        <p14:creationId xmlns:p14="http://schemas.microsoft.com/office/powerpoint/2010/main" val="19269977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8528A1-BEDC-C1D1-607B-C64D1C5C8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1E5DF2F-2EDA-7AC2-401E-50D4195ABD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8806" y="138151"/>
            <a:ext cx="8006387" cy="693397"/>
          </a:xfrm>
        </p:spPr>
        <p:txBody>
          <a:bodyPr/>
          <a:lstStyle/>
          <a:p>
            <a:r>
              <a:rPr lang="en-US" altLang="zh-TW" dirty="0"/>
              <a:t>Physical Layer Signaling: Dominant vs. Recessive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DB0DFCC-CE5E-6687-2144-9363400A3811}"/>
              </a:ext>
            </a:extLst>
          </p:cNvPr>
          <p:cNvSpPr txBox="1">
            <a:spLocks/>
          </p:cNvSpPr>
          <p:nvPr/>
        </p:nvSpPr>
        <p:spPr>
          <a:xfrm>
            <a:off x="457200" y="817376"/>
            <a:ext cx="8211312" cy="2522365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Clr>
                <a:srgbClr val="FF6600"/>
              </a:buClr>
              <a:buSzPct val="50000"/>
              <a:buFont typeface="Wingdings" charset="2"/>
              <a:buChar char=""/>
              <a:defRPr sz="2400" kern="1200">
                <a:solidFill>
                  <a:srgbClr val="7F7F7F"/>
                </a:solidFill>
                <a:latin typeface="+mn-lt"/>
                <a:ea typeface="Microsoft JhengHei" panose="020B0604030504040204" pitchFamily="34" charset="-120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Clr>
                <a:srgbClr val="FF6600"/>
              </a:buClr>
              <a:buSzPct val="50000"/>
              <a:buFont typeface="Arial"/>
              <a:buChar char="–"/>
              <a:defRPr sz="2000" kern="1200">
                <a:solidFill>
                  <a:srgbClr val="7F7F7F"/>
                </a:solidFill>
                <a:latin typeface="+mn-lt"/>
                <a:ea typeface="Microsoft JhengHei" panose="020B0604030504040204" pitchFamily="34" charset="-120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Clr>
                <a:srgbClr val="FF6600"/>
              </a:buClr>
              <a:buFont typeface="Arial"/>
              <a:buChar char="•"/>
              <a:defRPr sz="1800" kern="1200">
                <a:solidFill>
                  <a:srgbClr val="7F7F7F"/>
                </a:solidFill>
                <a:latin typeface="+mn-lt"/>
                <a:ea typeface="Microsoft JhengHei" panose="020B0604030504040204" pitchFamily="34" charset="-120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Clr>
                <a:srgbClr val="FF6600"/>
              </a:buClr>
              <a:buSzPct val="50000"/>
              <a:buFont typeface="Arial"/>
              <a:buChar char="–"/>
              <a:defRPr sz="1600" kern="1200">
                <a:solidFill>
                  <a:srgbClr val="7F7F7F"/>
                </a:solidFill>
                <a:latin typeface="+mn-lt"/>
                <a:ea typeface="Microsoft JhengHei" panose="020B0604030504040204" pitchFamily="34" charset="-120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Clr>
                <a:srgbClr val="FF6600"/>
              </a:buClr>
              <a:buFont typeface="Arial"/>
              <a:buChar char="»"/>
              <a:defRPr sz="1600" kern="1200">
                <a:solidFill>
                  <a:srgbClr val="7F7F7F"/>
                </a:solidFill>
                <a:latin typeface="+mn-lt"/>
                <a:ea typeface="Microsoft JhengHei" panose="020B0604030504040204" pitchFamily="34" charset="-120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</a:pPr>
            <a:r>
              <a:rPr lang="en-US" altLang="zh-TW" sz="2000" dirty="0"/>
              <a:t>Differential Signaling: Data is transmitted via a pair of wires (CAN High and CAN Low).</a:t>
            </a:r>
          </a:p>
          <a:p>
            <a:pPr>
              <a:lnSpc>
                <a:spcPct val="90000"/>
              </a:lnSpc>
            </a:pPr>
            <a:r>
              <a:rPr lang="en-US" altLang="zh-TW" sz="2000" dirty="0"/>
              <a:t>Logical States:</a:t>
            </a:r>
          </a:p>
          <a:p>
            <a:pPr lvl="1">
              <a:lnSpc>
                <a:spcPct val="90000"/>
              </a:lnSpc>
            </a:pPr>
            <a:r>
              <a:rPr lang="en-US" altLang="zh-TW" sz="1800" b="1" dirty="0"/>
              <a:t>Dominant (0):</a:t>
            </a:r>
            <a:r>
              <a:rPr lang="en-US" altLang="zh-TW" sz="1800" dirty="0"/>
              <a:t> Logic '0'. The bus is actively driven; it wins over recessive bits.</a:t>
            </a:r>
          </a:p>
          <a:p>
            <a:pPr lvl="1">
              <a:lnSpc>
                <a:spcPct val="90000"/>
              </a:lnSpc>
            </a:pPr>
            <a:r>
              <a:rPr lang="en-US" altLang="zh-TW" sz="1800" b="1" dirty="0"/>
              <a:t>Recessive (1):</a:t>
            </a:r>
            <a:r>
              <a:rPr lang="en-US" altLang="zh-TW" sz="1800" dirty="0"/>
              <a:t> Logic ‘1’. The bus is in a passive state, maintained by 120</a:t>
            </a:r>
            <a:r>
              <a:rPr lang="el-GR" altLang="zh-TW" sz="1800" dirty="0"/>
              <a:t> Ω</a:t>
            </a:r>
            <a:r>
              <a:rPr lang="zh-TW" altLang="en-US" sz="1800" dirty="0"/>
              <a:t> </a:t>
            </a:r>
            <a:r>
              <a:rPr lang="en-US" altLang="zh-TW" sz="1800" dirty="0"/>
              <a:t>termination resistors.</a:t>
            </a:r>
          </a:p>
          <a:p>
            <a:pPr>
              <a:lnSpc>
                <a:spcPct val="90000"/>
              </a:lnSpc>
            </a:pPr>
            <a:r>
              <a:rPr lang="en-US" altLang="zh-TW" sz="2000" dirty="0"/>
              <a:t>Noise Immunity: Differential signals cancel out common-mode electromagnetic interference.</a:t>
            </a:r>
          </a:p>
        </p:txBody>
      </p:sp>
      <p:pic>
        <p:nvPicPr>
          <p:cNvPr id="8" name="圖片 7" descr="一張含有 文字, 圖表, 字型, 行 的圖片&#10;&#10;AI 產生的內容可能不正確。">
            <a:extLst>
              <a:ext uri="{FF2B5EF4-FFF2-40B4-BE49-F238E27FC236}">
                <a16:creationId xmlns:a16="http://schemas.microsoft.com/office/drawing/2014/main" id="{E505FCFC-3778-C6AF-F302-EC7BFEDAFE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339741"/>
            <a:ext cx="4598822" cy="2028892"/>
          </a:xfrm>
          <a:prstGeom prst="rect">
            <a:avLst/>
          </a:prstGeom>
        </p:spPr>
      </p:pic>
      <p:pic>
        <p:nvPicPr>
          <p:cNvPr id="10" name="圖片 9" descr="一張含有 圖表, 行, 繪圖, 文字 的圖片&#10;&#10;AI 產生的內容可能不正確。">
            <a:extLst>
              <a:ext uri="{FF2B5EF4-FFF2-40B4-BE49-F238E27FC236}">
                <a16:creationId xmlns:a16="http://schemas.microsoft.com/office/drawing/2014/main" id="{7793BFCA-8F77-5280-78BE-706B0696C2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7448" y="3210260"/>
            <a:ext cx="4334256" cy="2287854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50DAE04E-E88B-1D31-C51E-CF8823B6B9A7}"/>
              </a:ext>
            </a:extLst>
          </p:cNvPr>
          <p:cNvSpPr txBox="1"/>
          <p:nvPr/>
        </p:nvSpPr>
        <p:spPr>
          <a:xfrm>
            <a:off x="457201" y="5313449"/>
            <a:ext cx="34107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>
                <a:ea typeface="Microsoft JhengHei" panose="020B0604030504040204" pitchFamily="34" charset="-120"/>
              </a:rPr>
              <a:t>Fig. 1: Differential mode signal in CAN bus</a:t>
            </a:r>
            <a:endParaRPr kumimoji="1" lang="zh-TW" altLang="en-US" sz="1200" dirty="0">
              <a:ea typeface="Microsoft JhengHei" panose="020B06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8E5883C8-2FEF-735C-97F1-03CBD8A14DBF}"/>
              </a:ext>
            </a:extLst>
          </p:cNvPr>
          <p:cNvSpPr txBox="1"/>
          <p:nvPr/>
        </p:nvSpPr>
        <p:spPr>
          <a:xfrm>
            <a:off x="4879849" y="5359614"/>
            <a:ext cx="34107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>
                <a:ea typeface="Microsoft JhengHei" panose="020B0604030504040204" pitchFamily="34" charset="-120"/>
              </a:rPr>
              <a:t>Fig. 2: CAN bus noise immunity</a:t>
            </a:r>
            <a:endParaRPr kumimoji="1" lang="zh-TW" altLang="en-US" sz="1200" dirty="0"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5991800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93A920-0832-9D9C-BC8D-A211D82686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2B39F7D-F73E-41F8-A674-A845BA7E03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8806" y="138151"/>
            <a:ext cx="8006387" cy="693397"/>
          </a:xfrm>
        </p:spPr>
        <p:txBody>
          <a:bodyPr/>
          <a:lstStyle/>
          <a:p>
            <a:r>
              <a:rPr lang="en-US" altLang="zh-TW" dirty="0"/>
              <a:t>Asynchronous &amp; Self-Synchronization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D58B36A-902D-8E26-3300-AD15501D5E7B}"/>
              </a:ext>
            </a:extLst>
          </p:cNvPr>
          <p:cNvSpPr txBox="1">
            <a:spLocks/>
          </p:cNvSpPr>
          <p:nvPr/>
        </p:nvSpPr>
        <p:spPr>
          <a:xfrm>
            <a:off x="568805" y="1067745"/>
            <a:ext cx="8108849" cy="2169231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Clr>
                <a:srgbClr val="FF6600"/>
              </a:buClr>
              <a:buSzPct val="50000"/>
              <a:buFont typeface="Wingdings" charset="2"/>
              <a:buChar char=""/>
              <a:defRPr sz="2400" kern="1200">
                <a:solidFill>
                  <a:srgbClr val="7F7F7F"/>
                </a:solidFill>
                <a:latin typeface="+mn-lt"/>
                <a:ea typeface="Microsoft JhengHei" panose="020B0604030504040204" pitchFamily="34" charset="-120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Clr>
                <a:srgbClr val="FF6600"/>
              </a:buClr>
              <a:buSzPct val="50000"/>
              <a:buFont typeface="Arial"/>
              <a:buChar char="–"/>
              <a:defRPr sz="2000" kern="1200">
                <a:solidFill>
                  <a:srgbClr val="7F7F7F"/>
                </a:solidFill>
                <a:latin typeface="+mn-lt"/>
                <a:ea typeface="Microsoft JhengHei" panose="020B0604030504040204" pitchFamily="34" charset="-120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Clr>
                <a:srgbClr val="FF6600"/>
              </a:buClr>
              <a:buFont typeface="Arial"/>
              <a:buChar char="•"/>
              <a:defRPr sz="1800" kern="1200">
                <a:solidFill>
                  <a:srgbClr val="7F7F7F"/>
                </a:solidFill>
                <a:latin typeface="+mn-lt"/>
                <a:ea typeface="Microsoft JhengHei" panose="020B0604030504040204" pitchFamily="34" charset="-120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Clr>
                <a:srgbClr val="FF6600"/>
              </a:buClr>
              <a:buSzPct val="50000"/>
              <a:buFont typeface="Arial"/>
              <a:buChar char="–"/>
              <a:defRPr sz="1600" kern="1200">
                <a:solidFill>
                  <a:srgbClr val="7F7F7F"/>
                </a:solidFill>
                <a:latin typeface="+mn-lt"/>
                <a:ea typeface="Microsoft JhengHei" panose="020B0604030504040204" pitchFamily="34" charset="-120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Clr>
                <a:srgbClr val="FF6600"/>
              </a:buClr>
              <a:buFont typeface="Arial"/>
              <a:buChar char="»"/>
              <a:defRPr sz="1600" kern="1200">
                <a:solidFill>
                  <a:srgbClr val="7F7F7F"/>
                </a:solidFill>
                <a:latin typeface="+mn-lt"/>
                <a:ea typeface="Microsoft JhengHei" panose="020B0604030504040204" pitchFamily="34" charset="-120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</a:pPr>
            <a:r>
              <a:rPr lang="en-US" altLang="zh-TW" sz="2000" dirty="0"/>
              <a:t>Asynchronous Nature: No dedicated clock line (saves weight and cost).</a:t>
            </a:r>
          </a:p>
          <a:p>
            <a:pPr>
              <a:lnSpc>
                <a:spcPct val="90000"/>
              </a:lnSpc>
            </a:pPr>
            <a:r>
              <a:rPr lang="en-US" altLang="zh-TW" sz="2000" dirty="0"/>
              <a:t>Synchronization Strategy:</a:t>
            </a:r>
          </a:p>
          <a:p>
            <a:pPr lvl="1">
              <a:lnSpc>
                <a:spcPct val="90000"/>
              </a:lnSpc>
            </a:pPr>
            <a:r>
              <a:rPr lang="en-US" altLang="zh-TW" sz="1600" b="1" dirty="0"/>
              <a:t>Hard Sync:</a:t>
            </a:r>
            <a:r>
              <a:rPr lang="en-US" altLang="zh-TW" sz="1600" dirty="0"/>
              <a:t> Occurs on the falling edge of the Start of Frame (SOF) bit.</a:t>
            </a:r>
          </a:p>
          <a:p>
            <a:pPr lvl="1">
              <a:lnSpc>
                <a:spcPct val="90000"/>
              </a:lnSpc>
            </a:pPr>
            <a:r>
              <a:rPr lang="en-US" altLang="zh-TW" sz="1600" b="1" dirty="0"/>
              <a:t>Resynchronization:</a:t>
            </a:r>
            <a:r>
              <a:rPr lang="en-US" altLang="zh-TW" sz="1600" dirty="0"/>
              <a:t> Maintained throughout the frame using edges created by </a:t>
            </a:r>
            <a:r>
              <a:rPr lang="en-US" altLang="zh-TW" sz="1600" b="1" dirty="0"/>
              <a:t>Bit Stuffing</a:t>
            </a:r>
            <a:r>
              <a:rPr lang="en-US" altLang="zh-TW" sz="1600" dirty="0"/>
              <a:t>.</a:t>
            </a:r>
          </a:p>
          <a:p>
            <a:pPr>
              <a:lnSpc>
                <a:spcPct val="90000"/>
              </a:lnSpc>
            </a:pPr>
            <a:r>
              <a:rPr lang="en-US" altLang="zh-TW" sz="2000" b="1" dirty="0"/>
              <a:t>Bit Stuffing Rule</a:t>
            </a:r>
            <a:r>
              <a:rPr lang="en-US" altLang="zh-TW" sz="2000" dirty="0"/>
              <a:t>: After five consecutive bits of the same polarity, a bit of opposite polarity is automatically inserted.</a:t>
            </a:r>
          </a:p>
          <a:p>
            <a:pPr>
              <a:lnSpc>
                <a:spcPct val="90000"/>
              </a:lnSpc>
            </a:pPr>
            <a:endParaRPr lang="en-US" altLang="zh-TW" sz="2000" dirty="0"/>
          </a:p>
          <a:p>
            <a:pPr>
              <a:lnSpc>
                <a:spcPct val="90000"/>
              </a:lnSpc>
            </a:pPr>
            <a:endParaRPr lang="en-US" altLang="zh-TW" sz="2000" dirty="0"/>
          </a:p>
        </p:txBody>
      </p:sp>
      <p:pic>
        <p:nvPicPr>
          <p:cNvPr id="9" name="圖片 8" descr="一張含有 文字, 行, 字型, 繪圖 的圖片&#10;&#10;AI 產生的內容可能不正確。">
            <a:extLst>
              <a:ext uri="{FF2B5EF4-FFF2-40B4-BE49-F238E27FC236}">
                <a16:creationId xmlns:a16="http://schemas.microsoft.com/office/drawing/2014/main" id="{60291833-C162-F264-E8A8-F9C5D0AF2D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383835"/>
            <a:ext cx="8183880" cy="233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43293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FD7D76D-5DA7-4EF5-2366-6C13EB0249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CAN Frame Types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671CECD-4C11-79F0-17F9-0C958C9B563E}"/>
              </a:ext>
            </a:extLst>
          </p:cNvPr>
          <p:cNvSpPr txBox="1">
            <a:spLocks/>
          </p:cNvSpPr>
          <p:nvPr/>
        </p:nvSpPr>
        <p:spPr>
          <a:xfrm>
            <a:off x="457200" y="1036832"/>
            <a:ext cx="8211312" cy="4193536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Clr>
                <a:srgbClr val="FF6600"/>
              </a:buClr>
              <a:buSzPct val="50000"/>
              <a:buFont typeface="Wingdings" charset="2"/>
              <a:buChar char=""/>
              <a:defRPr sz="2400" kern="1200">
                <a:solidFill>
                  <a:srgbClr val="7F7F7F"/>
                </a:solidFill>
                <a:latin typeface="+mn-lt"/>
                <a:ea typeface="Microsoft JhengHei" panose="020B0604030504040204" pitchFamily="34" charset="-120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Clr>
                <a:srgbClr val="FF6600"/>
              </a:buClr>
              <a:buSzPct val="50000"/>
              <a:buFont typeface="Arial"/>
              <a:buChar char="–"/>
              <a:defRPr sz="2000" kern="1200">
                <a:solidFill>
                  <a:srgbClr val="7F7F7F"/>
                </a:solidFill>
                <a:latin typeface="+mn-lt"/>
                <a:ea typeface="Microsoft JhengHei" panose="020B0604030504040204" pitchFamily="34" charset="-120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Clr>
                <a:srgbClr val="FF6600"/>
              </a:buClr>
              <a:buFont typeface="Arial"/>
              <a:buChar char="•"/>
              <a:defRPr sz="1800" kern="1200">
                <a:solidFill>
                  <a:srgbClr val="7F7F7F"/>
                </a:solidFill>
                <a:latin typeface="+mn-lt"/>
                <a:ea typeface="Microsoft JhengHei" panose="020B0604030504040204" pitchFamily="34" charset="-120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Clr>
                <a:srgbClr val="FF6600"/>
              </a:buClr>
              <a:buSzPct val="50000"/>
              <a:buFont typeface="Arial"/>
              <a:buChar char="–"/>
              <a:defRPr sz="1600" kern="1200">
                <a:solidFill>
                  <a:srgbClr val="7F7F7F"/>
                </a:solidFill>
                <a:latin typeface="+mn-lt"/>
                <a:ea typeface="Microsoft JhengHei" panose="020B0604030504040204" pitchFamily="34" charset="-120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Clr>
                <a:srgbClr val="FF6600"/>
              </a:buClr>
              <a:buFont typeface="Arial"/>
              <a:buChar char="»"/>
              <a:defRPr sz="1600" kern="1200">
                <a:solidFill>
                  <a:srgbClr val="7F7F7F"/>
                </a:solidFill>
                <a:latin typeface="+mn-lt"/>
                <a:ea typeface="Microsoft JhengHei" panose="020B0604030504040204" pitchFamily="34" charset="-120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b="1" dirty="0"/>
              <a:t>Data frame</a:t>
            </a:r>
            <a:r>
              <a:rPr lang="en-US" altLang="zh-TW" dirty="0"/>
              <a:t>: a frame containing node data for transmission</a:t>
            </a:r>
          </a:p>
          <a:p>
            <a:endParaRPr lang="en-US" altLang="zh-TW" dirty="0"/>
          </a:p>
          <a:p>
            <a:r>
              <a:rPr lang="en-US" altLang="zh-TW" dirty="0"/>
              <a:t>Remote frame: a frame requesting the transmission of a specific identifier</a:t>
            </a:r>
            <a:r>
              <a:rPr lang="zh-TW" altLang="en-US" dirty="0"/>
              <a:t> </a:t>
            </a:r>
            <a:endParaRPr lang="en-US" altLang="zh-TW" dirty="0"/>
          </a:p>
          <a:p>
            <a:endParaRPr lang="en-US" altLang="zh-TW" dirty="0"/>
          </a:p>
          <a:p>
            <a:r>
              <a:rPr lang="en-US" altLang="zh-TW" b="1" dirty="0"/>
              <a:t>Error frame</a:t>
            </a:r>
            <a:r>
              <a:rPr lang="en-US" altLang="zh-TW" dirty="0"/>
              <a:t>: a frame transmitted by any node detecting an error</a:t>
            </a:r>
          </a:p>
          <a:p>
            <a:endParaRPr lang="en-US" altLang="zh-TW" dirty="0"/>
          </a:p>
          <a:p>
            <a:pPr>
              <a:lnSpc>
                <a:spcPct val="90000"/>
              </a:lnSpc>
            </a:pPr>
            <a:r>
              <a:rPr lang="en-US" altLang="zh-TW" dirty="0"/>
              <a:t>Overload frame: a frame to inject a delay between data or remote frame</a:t>
            </a:r>
          </a:p>
          <a:p>
            <a:pPr>
              <a:lnSpc>
                <a:spcPct val="90000"/>
              </a:lnSpc>
            </a:pPr>
            <a:endParaRPr lang="en-US" altLang="zh-TW" sz="2000" dirty="0"/>
          </a:p>
          <a:p>
            <a:pPr>
              <a:lnSpc>
                <a:spcPct val="90000"/>
              </a:lnSpc>
            </a:pPr>
            <a:endParaRPr lang="en-US" altLang="zh-TW" sz="2000" dirty="0"/>
          </a:p>
          <a:p>
            <a:pPr>
              <a:lnSpc>
                <a:spcPct val="90000"/>
              </a:lnSpc>
            </a:pPr>
            <a:endParaRPr lang="en-US" altLang="zh-TW" sz="2000" dirty="0"/>
          </a:p>
          <a:p>
            <a:pPr>
              <a:lnSpc>
                <a:spcPct val="90000"/>
              </a:lnSpc>
            </a:pPr>
            <a:endParaRPr lang="en-US" altLang="zh-TW" sz="2000" dirty="0"/>
          </a:p>
        </p:txBody>
      </p:sp>
    </p:spTree>
    <p:extLst>
      <p:ext uri="{BB962C8B-B14F-4D97-AF65-F5344CB8AC3E}">
        <p14:creationId xmlns:p14="http://schemas.microsoft.com/office/powerpoint/2010/main" val="26568615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C5E1B2-9E1D-31CF-4B09-9EAAB6515D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1AF9605-9DF5-6370-45B3-85204A20B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CAN Frame Types – Data Frame</a:t>
            </a:r>
            <a:endParaRPr lang="zh-TW" altLang="en-US" dirty="0"/>
          </a:p>
        </p:txBody>
      </p:sp>
      <p:pic>
        <p:nvPicPr>
          <p:cNvPr id="5" name="圖片 4" descr="一張含有 文字, 圖表, 螢幕擷取畫面, 平行 的圖片&#10;&#10;AI 產生的內容可能不正確。">
            <a:extLst>
              <a:ext uri="{FF2B5EF4-FFF2-40B4-BE49-F238E27FC236}">
                <a16:creationId xmlns:a16="http://schemas.microsoft.com/office/drawing/2014/main" id="{CEDF5584-935F-3EEA-3134-E32FC24F45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801" y="831548"/>
            <a:ext cx="7125317" cy="4305673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3DB4B09F-F572-8D9D-DFBA-DE14794D8B9A}"/>
              </a:ext>
            </a:extLst>
          </p:cNvPr>
          <p:cNvSpPr txBox="1"/>
          <p:nvPr/>
        </p:nvSpPr>
        <p:spPr>
          <a:xfrm>
            <a:off x="604812" y="5276088"/>
            <a:ext cx="28790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en-US" altLang="zh-TW" dirty="0">
                <a:ea typeface="Microsoft JhengHei" panose="020B0604030504040204" pitchFamily="34" charset="-120"/>
              </a:rPr>
              <a:t>SOF:</a:t>
            </a:r>
            <a:r>
              <a:rPr kumimoji="1" lang="zh-TW" altLang="en-US" dirty="0">
                <a:ea typeface="Microsoft JhengHei" panose="020B0604030504040204" pitchFamily="34" charset="-120"/>
              </a:rPr>
              <a:t> </a:t>
            </a:r>
            <a:r>
              <a:rPr kumimoji="1" lang="en-US" altLang="zh-TW" dirty="0">
                <a:ea typeface="Microsoft JhengHei" panose="020B0604030504040204" pitchFamily="34" charset="-120"/>
              </a:rPr>
              <a:t>Start of Frame</a:t>
            </a:r>
            <a:endParaRPr kumimoji="1" lang="zh-TW" altLang="en-US" dirty="0">
              <a:ea typeface="Microsoft JhengHei" panose="020B0604030504040204" pitchFamily="34" charset="-12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6E7C2648-9EC7-A248-23A6-E2F95AADED4A}"/>
              </a:ext>
            </a:extLst>
          </p:cNvPr>
          <p:cNvSpPr txBox="1"/>
          <p:nvPr/>
        </p:nvSpPr>
        <p:spPr>
          <a:xfrm>
            <a:off x="3282696" y="785749"/>
            <a:ext cx="14447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en-US" altLang="zh-TW" dirty="0">
                <a:ea typeface="Microsoft JhengHei" panose="020B0604030504040204" pitchFamily="34" charset="-120"/>
              </a:rPr>
              <a:t>CAN</a:t>
            </a:r>
            <a:r>
              <a:rPr kumimoji="1" lang="zh-TW" altLang="en-US" dirty="0">
                <a:ea typeface="Microsoft JhengHei" panose="020B0604030504040204" pitchFamily="34" charset="-120"/>
              </a:rPr>
              <a:t> </a:t>
            </a:r>
            <a:r>
              <a:rPr kumimoji="1" lang="en-US" altLang="zh-TW" dirty="0">
                <a:ea typeface="Microsoft JhengHei" panose="020B0604030504040204" pitchFamily="34" charset="-120"/>
              </a:rPr>
              <a:t>2.0A</a:t>
            </a:r>
            <a:endParaRPr kumimoji="1" lang="zh-TW" altLang="en-US" dirty="0">
              <a:ea typeface="Microsoft JhengHei" panose="020B0604030504040204" pitchFamily="34" charset="-12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60B651F-FD21-064A-4C71-6288BBBD2FE8}"/>
              </a:ext>
            </a:extLst>
          </p:cNvPr>
          <p:cNvSpPr txBox="1"/>
          <p:nvPr/>
        </p:nvSpPr>
        <p:spPr>
          <a:xfrm>
            <a:off x="3745992" y="2436482"/>
            <a:ext cx="14447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kumimoji="1" lang="en-US" altLang="zh-TW" dirty="0">
                <a:ea typeface="Microsoft JhengHei" panose="020B0604030504040204" pitchFamily="34" charset="-120"/>
              </a:rPr>
              <a:t>CAN</a:t>
            </a:r>
            <a:r>
              <a:rPr kumimoji="1" lang="zh-TW" altLang="en-US" dirty="0">
                <a:ea typeface="Microsoft JhengHei" panose="020B0604030504040204" pitchFamily="34" charset="-120"/>
              </a:rPr>
              <a:t> </a:t>
            </a:r>
            <a:r>
              <a:rPr kumimoji="1" lang="en-US" altLang="zh-TW" dirty="0">
                <a:ea typeface="Microsoft JhengHei" panose="020B0604030504040204" pitchFamily="34" charset="-120"/>
              </a:rPr>
              <a:t>2.0B</a:t>
            </a:r>
            <a:endParaRPr kumimoji="1" lang="zh-TW" altLang="en-US" dirty="0"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8373586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B471A3-75D7-2039-7CB5-7377A5AD82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B30DE4B-36A7-745E-68DD-CBC87F9EBF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8806" y="138151"/>
            <a:ext cx="8006387" cy="693397"/>
          </a:xfrm>
        </p:spPr>
        <p:txBody>
          <a:bodyPr/>
          <a:lstStyle/>
          <a:p>
            <a:r>
              <a:rPr lang="en-US" altLang="zh-TW" dirty="0"/>
              <a:t>Data Frame with Bit Stuffing Example</a:t>
            </a:r>
            <a:endParaRPr lang="zh-TW" altLang="en-US" dirty="0"/>
          </a:p>
        </p:txBody>
      </p:sp>
      <p:pic>
        <p:nvPicPr>
          <p:cNvPr id="5" name="圖片 4" descr="一張含有 鮮豔, 螢幕擷取畫面, 行, 正方形 的圖片&#10;&#10;AI 產生的內容可能不正確。">
            <a:extLst>
              <a:ext uri="{FF2B5EF4-FFF2-40B4-BE49-F238E27FC236}">
                <a16:creationId xmlns:a16="http://schemas.microsoft.com/office/drawing/2014/main" id="{4D1F5793-7EA8-6D06-D75D-FF70AF97AD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648" y="1233884"/>
            <a:ext cx="8931352" cy="4228438"/>
          </a:xfrm>
          <a:prstGeom prst="rect">
            <a:avLst/>
          </a:prstGeom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DEC995A8-ECE6-B514-BC46-D647DBAC123E}"/>
              </a:ext>
            </a:extLst>
          </p:cNvPr>
          <p:cNvSpPr txBox="1"/>
          <p:nvPr/>
        </p:nvSpPr>
        <p:spPr>
          <a:xfrm>
            <a:off x="484632" y="837338"/>
            <a:ext cx="65300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TW" dirty="0"/>
              <a:t>CAN frame before and after the addition of stuff bits (in purple). </a:t>
            </a:r>
            <a:endParaRPr kumimoji="1" lang="zh-TW" altLang="en-US" dirty="0"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1317487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DF2146-50A0-111B-CADA-B53051539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4F21FE7-17C7-0FF3-846B-87EA5B2FC0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Bus Arbitration (Priority-Based)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58704B7-6152-84A0-FD80-85531FBE9E95}"/>
              </a:ext>
            </a:extLst>
          </p:cNvPr>
          <p:cNvSpPr txBox="1">
            <a:spLocks/>
          </p:cNvSpPr>
          <p:nvPr/>
        </p:nvSpPr>
        <p:spPr>
          <a:xfrm>
            <a:off x="457200" y="1036832"/>
            <a:ext cx="8211312" cy="1377184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Clr>
                <a:srgbClr val="FF6600"/>
              </a:buClr>
              <a:buSzPct val="50000"/>
              <a:buFont typeface="Wingdings" charset="2"/>
              <a:buChar char=""/>
              <a:defRPr sz="2400" kern="1200">
                <a:solidFill>
                  <a:srgbClr val="7F7F7F"/>
                </a:solidFill>
                <a:latin typeface="+mn-lt"/>
                <a:ea typeface="Microsoft JhengHei" panose="020B0604030504040204" pitchFamily="34" charset="-120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Clr>
                <a:srgbClr val="FF6600"/>
              </a:buClr>
              <a:buSzPct val="50000"/>
              <a:buFont typeface="Arial"/>
              <a:buChar char="–"/>
              <a:defRPr sz="2000" kern="1200">
                <a:solidFill>
                  <a:srgbClr val="7F7F7F"/>
                </a:solidFill>
                <a:latin typeface="+mn-lt"/>
                <a:ea typeface="Microsoft JhengHei" panose="020B0604030504040204" pitchFamily="34" charset="-120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Clr>
                <a:srgbClr val="FF6600"/>
              </a:buClr>
              <a:buFont typeface="Arial"/>
              <a:buChar char="•"/>
              <a:defRPr sz="1800" kern="1200">
                <a:solidFill>
                  <a:srgbClr val="7F7F7F"/>
                </a:solidFill>
                <a:latin typeface="+mn-lt"/>
                <a:ea typeface="Microsoft JhengHei" panose="020B0604030504040204" pitchFamily="34" charset="-120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Clr>
                <a:srgbClr val="FF6600"/>
              </a:buClr>
              <a:buSzPct val="50000"/>
              <a:buFont typeface="Arial"/>
              <a:buChar char="–"/>
              <a:defRPr sz="1600" kern="1200">
                <a:solidFill>
                  <a:srgbClr val="7F7F7F"/>
                </a:solidFill>
                <a:latin typeface="+mn-lt"/>
                <a:ea typeface="Microsoft JhengHei" panose="020B0604030504040204" pitchFamily="34" charset="-120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Clr>
                <a:srgbClr val="FF6600"/>
              </a:buClr>
              <a:buFont typeface="Arial"/>
              <a:buChar char="»"/>
              <a:defRPr sz="1600" kern="1200">
                <a:solidFill>
                  <a:srgbClr val="7F7F7F"/>
                </a:solidFill>
                <a:latin typeface="+mn-lt"/>
                <a:ea typeface="Microsoft JhengHei" panose="020B0604030504040204" pitchFamily="34" charset="-120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sz="2000" b="1" dirty="0"/>
              <a:t>Non-destructive:</a:t>
            </a:r>
            <a:r>
              <a:rPr lang="en-US" altLang="zh-TW" sz="2000" dirty="0"/>
              <a:t> Nodes monitor the bus while sending.</a:t>
            </a:r>
          </a:p>
          <a:p>
            <a:r>
              <a:rPr lang="en-US" altLang="zh-TW" sz="2000" b="1" dirty="0"/>
              <a:t>Logic:</a:t>
            </a:r>
            <a:r>
              <a:rPr lang="en-US" altLang="zh-TW" sz="2000" dirty="0"/>
              <a:t> If a node sends a 1 (Recessive) but hears a 0 (Dominant), it yields to the other node.</a:t>
            </a:r>
          </a:p>
          <a:p>
            <a:r>
              <a:rPr lang="en-US" altLang="zh-TW" sz="2000" b="1" dirty="0"/>
              <a:t>Result:</a:t>
            </a:r>
            <a:r>
              <a:rPr lang="en-US" altLang="zh-TW" sz="2000" dirty="0"/>
              <a:t> The lower the ID number, the higher the priority on the bus.</a:t>
            </a:r>
          </a:p>
          <a:p>
            <a:pPr>
              <a:lnSpc>
                <a:spcPct val="90000"/>
              </a:lnSpc>
            </a:pPr>
            <a:endParaRPr lang="en-US" altLang="zh-TW" sz="2000" dirty="0"/>
          </a:p>
          <a:p>
            <a:pPr>
              <a:lnSpc>
                <a:spcPct val="90000"/>
              </a:lnSpc>
            </a:pPr>
            <a:endParaRPr lang="en-US" altLang="zh-TW" sz="2000" dirty="0"/>
          </a:p>
          <a:p>
            <a:pPr>
              <a:lnSpc>
                <a:spcPct val="90000"/>
              </a:lnSpc>
            </a:pPr>
            <a:endParaRPr lang="en-US" altLang="zh-TW" sz="2000" dirty="0"/>
          </a:p>
        </p:txBody>
      </p:sp>
      <p:pic>
        <p:nvPicPr>
          <p:cNvPr id="9" name="圖片 8" descr="一張含有 文字, 螢幕擷取畫面, 字型, 數字 的圖片&#10;&#10;AI 產生的內容可能不正確。">
            <a:extLst>
              <a:ext uri="{FF2B5EF4-FFF2-40B4-BE49-F238E27FC236}">
                <a16:creationId xmlns:a16="http://schemas.microsoft.com/office/drawing/2014/main" id="{7E8E6549-731F-1519-E1A1-3F2BE5FC86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4415" y="2709824"/>
            <a:ext cx="6800850" cy="2867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95505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18DA36-E90B-B782-8887-BB94F8E4E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A60C749-58E6-4323-3277-D3B8F76F8C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DLC (Data Length Code) for CAN and CAN FD</a:t>
            </a:r>
            <a:endParaRPr lang="zh-TW" altLang="en-US" dirty="0"/>
          </a:p>
        </p:txBody>
      </p:sp>
      <p:pic>
        <p:nvPicPr>
          <p:cNvPr id="5" name="圖片 4" descr="一張含有 文字, 數字, 螢幕擷取畫面, 字型 的圖片&#10;&#10;AI 產生的內容可能不正確。">
            <a:extLst>
              <a:ext uri="{FF2B5EF4-FFF2-40B4-BE49-F238E27FC236}">
                <a16:creationId xmlns:a16="http://schemas.microsoft.com/office/drawing/2014/main" id="{86F6F967-0126-76EF-1B5A-1335F38F11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7374" y="1182623"/>
            <a:ext cx="5121402" cy="4040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44332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751ED-94BA-F2C3-1D54-7B7246AA2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0E86C27-1337-8CA5-6D0D-3ECA20B515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CAN Frame CRC &amp; ACK Mechanism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0F6210A-7AA1-538F-C747-A2E060A70E46}"/>
              </a:ext>
            </a:extLst>
          </p:cNvPr>
          <p:cNvSpPr txBox="1">
            <a:spLocks/>
          </p:cNvSpPr>
          <p:nvPr/>
        </p:nvSpPr>
        <p:spPr>
          <a:xfrm>
            <a:off x="457200" y="1060290"/>
            <a:ext cx="2450592" cy="4012714"/>
          </a:xfrm>
          <a:prstGeom prst="rect">
            <a:avLst/>
          </a:prstGeom>
        </p:spPr>
        <p:txBody>
          <a:bodyPr>
            <a:normAutofit fontScale="85000" lnSpcReduction="100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Clr>
                <a:srgbClr val="FF6600"/>
              </a:buClr>
              <a:buSzPct val="50000"/>
              <a:buFont typeface="Wingdings" charset="2"/>
              <a:buChar char=""/>
              <a:defRPr sz="2400" kern="1200">
                <a:solidFill>
                  <a:srgbClr val="7F7F7F"/>
                </a:solidFill>
                <a:latin typeface="+mn-lt"/>
                <a:ea typeface="Microsoft JhengHei" panose="020B0604030504040204" pitchFamily="34" charset="-120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Clr>
                <a:srgbClr val="FF6600"/>
              </a:buClr>
              <a:buSzPct val="50000"/>
              <a:buFont typeface="Arial"/>
              <a:buChar char="–"/>
              <a:defRPr sz="2000" kern="1200">
                <a:solidFill>
                  <a:srgbClr val="7F7F7F"/>
                </a:solidFill>
                <a:latin typeface="+mn-lt"/>
                <a:ea typeface="Microsoft JhengHei" panose="020B0604030504040204" pitchFamily="34" charset="-120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Clr>
                <a:srgbClr val="FF6600"/>
              </a:buClr>
              <a:buFont typeface="Arial"/>
              <a:buChar char="•"/>
              <a:defRPr sz="1800" kern="1200">
                <a:solidFill>
                  <a:srgbClr val="7F7F7F"/>
                </a:solidFill>
                <a:latin typeface="+mn-lt"/>
                <a:ea typeface="Microsoft JhengHei" panose="020B0604030504040204" pitchFamily="34" charset="-120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Clr>
                <a:srgbClr val="FF6600"/>
              </a:buClr>
              <a:buSzPct val="50000"/>
              <a:buFont typeface="Arial"/>
              <a:buChar char="–"/>
              <a:defRPr sz="1600" kern="1200">
                <a:solidFill>
                  <a:srgbClr val="7F7F7F"/>
                </a:solidFill>
                <a:latin typeface="+mn-lt"/>
                <a:ea typeface="Microsoft JhengHei" panose="020B0604030504040204" pitchFamily="34" charset="-120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Clr>
                <a:srgbClr val="FF6600"/>
              </a:buClr>
              <a:buFont typeface="Arial"/>
              <a:buChar char="»"/>
              <a:defRPr sz="1600" kern="1200">
                <a:solidFill>
                  <a:srgbClr val="7F7F7F"/>
                </a:solidFill>
                <a:latin typeface="+mn-lt"/>
                <a:ea typeface="Microsoft JhengHei" panose="020B0604030504040204" pitchFamily="34" charset="-120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sz="2000" b="1" dirty="0"/>
              <a:t>Delimiters:</a:t>
            </a:r>
            <a:r>
              <a:rPr lang="en-US" altLang="zh-TW" sz="2000" dirty="0"/>
              <a:t> 1-bit Recessive gaps (CRC/ACK Delimiters) for hardware processing.</a:t>
            </a:r>
          </a:p>
          <a:p>
            <a:r>
              <a:rPr lang="en-US" altLang="zh-TW" sz="2000" b="1" dirty="0"/>
              <a:t>ACK Mechanism:</a:t>
            </a:r>
            <a:r>
              <a:rPr lang="en-US" altLang="zh-TW" sz="2000" dirty="0"/>
              <a:t> Receivers pull the bus Dominant in the ACK slot to confirm valid reception.</a:t>
            </a:r>
          </a:p>
          <a:p>
            <a:r>
              <a:rPr lang="en-US" altLang="zh-TW" sz="2000" b="1" dirty="0"/>
              <a:t>Error Check:</a:t>
            </a:r>
            <a:r>
              <a:rPr lang="en-US" altLang="zh-TW" sz="2000" dirty="0"/>
              <a:t> If no ACK is detected, the transmitter triggers an ACK Error.</a:t>
            </a:r>
          </a:p>
          <a:p>
            <a:pPr>
              <a:lnSpc>
                <a:spcPct val="90000"/>
              </a:lnSpc>
            </a:pPr>
            <a:endParaRPr lang="en-US" altLang="zh-TW" sz="2000" dirty="0"/>
          </a:p>
          <a:p>
            <a:pPr>
              <a:lnSpc>
                <a:spcPct val="90000"/>
              </a:lnSpc>
            </a:pPr>
            <a:endParaRPr lang="en-US" altLang="zh-TW" sz="2000" dirty="0"/>
          </a:p>
          <a:p>
            <a:pPr>
              <a:lnSpc>
                <a:spcPct val="90000"/>
              </a:lnSpc>
            </a:pPr>
            <a:endParaRPr lang="en-US" altLang="zh-TW" sz="2000" dirty="0"/>
          </a:p>
        </p:txBody>
      </p:sp>
      <p:pic>
        <p:nvPicPr>
          <p:cNvPr id="7" name="圖片 6" descr="一張含有 文字, 螢幕擷取畫面, 行, 字型 的圖片&#10;&#10;AI 產生的內容可能不正確。">
            <a:extLst>
              <a:ext uri="{FF2B5EF4-FFF2-40B4-BE49-F238E27FC236}">
                <a16:creationId xmlns:a16="http://schemas.microsoft.com/office/drawing/2014/main" id="{1CF759E7-9010-CE1E-CECB-527E13A8D2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0672" y="1022213"/>
            <a:ext cx="5925186" cy="4012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92863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5987BF-A964-CE2E-EE67-6335B94CC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A58A5A-E430-BA27-9D79-D92A6EF4DB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End of Frame</a:t>
            </a:r>
            <a:r>
              <a:rPr lang="zh-TW" altLang="en-US" dirty="0"/>
              <a:t> </a:t>
            </a:r>
            <a:r>
              <a:rPr lang="en-US" altLang="zh-TW" dirty="0"/>
              <a:t>(EOF) and Interframe Space </a:t>
            </a:r>
            <a:endParaRPr lang="zh-TW" altLang="en-US" dirty="0"/>
          </a:p>
        </p:txBody>
      </p:sp>
      <p:pic>
        <p:nvPicPr>
          <p:cNvPr id="6" name="圖片 5" descr="一張含有 文字, 螢幕擷取畫面, 字型, 行 的圖片&#10;&#10;AI 產生的內容可能不正確。">
            <a:extLst>
              <a:ext uri="{FF2B5EF4-FFF2-40B4-BE49-F238E27FC236}">
                <a16:creationId xmlns:a16="http://schemas.microsoft.com/office/drawing/2014/main" id="{6AB561ED-61C5-BEA9-C4CB-B130DD5988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812" y="1056132"/>
            <a:ext cx="6081287" cy="1699407"/>
          </a:xfrm>
          <a:prstGeom prst="rect">
            <a:avLst/>
          </a:prstGeom>
        </p:spPr>
      </p:pic>
      <p:pic>
        <p:nvPicPr>
          <p:cNvPr id="10" name="圖片 9" descr="一張含有 文字, 螢幕擷取畫面, 行, 圖表 的圖片&#10;&#10;AI 產生的內容可能不正確。">
            <a:extLst>
              <a:ext uri="{FF2B5EF4-FFF2-40B4-BE49-F238E27FC236}">
                <a16:creationId xmlns:a16="http://schemas.microsoft.com/office/drawing/2014/main" id="{51873BA0-26AD-7953-BC7D-FB4537BA72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753" y="3161100"/>
            <a:ext cx="3894157" cy="2415749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944AF19D-7D85-A4CC-745D-BFD152502019}"/>
              </a:ext>
            </a:extLst>
          </p:cNvPr>
          <p:cNvSpPr txBox="1"/>
          <p:nvPr/>
        </p:nvSpPr>
        <p:spPr>
          <a:xfrm>
            <a:off x="4361094" y="4549149"/>
            <a:ext cx="2816946" cy="36933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zh-TW" dirty="0"/>
              <a:t>IFS: 3 bits, recessive</a:t>
            </a:r>
          </a:p>
        </p:txBody>
      </p:sp>
    </p:spTree>
    <p:extLst>
      <p:ext uri="{BB962C8B-B14F-4D97-AF65-F5344CB8AC3E}">
        <p14:creationId xmlns:p14="http://schemas.microsoft.com/office/powerpoint/2010/main" val="2067617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E3BE53-ACB2-63CE-67EC-F0181E8A1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A83A2C-8A8F-D709-0D42-E195AD6990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Five Error Detection Mechanisms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E6A8601-EF3E-2F03-9CA8-B534D1AF9937}"/>
              </a:ext>
            </a:extLst>
          </p:cNvPr>
          <p:cNvSpPr txBox="1">
            <a:spLocks/>
          </p:cNvSpPr>
          <p:nvPr/>
        </p:nvSpPr>
        <p:spPr>
          <a:xfrm>
            <a:off x="457200" y="1060290"/>
            <a:ext cx="8229600" cy="3529998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Clr>
                <a:srgbClr val="FF6600"/>
              </a:buClr>
              <a:buSzPct val="50000"/>
              <a:buFont typeface="Wingdings" charset="2"/>
              <a:buChar char=""/>
              <a:defRPr sz="2400" kern="1200">
                <a:solidFill>
                  <a:srgbClr val="7F7F7F"/>
                </a:solidFill>
                <a:latin typeface="+mn-lt"/>
                <a:ea typeface="Microsoft JhengHei" panose="020B0604030504040204" pitchFamily="34" charset="-120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Clr>
                <a:srgbClr val="FF6600"/>
              </a:buClr>
              <a:buSzPct val="50000"/>
              <a:buFont typeface="Arial"/>
              <a:buChar char="–"/>
              <a:defRPr sz="2000" kern="1200">
                <a:solidFill>
                  <a:srgbClr val="7F7F7F"/>
                </a:solidFill>
                <a:latin typeface="+mn-lt"/>
                <a:ea typeface="Microsoft JhengHei" panose="020B0604030504040204" pitchFamily="34" charset="-120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Clr>
                <a:srgbClr val="FF6600"/>
              </a:buClr>
              <a:buFont typeface="Arial"/>
              <a:buChar char="•"/>
              <a:defRPr sz="1800" kern="1200">
                <a:solidFill>
                  <a:srgbClr val="7F7F7F"/>
                </a:solidFill>
                <a:latin typeface="+mn-lt"/>
                <a:ea typeface="Microsoft JhengHei" panose="020B0604030504040204" pitchFamily="34" charset="-120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Clr>
                <a:srgbClr val="FF6600"/>
              </a:buClr>
              <a:buSzPct val="50000"/>
              <a:buFont typeface="Arial"/>
              <a:buChar char="–"/>
              <a:defRPr sz="1600" kern="1200">
                <a:solidFill>
                  <a:srgbClr val="7F7F7F"/>
                </a:solidFill>
                <a:latin typeface="+mn-lt"/>
                <a:ea typeface="Microsoft JhengHei" panose="020B0604030504040204" pitchFamily="34" charset="-120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Clr>
                <a:srgbClr val="FF6600"/>
              </a:buClr>
              <a:buFont typeface="Arial"/>
              <a:buChar char="»"/>
              <a:defRPr sz="1600" kern="1200">
                <a:solidFill>
                  <a:srgbClr val="7F7F7F"/>
                </a:solidFill>
                <a:latin typeface="+mn-lt"/>
                <a:ea typeface="Microsoft JhengHei" panose="020B0604030504040204" pitchFamily="34" charset="-120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sz="2000" b="1" dirty="0"/>
              <a:t>Bit Error:</a:t>
            </a:r>
            <a:r>
              <a:rPr lang="en-US" altLang="zh-TW" sz="2000" dirty="0"/>
              <a:t> Sent bit doesn't match monitored bus level.</a:t>
            </a:r>
          </a:p>
          <a:p>
            <a:r>
              <a:rPr lang="en-US" altLang="zh-TW" sz="2000" b="1" dirty="0"/>
              <a:t>Stuff Error:</a:t>
            </a:r>
            <a:r>
              <a:rPr lang="en-US" altLang="zh-TW" sz="2000" dirty="0"/>
              <a:t> Violation of the 5+1 stuffing rule.</a:t>
            </a:r>
          </a:p>
          <a:p>
            <a:r>
              <a:rPr lang="en-US" altLang="zh-TW" sz="2000" b="1" dirty="0"/>
              <a:t>CRC Error:</a:t>
            </a:r>
            <a:r>
              <a:rPr lang="en-US" altLang="zh-TW" sz="2000" dirty="0"/>
              <a:t> Checksum mismatch.</a:t>
            </a:r>
          </a:p>
          <a:p>
            <a:r>
              <a:rPr lang="en-US" altLang="zh-TW" sz="2000" b="1" dirty="0"/>
              <a:t>Form Error:</a:t>
            </a:r>
            <a:r>
              <a:rPr lang="en-US" altLang="zh-TW" sz="2000" dirty="0"/>
              <a:t> Dominant bit found in a fixed Recessive field (Delimiter/EOF).</a:t>
            </a:r>
          </a:p>
          <a:p>
            <a:r>
              <a:rPr lang="en-US" altLang="zh-TW" sz="2000" b="1" dirty="0"/>
              <a:t>ACK Error:</a:t>
            </a:r>
            <a:r>
              <a:rPr lang="en-US" altLang="zh-TW" sz="2000" dirty="0"/>
              <a:t> No receiver drove the bus dominant.</a:t>
            </a:r>
          </a:p>
          <a:p>
            <a:pPr>
              <a:lnSpc>
                <a:spcPct val="90000"/>
              </a:lnSpc>
            </a:pPr>
            <a:endParaRPr lang="en-US" altLang="zh-TW" sz="2000" dirty="0"/>
          </a:p>
          <a:p>
            <a:pPr>
              <a:lnSpc>
                <a:spcPct val="90000"/>
              </a:lnSpc>
            </a:pPr>
            <a:endParaRPr lang="en-US" altLang="zh-TW" sz="2000" dirty="0"/>
          </a:p>
          <a:p>
            <a:pPr>
              <a:lnSpc>
                <a:spcPct val="90000"/>
              </a:lnSpc>
            </a:pPr>
            <a:endParaRPr lang="en-US" altLang="zh-TW" sz="2000" dirty="0"/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861C1020-17EC-6F72-03A8-249D19E3B41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7297426"/>
              </p:ext>
            </p:extLst>
          </p:nvPr>
        </p:nvGraphicFramePr>
        <p:xfrm>
          <a:off x="136588" y="3218688"/>
          <a:ext cx="8870252" cy="1828800"/>
        </p:xfrm>
        <a:graphic>
          <a:graphicData uri="http://schemas.openxmlformats.org/drawingml/2006/table">
            <a:tbl>
              <a:tblPr/>
              <a:tblGrid>
                <a:gridCol w="465804">
                  <a:extLst>
                    <a:ext uri="{9D8B030D-6E8A-4147-A177-3AD203B41FA5}">
                      <a16:colId xmlns:a16="http://schemas.microsoft.com/office/drawing/2014/main" val="614369212"/>
                    </a:ext>
                  </a:extLst>
                </a:gridCol>
                <a:gridCol w="1530032">
                  <a:extLst>
                    <a:ext uri="{9D8B030D-6E8A-4147-A177-3AD203B41FA5}">
                      <a16:colId xmlns:a16="http://schemas.microsoft.com/office/drawing/2014/main" val="2513275385"/>
                    </a:ext>
                  </a:extLst>
                </a:gridCol>
                <a:gridCol w="1781208">
                  <a:extLst>
                    <a:ext uri="{9D8B030D-6E8A-4147-A177-3AD203B41FA5}">
                      <a16:colId xmlns:a16="http://schemas.microsoft.com/office/drawing/2014/main" val="3706818098"/>
                    </a:ext>
                  </a:extLst>
                </a:gridCol>
                <a:gridCol w="2350008">
                  <a:extLst>
                    <a:ext uri="{9D8B030D-6E8A-4147-A177-3AD203B41FA5}">
                      <a16:colId xmlns:a16="http://schemas.microsoft.com/office/drawing/2014/main" val="183919796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172560283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400"/>
                        <a:t>#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Error </a:t>
                      </a:r>
                      <a:r>
                        <a:rPr lang="zh-TW" altLang="en-US" sz="1400" dirty="0"/>
                        <a:t>類型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400"/>
                        <a:t>偵測者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400" dirty="0"/>
                        <a:t>發生在哪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400" dirty="0"/>
                        <a:t>例外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80811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40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Bit Error</a:t>
                      </a:r>
                      <a:endParaRPr lang="en-US" sz="14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400" dirty="0"/>
                        <a:t>傳送端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400" dirty="0"/>
                        <a:t>任一 </a:t>
                      </a:r>
                      <a:r>
                        <a:rPr lang="en-US" sz="1400" dirty="0"/>
                        <a:t>bit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400" dirty="0"/>
                        <a:t>Arbitration stage and ACK slot</a:t>
                      </a: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08337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40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Stuff Error</a:t>
                      </a:r>
                      <a:endParaRPr lang="en-US" sz="14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400"/>
                        <a:t>接收端（所有節點）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400" dirty="0"/>
                        <a:t>SOF</a:t>
                      </a:r>
                      <a:r>
                        <a:rPr lang="zh-TW" altLang="en-US" sz="1400" dirty="0"/>
                        <a:t> </a:t>
                      </a:r>
                      <a:r>
                        <a:rPr lang="en-US" altLang="zh-TW" sz="1400" dirty="0"/>
                        <a:t>to</a:t>
                      </a:r>
                      <a:r>
                        <a:rPr lang="zh-TW" altLang="en-US" sz="1400" dirty="0"/>
                        <a:t> </a:t>
                      </a:r>
                      <a:r>
                        <a:rPr lang="en-US" altLang="zh-TW" sz="1400" dirty="0"/>
                        <a:t>CRC</a:t>
                      </a:r>
                      <a:endParaRPr lang="zh-TW" altLang="en-US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400" dirty="0"/>
                        <a:t>CRC/ACK delimiter</a:t>
                      </a:r>
                      <a:r>
                        <a:rPr lang="zh-TW" altLang="en-US" sz="1400" dirty="0"/>
                        <a:t> </a:t>
                      </a:r>
                      <a:r>
                        <a:rPr lang="en-US" altLang="zh-TW" sz="1400" dirty="0"/>
                        <a:t>and EOF</a:t>
                      </a:r>
                      <a:endParaRPr lang="zh-TW" altLang="en-US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28111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40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CRC Error</a:t>
                      </a:r>
                      <a:endParaRPr lang="en-US" sz="14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400" dirty="0"/>
                        <a:t>接收端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CRC field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4322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40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Form Error</a:t>
                      </a:r>
                      <a:endParaRPr lang="en-US" sz="14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400" dirty="0"/>
                        <a:t>接收端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400" dirty="0"/>
                        <a:t>CRC/ACK delimiter and EOF</a:t>
                      </a:r>
                      <a:endParaRPr lang="zh-TW" altLang="en-US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TW" altLang="en-US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39036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400" dirty="0"/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ACK Error</a:t>
                      </a:r>
                      <a:endParaRPr lang="en-US" sz="14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400"/>
                        <a:t>傳送端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ACK slot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4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57137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81724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47ADDFF-6FA7-8AF3-E200-242349B92D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Error Frames &amp; Propagation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EBCABC7-2DA4-3802-93D3-BB446A376B3A}"/>
              </a:ext>
            </a:extLst>
          </p:cNvPr>
          <p:cNvSpPr txBox="1">
            <a:spLocks/>
          </p:cNvSpPr>
          <p:nvPr/>
        </p:nvSpPr>
        <p:spPr>
          <a:xfrm>
            <a:off x="457200" y="1060290"/>
            <a:ext cx="8229600" cy="150003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Clr>
                <a:srgbClr val="FF6600"/>
              </a:buClr>
              <a:buSzPct val="50000"/>
              <a:buFont typeface="Wingdings" charset="2"/>
              <a:buChar char=""/>
              <a:defRPr sz="2400" kern="1200">
                <a:solidFill>
                  <a:srgbClr val="7F7F7F"/>
                </a:solidFill>
                <a:latin typeface="+mn-lt"/>
                <a:ea typeface="Microsoft JhengHei" panose="020B0604030504040204" pitchFamily="34" charset="-120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Clr>
                <a:srgbClr val="FF6600"/>
              </a:buClr>
              <a:buSzPct val="50000"/>
              <a:buFont typeface="Arial"/>
              <a:buChar char="–"/>
              <a:defRPr sz="2000" kern="1200">
                <a:solidFill>
                  <a:srgbClr val="7F7F7F"/>
                </a:solidFill>
                <a:latin typeface="+mn-lt"/>
                <a:ea typeface="Microsoft JhengHei" panose="020B0604030504040204" pitchFamily="34" charset="-120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Clr>
                <a:srgbClr val="FF6600"/>
              </a:buClr>
              <a:buFont typeface="Arial"/>
              <a:buChar char="•"/>
              <a:defRPr sz="1800" kern="1200">
                <a:solidFill>
                  <a:srgbClr val="7F7F7F"/>
                </a:solidFill>
                <a:latin typeface="+mn-lt"/>
                <a:ea typeface="Microsoft JhengHei" panose="020B0604030504040204" pitchFamily="34" charset="-120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Clr>
                <a:srgbClr val="FF6600"/>
              </a:buClr>
              <a:buSzPct val="50000"/>
              <a:buFont typeface="Arial"/>
              <a:buChar char="–"/>
              <a:defRPr sz="1600" kern="1200">
                <a:solidFill>
                  <a:srgbClr val="7F7F7F"/>
                </a:solidFill>
                <a:latin typeface="+mn-lt"/>
                <a:ea typeface="Microsoft JhengHei" panose="020B0604030504040204" pitchFamily="34" charset="-120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Clr>
                <a:srgbClr val="FF6600"/>
              </a:buClr>
              <a:buFont typeface="Arial"/>
              <a:buChar char="»"/>
              <a:defRPr sz="1600" kern="1200">
                <a:solidFill>
                  <a:srgbClr val="7F7F7F"/>
                </a:solidFill>
                <a:latin typeface="+mn-lt"/>
                <a:ea typeface="Microsoft JhengHei" panose="020B0604030504040204" pitchFamily="34" charset="-120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sz="2000" b="1" dirty="0"/>
              <a:t>Active Error Flag:</a:t>
            </a:r>
            <a:r>
              <a:rPr lang="en-US" altLang="zh-TW" sz="2000" dirty="0"/>
              <a:t> 6 Dominant bits sent by healthy nodes to destroy a corrupted frame.</a:t>
            </a:r>
          </a:p>
          <a:p>
            <a:r>
              <a:rPr lang="en-US" altLang="zh-TW" sz="2000" b="1" dirty="0"/>
              <a:t>Passive Error Flag:</a:t>
            </a:r>
            <a:r>
              <a:rPr lang="en-US" altLang="zh-TW" sz="2000" dirty="0"/>
              <a:t> 6 Recessive bits sent by degraded nodes.</a:t>
            </a:r>
          </a:p>
          <a:p>
            <a:r>
              <a:rPr lang="en-US" altLang="zh-TW" sz="2000" b="1" dirty="0"/>
              <a:t>Global Consistency:</a:t>
            </a:r>
            <a:r>
              <a:rPr lang="en-US" altLang="zh-TW" sz="2000" dirty="0"/>
              <a:t> All nodes discard the frame if an error is detected.</a:t>
            </a:r>
          </a:p>
          <a:p>
            <a:pPr>
              <a:lnSpc>
                <a:spcPct val="90000"/>
              </a:lnSpc>
            </a:pPr>
            <a:endParaRPr lang="en-US" altLang="zh-TW" sz="2000" dirty="0"/>
          </a:p>
          <a:p>
            <a:pPr>
              <a:lnSpc>
                <a:spcPct val="90000"/>
              </a:lnSpc>
            </a:pPr>
            <a:endParaRPr lang="en-US" altLang="zh-TW" sz="2000" dirty="0"/>
          </a:p>
        </p:txBody>
      </p:sp>
      <p:pic>
        <p:nvPicPr>
          <p:cNvPr id="5" name="圖片 4" descr="一張含有 文字, 螢幕擷取畫面, 行, 圖表 的圖片&#10;&#10;AI 產生的內容可能不正確。">
            <a:extLst>
              <a:ext uri="{FF2B5EF4-FFF2-40B4-BE49-F238E27FC236}">
                <a16:creationId xmlns:a16="http://schemas.microsoft.com/office/drawing/2014/main" id="{B79B84DE-9DD2-3307-2BBE-0140D8610F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8065" y="2789062"/>
            <a:ext cx="5410669" cy="2568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30266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DF6B1C-12DD-6C24-D3FC-0EA2979DD8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5A97091-DE14-D929-0BAE-95D92D4F7D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Fault Confinement &amp; Error Management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8833F79-1114-9344-DF7C-0031A6E1DC23}"/>
              </a:ext>
            </a:extLst>
          </p:cNvPr>
          <p:cNvSpPr txBox="1">
            <a:spLocks/>
          </p:cNvSpPr>
          <p:nvPr/>
        </p:nvSpPr>
        <p:spPr>
          <a:xfrm>
            <a:off x="457200" y="977994"/>
            <a:ext cx="8229600" cy="2048670"/>
          </a:xfrm>
          <a:prstGeom prst="rect">
            <a:avLst/>
          </a:prstGeom>
        </p:spPr>
        <p:txBody>
          <a:bodyPr>
            <a:normAutofit fontScale="92500" lnSpcReduction="100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Clr>
                <a:srgbClr val="FF6600"/>
              </a:buClr>
              <a:buSzPct val="50000"/>
              <a:buFont typeface="Wingdings" charset="2"/>
              <a:buChar char=""/>
              <a:defRPr sz="2400" kern="1200">
                <a:solidFill>
                  <a:srgbClr val="7F7F7F"/>
                </a:solidFill>
                <a:latin typeface="+mn-lt"/>
                <a:ea typeface="Microsoft JhengHei" panose="020B0604030504040204" pitchFamily="34" charset="-120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Clr>
                <a:srgbClr val="FF6600"/>
              </a:buClr>
              <a:buSzPct val="50000"/>
              <a:buFont typeface="Arial"/>
              <a:buChar char="–"/>
              <a:defRPr sz="2000" kern="1200">
                <a:solidFill>
                  <a:srgbClr val="7F7F7F"/>
                </a:solidFill>
                <a:latin typeface="+mn-lt"/>
                <a:ea typeface="Microsoft JhengHei" panose="020B0604030504040204" pitchFamily="34" charset="-120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Clr>
                <a:srgbClr val="FF6600"/>
              </a:buClr>
              <a:buFont typeface="Arial"/>
              <a:buChar char="•"/>
              <a:defRPr sz="1800" kern="1200">
                <a:solidFill>
                  <a:srgbClr val="7F7F7F"/>
                </a:solidFill>
                <a:latin typeface="+mn-lt"/>
                <a:ea typeface="Microsoft JhengHei" panose="020B0604030504040204" pitchFamily="34" charset="-120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Clr>
                <a:srgbClr val="FF6600"/>
              </a:buClr>
              <a:buSzPct val="50000"/>
              <a:buFont typeface="Arial"/>
              <a:buChar char="–"/>
              <a:defRPr sz="1600" kern="1200">
                <a:solidFill>
                  <a:srgbClr val="7F7F7F"/>
                </a:solidFill>
                <a:latin typeface="+mn-lt"/>
                <a:ea typeface="Microsoft JhengHei" panose="020B0604030504040204" pitchFamily="34" charset="-120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Clr>
                <a:srgbClr val="FF6600"/>
              </a:buClr>
              <a:buFont typeface="Arial"/>
              <a:buChar char="»"/>
              <a:defRPr sz="1600" kern="1200">
                <a:solidFill>
                  <a:srgbClr val="7F7F7F"/>
                </a:solidFill>
                <a:latin typeface="+mn-lt"/>
                <a:ea typeface="Microsoft JhengHei" panose="020B0604030504040204" pitchFamily="34" charset="-120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sz="2000" b="1" dirty="0"/>
              <a:t>The Core Objective:</a:t>
            </a:r>
          </a:p>
          <a:p>
            <a:pPr lvl="1"/>
            <a:r>
              <a:rPr lang="en-US" altLang="zh-TW" sz="1600" b="1" dirty="0"/>
              <a:t>Isolate Faulty Nodes:</a:t>
            </a:r>
            <a:r>
              <a:rPr lang="en-US" altLang="zh-TW" sz="1600" dirty="0"/>
              <a:t> Prevent a single malfunctioning node from paralyzing the entire network.</a:t>
            </a:r>
          </a:p>
          <a:p>
            <a:pPr lvl="1"/>
            <a:r>
              <a:rPr lang="en-US" altLang="zh-TW" sz="1600" b="1" dirty="0"/>
              <a:t>System Resilience:</a:t>
            </a:r>
            <a:r>
              <a:rPr lang="en-US" altLang="zh-TW" sz="1600" dirty="0"/>
              <a:t> Balance the need for global error notification with the need for bandwidth availability.</a:t>
            </a:r>
            <a:endParaRPr lang="en-US" altLang="zh-TW" sz="1600" b="1" dirty="0"/>
          </a:p>
          <a:p>
            <a:r>
              <a:rPr lang="en-US" altLang="zh-TW" sz="2000" b="1" dirty="0"/>
              <a:t>Error Counters:</a:t>
            </a:r>
            <a:r>
              <a:rPr lang="en-US" altLang="zh-TW" sz="2000" dirty="0"/>
              <a:t> Tracking TEC (Transmit) and REC (Receive) errors.</a:t>
            </a:r>
          </a:p>
          <a:p>
            <a:r>
              <a:rPr lang="en-US" altLang="zh-TW" sz="2000" b="1" dirty="0"/>
              <a:t>States:</a:t>
            </a:r>
            <a:r>
              <a:rPr lang="en-US" altLang="zh-TW" sz="2000" dirty="0"/>
              <a:t> Error Active (Normal), Error Passive (Degraded), and Bus Off (Isolated).</a:t>
            </a:r>
          </a:p>
          <a:p>
            <a:r>
              <a:rPr lang="en-US" altLang="zh-TW" sz="2000" b="1" dirty="0"/>
              <a:t>Recovery:</a:t>
            </a:r>
            <a:r>
              <a:rPr lang="en-US" altLang="zh-TW" sz="2000" dirty="0"/>
              <a:t> TEC &gt; 255 puts a node into Bus Off to protect the network.</a:t>
            </a:r>
          </a:p>
          <a:p>
            <a:pPr>
              <a:lnSpc>
                <a:spcPct val="90000"/>
              </a:lnSpc>
            </a:pPr>
            <a:endParaRPr lang="en-US" altLang="zh-TW" sz="2000" dirty="0"/>
          </a:p>
          <a:p>
            <a:pPr>
              <a:lnSpc>
                <a:spcPct val="90000"/>
              </a:lnSpc>
            </a:pPr>
            <a:endParaRPr lang="en-US" altLang="zh-TW" sz="2000" dirty="0"/>
          </a:p>
        </p:txBody>
      </p:sp>
      <p:pic>
        <p:nvPicPr>
          <p:cNvPr id="6" name="圖片 5" descr="一張含有 文字, 螢幕擷取畫面, 圓形, 圖表 的圖片&#10;&#10;AI 產生的內容可能不正確。">
            <a:extLst>
              <a:ext uri="{FF2B5EF4-FFF2-40B4-BE49-F238E27FC236}">
                <a16:creationId xmlns:a16="http://schemas.microsoft.com/office/drawing/2014/main" id="{91F65E3C-89B1-3B24-DB09-877D5F8902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3704" y="3072491"/>
            <a:ext cx="4608576" cy="2583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06766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A08A67-D0AE-C517-C6B1-7F5D535C97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CDD3AD6-1A7A-4107-F3CF-4B2801C68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Evolution: CAN FD (Flexible Data-Rate) Features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EE01375-D696-F5A9-7A25-0FCECF84C8B4}"/>
              </a:ext>
            </a:extLst>
          </p:cNvPr>
          <p:cNvSpPr txBox="1">
            <a:spLocks/>
          </p:cNvSpPr>
          <p:nvPr/>
        </p:nvSpPr>
        <p:spPr>
          <a:xfrm>
            <a:off x="191861" y="1060290"/>
            <a:ext cx="3328416" cy="4023774"/>
          </a:xfrm>
          <a:prstGeom prst="rect">
            <a:avLst/>
          </a:prstGeom>
        </p:spPr>
        <p:txBody>
          <a:bodyPr>
            <a:normAutofit fontScale="77500" lnSpcReduction="200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Clr>
                <a:srgbClr val="FF6600"/>
              </a:buClr>
              <a:buSzPct val="50000"/>
              <a:buFont typeface="Wingdings" charset="2"/>
              <a:buChar char=""/>
              <a:defRPr sz="2400" kern="1200">
                <a:solidFill>
                  <a:srgbClr val="7F7F7F"/>
                </a:solidFill>
                <a:latin typeface="+mn-lt"/>
                <a:ea typeface="Microsoft JhengHei" panose="020B0604030504040204" pitchFamily="34" charset="-120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Clr>
                <a:srgbClr val="FF6600"/>
              </a:buClr>
              <a:buSzPct val="50000"/>
              <a:buFont typeface="Arial"/>
              <a:buChar char="–"/>
              <a:defRPr sz="2000" kern="1200">
                <a:solidFill>
                  <a:srgbClr val="7F7F7F"/>
                </a:solidFill>
                <a:latin typeface="+mn-lt"/>
                <a:ea typeface="Microsoft JhengHei" panose="020B0604030504040204" pitchFamily="34" charset="-120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Clr>
                <a:srgbClr val="FF6600"/>
              </a:buClr>
              <a:buFont typeface="Arial"/>
              <a:buChar char="•"/>
              <a:defRPr sz="1800" kern="1200">
                <a:solidFill>
                  <a:srgbClr val="7F7F7F"/>
                </a:solidFill>
                <a:latin typeface="+mn-lt"/>
                <a:ea typeface="Microsoft JhengHei" panose="020B0604030504040204" pitchFamily="34" charset="-120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Clr>
                <a:srgbClr val="FF6600"/>
              </a:buClr>
              <a:buSzPct val="50000"/>
              <a:buFont typeface="Arial"/>
              <a:buChar char="–"/>
              <a:defRPr sz="1600" kern="1200">
                <a:solidFill>
                  <a:srgbClr val="7F7F7F"/>
                </a:solidFill>
                <a:latin typeface="+mn-lt"/>
                <a:ea typeface="Microsoft JhengHei" panose="020B0604030504040204" pitchFamily="34" charset="-120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Clr>
                <a:srgbClr val="FF6600"/>
              </a:buClr>
              <a:buFont typeface="Arial"/>
              <a:buChar char="»"/>
              <a:defRPr sz="1600" kern="1200">
                <a:solidFill>
                  <a:srgbClr val="7F7F7F"/>
                </a:solidFill>
                <a:latin typeface="+mn-lt"/>
                <a:ea typeface="Microsoft JhengHei" panose="020B0604030504040204" pitchFamily="34" charset="-120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sz="2000" b="1" dirty="0"/>
              <a:t>Speed:</a:t>
            </a:r>
            <a:r>
              <a:rPr lang="en-US" altLang="zh-TW" sz="2000" dirty="0"/>
              <a:t> Dual bitrate allows the data phase to run much faster than the arbitration phase. </a:t>
            </a:r>
          </a:p>
          <a:p>
            <a:r>
              <a:rPr lang="en-US" altLang="zh-TW" sz="2000" b="1" dirty="0"/>
              <a:t>Payload:</a:t>
            </a:r>
            <a:r>
              <a:rPr lang="en-US" altLang="zh-TW" sz="2000" dirty="0"/>
              <a:t> Expands from 8 bytes to 64 bytes. </a:t>
            </a:r>
          </a:p>
          <a:p>
            <a:r>
              <a:rPr lang="en-US" altLang="zh-TW" sz="2000" b="1" dirty="0"/>
              <a:t>Incompatibility:</a:t>
            </a:r>
            <a:r>
              <a:rPr lang="en-US" altLang="zh-TW" sz="2000" dirty="0"/>
              <a:t> Standard CAN controllers will treat CAN FD frames as errors.</a:t>
            </a:r>
          </a:p>
          <a:p>
            <a:r>
              <a:rPr lang="en-US" altLang="zh-TW" sz="2000" b="1" dirty="0"/>
              <a:t>STC (Stuff Count):</a:t>
            </a:r>
            <a:r>
              <a:rPr lang="en-US" altLang="zh-TW" sz="2000" dirty="0"/>
              <a:t> A Gray-coded counter that ensures the number of stuff bits is correct.</a:t>
            </a:r>
          </a:p>
          <a:p>
            <a:r>
              <a:rPr lang="en-US" altLang="zh-TW" sz="2000" b="1" dirty="0"/>
              <a:t>ESI (Error State Indicator):</a:t>
            </a:r>
            <a:r>
              <a:rPr lang="en-US" altLang="zh-TW" sz="2000" dirty="0"/>
              <a:t> A bit that tells other nodes if the sender is currently Error Active or Passive.</a:t>
            </a:r>
          </a:p>
          <a:p>
            <a:r>
              <a:rPr lang="en-US" altLang="zh-TW" sz="2000" b="1" dirty="0"/>
              <a:t>FDF (FD Format):</a:t>
            </a:r>
          </a:p>
          <a:p>
            <a:pPr lvl="1"/>
            <a:r>
              <a:rPr lang="en-US" altLang="zh-TW" sz="1600" b="1" dirty="0"/>
              <a:t>1: </a:t>
            </a:r>
            <a:r>
              <a:rPr lang="en-US" altLang="zh-TW" sz="1600" dirty="0"/>
              <a:t>CAN FD frame</a:t>
            </a:r>
          </a:p>
          <a:p>
            <a:pPr lvl="1"/>
            <a:r>
              <a:rPr lang="en-US" altLang="zh-TW" sz="1600" b="1" dirty="0"/>
              <a:t>0: </a:t>
            </a:r>
            <a:r>
              <a:rPr lang="en-US" altLang="zh-TW" sz="1600" dirty="0"/>
              <a:t>Classical CAN</a:t>
            </a:r>
            <a:endParaRPr lang="en-US" altLang="zh-TW" sz="1600" b="1" dirty="0"/>
          </a:p>
        </p:txBody>
      </p:sp>
      <p:pic>
        <p:nvPicPr>
          <p:cNvPr id="5" name="圖片 4" descr="一張含有 文字, 螢幕擷取畫面, 陳列, 圖表 的圖片&#10;&#10;AI 產生的內容可能不正確。">
            <a:extLst>
              <a:ext uri="{FF2B5EF4-FFF2-40B4-BE49-F238E27FC236}">
                <a16:creationId xmlns:a16="http://schemas.microsoft.com/office/drawing/2014/main" id="{92EB1D3E-35C3-4B48-A497-B98533CA88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5022" y="1405173"/>
            <a:ext cx="5538978" cy="31018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62473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6D925C0-F4F6-3F04-82B4-CC67D57C30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CAN FD Frame Structure with Bit Rate Switching</a:t>
            </a:r>
            <a:endParaRPr lang="zh-TW" altLang="en-US" dirty="0"/>
          </a:p>
        </p:txBody>
      </p:sp>
      <p:pic>
        <p:nvPicPr>
          <p:cNvPr id="4" name="圖片 3" descr="一張含有 文字, 螢幕擷取畫面, Rectangle, 平行 的圖片&#10;&#10;AI 產生的內容可能不正確。">
            <a:extLst>
              <a:ext uri="{FF2B5EF4-FFF2-40B4-BE49-F238E27FC236}">
                <a16:creationId xmlns:a16="http://schemas.microsoft.com/office/drawing/2014/main" id="{1DBABA66-FE7C-08ED-0699-BFEF4A21CF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96268"/>
            <a:ext cx="9144000" cy="2887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3702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445EA2-713A-14CB-449A-C97E935FA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1B27C4E-CF56-C8C4-E198-8505A7EE09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Frame Comparison: Classic CAN vs. CAN FD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9D4313D-AC13-52A9-0EE9-7D243E1C8A5C}"/>
              </a:ext>
            </a:extLst>
          </p:cNvPr>
          <p:cNvSpPr txBox="1">
            <a:spLocks/>
          </p:cNvSpPr>
          <p:nvPr/>
        </p:nvSpPr>
        <p:spPr>
          <a:xfrm>
            <a:off x="457200" y="1036832"/>
            <a:ext cx="8211312" cy="2895088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Clr>
                <a:srgbClr val="FF6600"/>
              </a:buClr>
              <a:buSzPct val="50000"/>
              <a:buFont typeface="Wingdings" charset="2"/>
              <a:buChar char=""/>
              <a:defRPr sz="2400" kern="1200">
                <a:solidFill>
                  <a:srgbClr val="7F7F7F"/>
                </a:solidFill>
                <a:latin typeface="+mn-lt"/>
                <a:ea typeface="Microsoft JhengHei" panose="020B0604030504040204" pitchFamily="34" charset="-120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Clr>
                <a:srgbClr val="FF6600"/>
              </a:buClr>
              <a:buSzPct val="50000"/>
              <a:buFont typeface="Arial"/>
              <a:buChar char="–"/>
              <a:defRPr sz="2000" kern="1200">
                <a:solidFill>
                  <a:srgbClr val="7F7F7F"/>
                </a:solidFill>
                <a:latin typeface="+mn-lt"/>
                <a:ea typeface="Microsoft JhengHei" panose="020B0604030504040204" pitchFamily="34" charset="-120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Clr>
                <a:srgbClr val="FF6600"/>
              </a:buClr>
              <a:buFont typeface="Arial"/>
              <a:buChar char="•"/>
              <a:defRPr sz="1800" kern="1200">
                <a:solidFill>
                  <a:srgbClr val="7F7F7F"/>
                </a:solidFill>
                <a:latin typeface="+mn-lt"/>
                <a:ea typeface="Microsoft JhengHei" panose="020B0604030504040204" pitchFamily="34" charset="-120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Clr>
                <a:srgbClr val="FF6600"/>
              </a:buClr>
              <a:buSzPct val="50000"/>
              <a:buFont typeface="Arial"/>
              <a:buChar char="–"/>
              <a:defRPr sz="1600" kern="1200">
                <a:solidFill>
                  <a:srgbClr val="7F7F7F"/>
                </a:solidFill>
                <a:latin typeface="+mn-lt"/>
                <a:ea typeface="Microsoft JhengHei" panose="020B0604030504040204" pitchFamily="34" charset="-120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Clr>
                <a:srgbClr val="FF6600"/>
              </a:buClr>
              <a:buFont typeface="Arial"/>
              <a:buChar char="»"/>
              <a:defRPr sz="1600" kern="1200">
                <a:solidFill>
                  <a:srgbClr val="7F7F7F"/>
                </a:solidFill>
                <a:latin typeface="+mn-lt"/>
                <a:ea typeface="Microsoft JhengHei" panose="020B0604030504040204" pitchFamily="34" charset="-120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</a:pPr>
            <a:r>
              <a:rPr lang="en-US" altLang="zh-TW" sz="2000" b="1" dirty="0"/>
              <a:t>Classic CAN:</a:t>
            </a:r>
            <a:r>
              <a:rPr lang="en-US" altLang="zh-TW" sz="2000" dirty="0"/>
              <a:t> Fixed speed and 8-byte limit.</a:t>
            </a:r>
          </a:p>
          <a:p>
            <a:pPr>
              <a:lnSpc>
                <a:spcPct val="90000"/>
              </a:lnSpc>
            </a:pPr>
            <a:endParaRPr lang="en-US" altLang="zh-TW" sz="2000" dirty="0"/>
          </a:p>
          <a:p>
            <a:pPr>
              <a:lnSpc>
                <a:spcPct val="90000"/>
              </a:lnSpc>
            </a:pPr>
            <a:r>
              <a:rPr lang="en-US" altLang="zh-TW" sz="2000" b="1" dirty="0"/>
              <a:t>CAN FD (No Speed Switch):</a:t>
            </a:r>
            <a:r>
              <a:rPr lang="en-US" altLang="zh-TW" sz="2000" dirty="0"/>
              <a:t> Adds new control bits (FDF, BRS, ESI) but keeps arbitration speed.: No dedicated clock line (saves weight and cost).</a:t>
            </a:r>
          </a:p>
          <a:p>
            <a:pPr>
              <a:lnSpc>
                <a:spcPct val="90000"/>
              </a:lnSpc>
            </a:pPr>
            <a:endParaRPr lang="en-US" altLang="zh-TW" sz="2000" dirty="0"/>
          </a:p>
          <a:p>
            <a:pPr>
              <a:lnSpc>
                <a:spcPct val="90000"/>
              </a:lnSpc>
            </a:pPr>
            <a:r>
              <a:rPr lang="en-US" altLang="zh-TW" sz="2000" b="1" dirty="0"/>
              <a:t>CAN FD (Speed Switch):</a:t>
            </a:r>
            <a:r>
              <a:rPr lang="en-US" altLang="zh-TW" sz="2000" dirty="0"/>
              <a:t> Increases speed during the Data/CRC phase.</a:t>
            </a:r>
          </a:p>
          <a:p>
            <a:pPr>
              <a:lnSpc>
                <a:spcPct val="90000"/>
              </a:lnSpc>
            </a:pPr>
            <a:endParaRPr lang="en-US" altLang="zh-TW" sz="2000" dirty="0"/>
          </a:p>
          <a:p>
            <a:pPr>
              <a:lnSpc>
                <a:spcPct val="90000"/>
              </a:lnSpc>
            </a:pPr>
            <a:r>
              <a:rPr lang="en-US" altLang="zh-TW" sz="2000" b="1" dirty="0"/>
              <a:t>High Capacity:</a:t>
            </a:r>
            <a:r>
              <a:rPr lang="en-US" altLang="zh-TW" sz="2000" dirty="0"/>
              <a:t> Supports up to 64 bytes with 10x arbitration speed in data phase.</a:t>
            </a:r>
          </a:p>
          <a:p>
            <a:pPr>
              <a:lnSpc>
                <a:spcPct val="90000"/>
              </a:lnSpc>
            </a:pPr>
            <a:endParaRPr lang="en-US" altLang="zh-TW" sz="2000" dirty="0"/>
          </a:p>
          <a:p>
            <a:pPr lvl="1">
              <a:lnSpc>
                <a:spcPct val="90000"/>
              </a:lnSpc>
            </a:pPr>
            <a:endParaRPr lang="en-US" altLang="zh-TW" sz="1600" dirty="0"/>
          </a:p>
          <a:p>
            <a:pPr>
              <a:lnSpc>
                <a:spcPct val="90000"/>
              </a:lnSpc>
            </a:pPr>
            <a:endParaRPr lang="en-US" altLang="zh-TW" sz="2000" dirty="0"/>
          </a:p>
        </p:txBody>
      </p: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5403E774-3C3B-1200-E2D8-0E3EC42DEA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7769043"/>
              </p:ext>
            </p:extLst>
          </p:nvPr>
        </p:nvGraphicFramePr>
        <p:xfrm>
          <a:off x="604812" y="4060013"/>
          <a:ext cx="8229600" cy="149352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3973283416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615472035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122376682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Phase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dirty="0"/>
                        <a:t>速度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dirty="0"/>
                        <a:t>為什麼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99640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Arbitration Phase</a:t>
                      </a:r>
                      <a:endParaRPr lang="en-US" sz="16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/>
                        <a:t>低速（例：</a:t>
                      </a:r>
                      <a:r>
                        <a:rPr lang="en-US" altLang="zh-TW" sz="1600"/>
                        <a:t>500 </a:t>
                      </a:r>
                      <a:r>
                        <a:rPr lang="en-US" sz="1600"/>
                        <a:t>kbps）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dirty="0"/>
                        <a:t>為了讓所有 </a:t>
                      </a:r>
                      <a:r>
                        <a:rPr lang="en-US" altLang="zh-TW" sz="1600" dirty="0"/>
                        <a:t>node </a:t>
                      </a:r>
                      <a:r>
                        <a:rPr lang="zh-TW" altLang="en-US" sz="1600" dirty="0"/>
                        <a:t>都能參與仲裁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572524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Data Phase</a:t>
                      </a:r>
                      <a:endParaRPr lang="en-US" sz="16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/>
                        <a:t>高速（例：</a:t>
                      </a:r>
                      <a:r>
                        <a:rPr lang="en-US" altLang="zh-TW" sz="1600"/>
                        <a:t>5 </a:t>
                      </a:r>
                      <a:r>
                        <a:rPr lang="en-US" sz="1600"/>
                        <a:t>Mbps）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600" dirty="0"/>
                        <a:t>只要贏得仲裁即可高速傳資料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06578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1653798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8800A1-E0BA-F2AF-0453-025B44D53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A335E6F-DF89-3540-54E6-78F924BA2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Higher-layer CAN protocols</a:t>
            </a:r>
          </a:p>
        </p:txBody>
      </p:sp>
      <p:pic>
        <p:nvPicPr>
          <p:cNvPr id="5" name="圖片 4" descr="一張含有 文字, 螢幕擷取畫面, 字型, 數字 的圖片&#10;&#10;AI 產生的內容可能不正確。">
            <a:extLst>
              <a:ext uri="{FF2B5EF4-FFF2-40B4-BE49-F238E27FC236}">
                <a16:creationId xmlns:a16="http://schemas.microsoft.com/office/drawing/2014/main" id="{1BD9AE08-2180-2E06-B3E6-A1E6E009EF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4456" y="1632850"/>
            <a:ext cx="2636748" cy="2712955"/>
          </a:xfrm>
          <a:prstGeom prst="rect">
            <a:avLst/>
          </a:prstGeom>
        </p:spPr>
      </p:pic>
      <p:grpSp>
        <p:nvGrpSpPr>
          <p:cNvPr id="16" name="群組 15">
            <a:extLst>
              <a:ext uri="{FF2B5EF4-FFF2-40B4-BE49-F238E27FC236}">
                <a16:creationId xmlns:a16="http://schemas.microsoft.com/office/drawing/2014/main" id="{F43C5B2B-5EAB-6DD3-8A87-6B06351B1E6E}"/>
              </a:ext>
            </a:extLst>
          </p:cNvPr>
          <p:cNvGrpSpPr/>
          <p:nvPr/>
        </p:nvGrpSpPr>
        <p:grpSpPr>
          <a:xfrm>
            <a:off x="177684" y="1043822"/>
            <a:ext cx="1713018" cy="2110858"/>
            <a:chOff x="300951" y="2013086"/>
            <a:chExt cx="1713018" cy="2110858"/>
          </a:xfrm>
        </p:grpSpPr>
        <p:pic>
          <p:nvPicPr>
            <p:cNvPr id="7" name="圖片 6" descr="一張含有 文字, 車, 車輛, 陸上交通工具 的圖片&#10;&#10;AI 產生的內容可能不正確。">
              <a:extLst>
                <a:ext uri="{FF2B5EF4-FFF2-40B4-BE49-F238E27FC236}">
                  <a16:creationId xmlns:a16="http://schemas.microsoft.com/office/drawing/2014/main" id="{86474134-FF92-05A5-01D1-51AD8012A2F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00951" y="2013086"/>
              <a:ext cx="1713018" cy="2047003"/>
            </a:xfrm>
            <a:prstGeom prst="rect">
              <a:avLst/>
            </a:prstGeom>
          </p:spPr>
        </p:pic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4C40E395-1219-6F27-413F-816A64931C9C}"/>
                </a:ext>
              </a:extLst>
            </p:cNvPr>
            <p:cNvSpPr/>
            <p:nvPr/>
          </p:nvSpPr>
          <p:spPr>
            <a:xfrm>
              <a:off x="342795" y="2013086"/>
              <a:ext cx="1602489" cy="211085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>
                <a:ea typeface="Microsoft JhengHei" panose="020B0604030504040204" pitchFamily="34" charset="-120"/>
              </a:endParaRPr>
            </a:p>
          </p:txBody>
        </p:sp>
      </p:grpSp>
      <p:grpSp>
        <p:nvGrpSpPr>
          <p:cNvPr id="18" name="群組 17">
            <a:extLst>
              <a:ext uri="{FF2B5EF4-FFF2-40B4-BE49-F238E27FC236}">
                <a16:creationId xmlns:a16="http://schemas.microsoft.com/office/drawing/2014/main" id="{F276E94E-2247-88CD-3F2F-A4C6130E340A}"/>
              </a:ext>
            </a:extLst>
          </p:cNvPr>
          <p:cNvGrpSpPr/>
          <p:nvPr/>
        </p:nvGrpSpPr>
        <p:grpSpPr>
          <a:xfrm>
            <a:off x="1939938" y="1043822"/>
            <a:ext cx="1644334" cy="2110858"/>
            <a:chOff x="2127478" y="920093"/>
            <a:chExt cx="1644334" cy="2110858"/>
          </a:xfrm>
        </p:grpSpPr>
        <p:pic>
          <p:nvPicPr>
            <p:cNvPr id="10" name="圖片 9" descr="一張含有 文字, 螢幕擷取畫面, 字型, 設計 的圖片&#10;&#10;AI 產生的內容可能不正確。">
              <a:extLst>
                <a:ext uri="{FF2B5EF4-FFF2-40B4-BE49-F238E27FC236}">
                  <a16:creationId xmlns:a16="http://schemas.microsoft.com/office/drawing/2014/main" id="{BDCDEB17-DFFE-EE75-10BE-21C91EBE135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154069" y="961716"/>
              <a:ext cx="1591151" cy="2027612"/>
            </a:xfrm>
            <a:prstGeom prst="rect">
              <a:avLst/>
            </a:prstGeom>
          </p:spPr>
        </p:pic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C37D7D25-CCA2-9129-C206-367C2D2F1043}"/>
                </a:ext>
              </a:extLst>
            </p:cNvPr>
            <p:cNvSpPr/>
            <p:nvPr/>
          </p:nvSpPr>
          <p:spPr>
            <a:xfrm>
              <a:off x="2127478" y="920093"/>
              <a:ext cx="1644334" cy="211085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>
                <a:ea typeface="Microsoft JhengHei" panose="020B0604030504040204" pitchFamily="34" charset="-120"/>
              </a:endParaRPr>
            </a:p>
          </p:txBody>
        </p:sp>
      </p:grpSp>
      <p:grpSp>
        <p:nvGrpSpPr>
          <p:cNvPr id="17" name="群組 16">
            <a:extLst>
              <a:ext uri="{FF2B5EF4-FFF2-40B4-BE49-F238E27FC236}">
                <a16:creationId xmlns:a16="http://schemas.microsoft.com/office/drawing/2014/main" id="{EFDA169D-F4B1-C736-A007-C47222DA632A}"/>
              </a:ext>
            </a:extLst>
          </p:cNvPr>
          <p:cNvGrpSpPr/>
          <p:nvPr/>
        </p:nvGrpSpPr>
        <p:grpSpPr>
          <a:xfrm>
            <a:off x="3633508" y="1034393"/>
            <a:ext cx="1727065" cy="2120287"/>
            <a:chOff x="3998116" y="915521"/>
            <a:chExt cx="1727065" cy="2120287"/>
          </a:xfrm>
        </p:grpSpPr>
        <p:pic>
          <p:nvPicPr>
            <p:cNvPr id="14" name="圖片 13" descr="一張含有 文字, 螢幕擷取畫面, 字型, 設計 的圖片&#10;&#10;AI 產生的內容可能不正確。">
              <a:extLst>
                <a:ext uri="{FF2B5EF4-FFF2-40B4-BE49-F238E27FC236}">
                  <a16:creationId xmlns:a16="http://schemas.microsoft.com/office/drawing/2014/main" id="{2AD131AB-BBA3-AC8C-B653-75636DB17E3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998116" y="915521"/>
              <a:ext cx="1727065" cy="2110858"/>
            </a:xfrm>
            <a:prstGeom prst="rect">
              <a:avLst/>
            </a:prstGeom>
          </p:spPr>
        </p:pic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1FA8A79C-C352-58C0-9743-4C90686951F7}"/>
                </a:ext>
              </a:extLst>
            </p:cNvPr>
            <p:cNvSpPr/>
            <p:nvPr/>
          </p:nvSpPr>
          <p:spPr>
            <a:xfrm>
              <a:off x="4047352" y="924950"/>
              <a:ext cx="1644334" cy="211085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>
                <a:ea typeface="Microsoft JhengHei" panose="020B0604030504040204" pitchFamily="34" charset="-120"/>
              </a:endParaRPr>
            </a:p>
          </p:txBody>
        </p:sp>
      </p:grpSp>
      <p:grpSp>
        <p:nvGrpSpPr>
          <p:cNvPr id="30" name="群組 29">
            <a:extLst>
              <a:ext uri="{FF2B5EF4-FFF2-40B4-BE49-F238E27FC236}">
                <a16:creationId xmlns:a16="http://schemas.microsoft.com/office/drawing/2014/main" id="{92BB8FDA-0E53-DD66-6C0F-7676324AFEC3}"/>
              </a:ext>
            </a:extLst>
          </p:cNvPr>
          <p:cNvGrpSpPr/>
          <p:nvPr/>
        </p:nvGrpSpPr>
        <p:grpSpPr>
          <a:xfrm>
            <a:off x="219528" y="3366954"/>
            <a:ext cx="1588322" cy="2014847"/>
            <a:chOff x="219528" y="3366954"/>
            <a:chExt cx="1588322" cy="2014847"/>
          </a:xfrm>
        </p:grpSpPr>
        <p:pic>
          <p:nvPicPr>
            <p:cNvPr id="20" name="圖片 19" descr="一張含有 文字, 字型, 螢幕擷取畫面, 設計 的圖片&#10;&#10;AI 產生的內容可能不正確。">
              <a:extLst>
                <a:ext uri="{FF2B5EF4-FFF2-40B4-BE49-F238E27FC236}">
                  <a16:creationId xmlns:a16="http://schemas.microsoft.com/office/drawing/2014/main" id="{86BA0D40-142D-D9BE-8FE4-5A5CD10106C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60536" y="3366954"/>
              <a:ext cx="1547314" cy="2014847"/>
            </a:xfrm>
            <a:prstGeom prst="rect">
              <a:avLst/>
            </a:prstGeom>
          </p:spPr>
        </p:pic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6CA0C999-7F79-9B40-5619-8D734DFA2ED1}"/>
                </a:ext>
              </a:extLst>
            </p:cNvPr>
            <p:cNvSpPr/>
            <p:nvPr/>
          </p:nvSpPr>
          <p:spPr>
            <a:xfrm>
              <a:off x="219528" y="3366954"/>
              <a:ext cx="1588322" cy="201484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>
                <a:ea typeface="Microsoft JhengHei" panose="020B0604030504040204" pitchFamily="34" charset="-120"/>
              </a:endParaRPr>
            </a:p>
          </p:txBody>
        </p:sp>
      </p:grpSp>
      <p:grpSp>
        <p:nvGrpSpPr>
          <p:cNvPr id="29" name="群組 28">
            <a:extLst>
              <a:ext uri="{FF2B5EF4-FFF2-40B4-BE49-F238E27FC236}">
                <a16:creationId xmlns:a16="http://schemas.microsoft.com/office/drawing/2014/main" id="{3B38B72A-F800-BDBE-1868-319F55FE31F7}"/>
              </a:ext>
            </a:extLst>
          </p:cNvPr>
          <p:cNvGrpSpPr/>
          <p:nvPr/>
        </p:nvGrpSpPr>
        <p:grpSpPr>
          <a:xfrm>
            <a:off x="1939938" y="3366953"/>
            <a:ext cx="1588322" cy="2014847"/>
            <a:chOff x="1966529" y="3366953"/>
            <a:chExt cx="1588322" cy="2014847"/>
          </a:xfrm>
        </p:grpSpPr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70A5D9CB-507B-3465-BFC1-FF20360C4075}"/>
                </a:ext>
              </a:extLst>
            </p:cNvPr>
            <p:cNvSpPr/>
            <p:nvPr/>
          </p:nvSpPr>
          <p:spPr>
            <a:xfrm>
              <a:off x="1966529" y="3366953"/>
              <a:ext cx="1588322" cy="201484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dirty="0">
                <a:ea typeface="Microsoft JhengHei" panose="020B0604030504040204" pitchFamily="34" charset="-120"/>
              </a:endParaRPr>
            </a:p>
          </p:txBody>
        </p:sp>
        <p:pic>
          <p:nvPicPr>
            <p:cNvPr id="26" name="圖片 25" descr="一張含有 文字, 手推車, 設計 的圖片&#10;&#10;AI 產生的內容可能不正確。">
              <a:extLst>
                <a:ext uri="{FF2B5EF4-FFF2-40B4-BE49-F238E27FC236}">
                  <a16:creationId xmlns:a16="http://schemas.microsoft.com/office/drawing/2014/main" id="{47028DBD-0924-79DB-0B97-BA67AC669B2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030714" y="3392964"/>
              <a:ext cx="1459951" cy="1962823"/>
            </a:xfrm>
            <a:prstGeom prst="rect">
              <a:avLst/>
            </a:prstGeom>
          </p:spPr>
        </p:pic>
      </p:grpSp>
      <p:pic>
        <p:nvPicPr>
          <p:cNvPr id="28" name="圖片 27" descr="一張含有 文字, 螢幕擷取畫面, 字型, 設計 的圖片&#10;&#10;AI 產生的內容可能不正確。">
            <a:extLst>
              <a:ext uri="{FF2B5EF4-FFF2-40B4-BE49-F238E27FC236}">
                <a16:creationId xmlns:a16="http://schemas.microsoft.com/office/drawing/2014/main" id="{0A614BE5-EEAC-5D24-6FB7-D410AB0AD8A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26940" y="3511296"/>
            <a:ext cx="2317318" cy="1505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78121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B5332C-178A-B8D8-16C3-F0F7E19CB3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0AEFDEB-00C1-2096-025A-CD355ED86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8806" y="138151"/>
            <a:ext cx="8006387" cy="693397"/>
          </a:xfrm>
        </p:spPr>
        <p:txBody>
          <a:bodyPr/>
          <a:lstStyle/>
          <a:p>
            <a:r>
              <a:rPr lang="en-US" altLang="zh-TW" dirty="0"/>
              <a:t>Reference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FD016D5-FD03-8B64-4DB1-87557150B5EB}"/>
              </a:ext>
            </a:extLst>
          </p:cNvPr>
          <p:cNvSpPr txBox="1">
            <a:spLocks/>
          </p:cNvSpPr>
          <p:nvPr/>
        </p:nvSpPr>
        <p:spPr>
          <a:xfrm>
            <a:off x="457200" y="817376"/>
            <a:ext cx="8211312" cy="383692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Clr>
                <a:srgbClr val="FF6600"/>
              </a:buClr>
              <a:buSzPct val="50000"/>
              <a:buFont typeface="Wingdings" charset="2"/>
              <a:buChar char=""/>
              <a:defRPr sz="2400" kern="1200">
                <a:solidFill>
                  <a:srgbClr val="7F7F7F"/>
                </a:solidFill>
                <a:latin typeface="+mn-lt"/>
                <a:ea typeface="Microsoft JhengHei" panose="020B0604030504040204" pitchFamily="34" charset="-120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Clr>
                <a:srgbClr val="FF6600"/>
              </a:buClr>
              <a:buSzPct val="50000"/>
              <a:buFont typeface="Arial"/>
              <a:buChar char="–"/>
              <a:defRPr sz="2000" kern="1200">
                <a:solidFill>
                  <a:srgbClr val="7F7F7F"/>
                </a:solidFill>
                <a:latin typeface="+mn-lt"/>
                <a:ea typeface="Microsoft JhengHei" panose="020B0604030504040204" pitchFamily="34" charset="-120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Clr>
                <a:srgbClr val="FF6600"/>
              </a:buClr>
              <a:buFont typeface="Arial"/>
              <a:buChar char="•"/>
              <a:defRPr sz="1800" kern="1200">
                <a:solidFill>
                  <a:srgbClr val="7F7F7F"/>
                </a:solidFill>
                <a:latin typeface="+mn-lt"/>
                <a:ea typeface="Microsoft JhengHei" panose="020B0604030504040204" pitchFamily="34" charset="-120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Clr>
                <a:srgbClr val="FF6600"/>
              </a:buClr>
              <a:buSzPct val="50000"/>
              <a:buFont typeface="Arial"/>
              <a:buChar char="–"/>
              <a:defRPr sz="1600" kern="1200">
                <a:solidFill>
                  <a:srgbClr val="7F7F7F"/>
                </a:solidFill>
                <a:latin typeface="+mn-lt"/>
                <a:ea typeface="Microsoft JhengHei" panose="020B0604030504040204" pitchFamily="34" charset="-120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Clr>
                <a:srgbClr val="FF6600"/>
              </a:buClr>
              <a:buFont typeface="Arial"/>
              <a:buChar char="»"/>
              <a:defRPr sz="1600" kern="1200">
                <a:solidFill>
                  <a:srgbClr val="7F7F7F"/>
                </a:solidFill>
                <a:latin typeface="+mn-lt"/>
                <a:ea typeface="Microsoft JhengHei" panose="020B0604030504040204" pitchFamily="34" charset="-120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  <a:buFont typeface="Wingdings" panose="05000000000000000000" pitchFamily="2" charset="2"/>
              <a:buChar char="Ø"/>
            </a:pPr>
            <a:r>
              <a:rPr lang="en-US" altLang="zh-TW" sz="2000" dirty="0">
                <a:hlinkClick r:id="rId2"/>
              </a:rPr>
              <a:t>https://en.wikipedia.org/wiki/CAN_bus</a:t>
            </a:r>
            <a:endParaRPr lang="en-US" altLang="zh-TW" sz="2000" dirty="0"/>
          </a:p>
          <a:p>
            <a:pPr>
              <a:lnSpc>
                <a:spcPct val="90000"/>
              </a:lnSpc>
              <a:buFont typeface="Wingdings" panose="05000000000000000000" pitchFamily="2" charset="2"/>
              <a:buChar char="Ø"/>
            </a:pPr>
            <a:r>
              <a:rPr lang="en-US" altLang="zh-TW" sz="2000" dirty="0">
                <a:hlinkClick r:id="rId3"/>
              </a:rPr>
              <a:t>https://wiki.csie.ncku.edu.tw/embedded/CAN#interframe-spacing%E9%80%9A%E8%A8%8A%E6%A0%BC%E5%BC%8F%E9%96%93%E9%9A%94</a:t>
            </a:r>
            <a:endParaRPr lang="en-US" altLang="zh-TW" sz="2000" dirty="0"/>
          </a:p>
          <a:p>
            <a:pPr>
              <a:lnSpc>
                <a:spcPct val="90000"/>
              </a:lnSpc>
              <a:buFont typeface="Wingdings" panose="05000000000000000000" pitchFamily="2" charset="2"/>
              <a:buChar char="Ø"/>
            </a:pPr>
            <a:r>
              <a:rPr lang="en-US" altLang="zh-TW" sz="2000" dirty="0">
                <a:hlinkClick r:id="rId4"/>
              </a:rPr>
              <a:t>https://www.winstar.com.tw/zh-tw/can-bus-interface-communication</a:t>
            </a:r>
            <a:endParaRPr lang="en-US" altLang="zh-TW" sz="2000" dirty="0"/>
          </a:p>
          <a:p>
            <a:pPr>
              <a:lnSpc>
                <a:spcPct val="90000"/>
              </a:lnSpc>
              <a:buFont typeface="Wingdings" panose="05000000000000000000" pitchFamily="2" charset="2"/>
              <a:buChar char="Ø"/>
            </a:pPr>
            <a:r>
              <a:rPr lang="en-US" altLang="zh-TW" sz="2000" dirty="0">
                <a:hlinkClick r:id="rId5"/>
              </a:rPr>
              <a:t>https://wellstsai.com/post/can-protocol/</a:t>
            </a:r>
            <a:endParaRPr lang="en-US" altLang="zh-TW" sz="2000" dirty="0"/>
          </a:p>
          <a:p>
            <a:pPr>
              <a:lnSpc>
                <a:spcPct val="90000"/>
              </a:lnSpc>
              <a:buFont typeface="Wingdings" panose="05000000000000000000" pitchFamily="2" charset="2"/>
              <a:buChar char="Ø"/>
            </a:pPr>
            <a:r>
              <a:rPr lang="en-US" altLang="zh-TW" sz="2000" dirty="0">
                <a:hlinkClick r:id="rId5"/>
              </a:rPr>
              <a:t>https://wellstsai.com/post/can-protocol/</a:t>
            </a:r>
            <a:endParaRPr lang="en-US" altLang="zh-TW" sz="2000" dirty="0"/>
          </a:p>
          <a:p>
            <a:pPr>
              <a:lnSpc>
                <a:spcPct val="90000"/>
              </a:lnSpc>
              <a:buFont typeface="Wingdings" panose="05000000000000000000" pitchFamily="2" charset="2"/>
              <a:buChar char="Ø"/>
            </a:pPr>
            <a:r>
              <a:rPr lang="en-US" altLang="zh-TW" sz="2000" dirty="0">
                <a:hlinkClick r:id="rId6"/>
              </a:rPr>
              <a:t>https://www.circuitbread.com/tutorials/understanding-can-a-beginners-guide-to-the-controller-area-network-protocol</a:t>
            </a:r>
            <a:endParaRPr lang="en-US" altLang="zh-TW" sz="2000" dirty="0"/>
          </a:p>
          <a:p>
            <a:pPr>
              <a:lnSpc>
                <a:spcPct val="90000"/>
              </a:lnSpc>
              <a:buFont typeface="Wingdings" panose="05000000000000000000" pitchFamily="2" charset="2"/>
              <a:buChar char="Ø"/>
            </a:pPr>
            <a:r>
              <a:rPr lang="en-US" altLang="zh-TW" sz="2000" dirty="0">
                <a:hlinkClick r:id="rId7"/>
              </a:rPr>
              <a:t>https://www.csselectronics.com/pages/can-bus-simple-intro-tutorial</a:t>
            </a:r>
            <a:endParaRPr lang="en-US" altLang="zh-TW" sz="2000" dirty="0"/>
          </a:p>
          <a:p>
            <a:pPr>
              <a:lnSpc>
                <a:spcPct val="90000"/>
              </a:lnSpc>
              <a:buFont typeface="Wingdings" panose="05000000000000000000" pitchFamily="2" charset="2"/>
              <a:buChar char="Ø"/>
            </a:pPr>
            <a:r>
              <a:rPr lang="en-US" altLang="zh-TW" sz="2000" dirty="0">
                <a:hlinkClick r:id="rId8"/>
              </a:rPr>
              <a:t>https://www.systemaccess.com.tw/page/about/index.aspx?kind=1164</a:t>
            </a:r>
            <a:endParaRPr lang="en-US" altLang="zh-TW" sz="2000" dirty="0"/>
          </a:p>
          <a:p>
            <a:pPr>
              <a:lnSpc>
                <a:spcPct val="90000"/>
              </a:lnSpc>
              <a:buFont typeface="Wingdings" panose="05000000000000000000" pitchFamily="2" charset="2"/>
              <a:buChar char="Ø"/>
            </a:pPr>
            <a:endParaRPr lang="en-US" altLang="zh-TW" sz="2000" dirty="0"/>
          </a:p>
        </p:txBody>
      </p:sp>
    </p:spTree>
    <p:extLst>
      <p:ext uri="{BB962C8B-B14F-4D97-AF65-F5344CB8AC3E}">
        <p14:creationId xmlns:p14="http://schemas.microsoft.com/office/powerpoint/2010/main" val="37820715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 rtlCol="0" anchor="ctr"/>
      <a:lstStyle>
        <a:defPPr algn="ctr">
          <a:defRPr kumimoji="1" dirty="0">
            <a:ea typeface="Microsoft JhengHei" panose="020B0604030504040204" pitchFamily="34" charset="-12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tailEnd type="triangle"/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kumimoji="1" dirty="0">
            <a:ea typeface="Microsoft JhengHei" panose="020B0604030504040204" pitchFamily="34" charset="-12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簡報範本.pptx" id="{C4B2354E-D2B7-4E6F-B6E2-6BE9763D69E9}" vid="{DEB38413-A941-4F84-901A-6D4FFC72C9B4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Pega_BU6_Template_20210505</Template>
  <TotalTime>37974</TotalTime>
  <Words>1468</Words>
  <Application>Microsoft Office PowerPoint</Application>
  <PresentationFormat>如螢幕大小 (16:10)</PresentationFormat>
  <Paragraphs>174</Paragraphs>
  <Slides>24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24</vt:i4>
      </vt:variant>
    </vt:vector>
  </HeadingPairs>
  <TitlesOfParts>
    <vt:vector size="31" baseType="lpstr">
      <vt:lpstr>微軟正黑體</vt:lpstr>
      <vt:lpstr>微軟正黑體</vt:lpstr>
      <vt:lpstr>Arial</vt:lpstr>
      <vt:lpstr>Calibri</vt:lpstr>
      <vt:lpstr>Candara</vt:lpstr>
      <vt:lpstr>Wingdings</vt:lpstr>
      <vt:lpstr>Office 佈景主題</vt:lpstr>
      <vt:lpstr>Introduction to CAN and CAN FD </vt:lpstr>
      <vt:lpstr>What is CAN Bus?</vt:lpstr>
      <vt:lpstr>The CAN bus history in short</vt:lpstr>
      <vt:lpstr>CAN in the OSI Model (Layered Architecture)</vt:lpstr>
      <vt:lpstr>CAN Bus Topology (1/2)</vt:lpstr>
      <vt:lpstr>CAN Bus Topology (2/2)</vt:lpstr>
      <vt:lpstr>Physical Layer Constraints &amp; Requirements</vt:lpstr>
      <vt:lpstr>Physical Layer Signaling: Dominant vs. Recessive</vt:lpstr>
      <vt:lpstr>Asynchronous &amp; Self-Synchronization</vt:lpstr>
      <vt:lpstr>CAN Frame Types</vt:lpstr>
      <vt:lpstr>CAN Frame Types – Data Frame</vt:lpstr>
      <vt:lpstr>Data Frame with Bit Stuffing Example</vt:lpstr>
      <vt:lpstr>Bus Arbitration (Priority-Based)</vt:lpstr>
      <vt:lpstr>DLC (Data Length Code) for CAN and CAN FD</vt:lpstr>
      <vt:lpstr>CAN Frame CRC &amp; ACK Mechanism</vt:lpstr>
      <vt:lpstr>End of Frame (EOF) and Interframe Space </vt:lpstr>
      <vt:lpstr>Five Error Detection Mechanisms</vt:lpstr>
      <vt:lpstr>Error Frames &amp; Propagation</vt:lpstr>
      <vt:lpstr>Fault Confinement &amp; Error Management</vt:lpstr>
      <vt:lpstr>Evolution: CAN FD (Flexible Data-Rate) Features</vt:lpstr>
      <vt:lpstr>CAN FD Frame Structure with Bit Rate Switching</vt:lpstr>
      <vt:lpstr>Frame Comparison: Classic CAN vs. CAN FD</vt:lpstr>
      <vt:lpstr>Higher-layer CAN protocols</vt:lpstr>
      <vt:lpstr>Reference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subject/>
  <dc:creator>Sean Hsieh(謝光勳_Pegatron)</dc:creator>
  <cp:keywords/>
  <dc:description/>
  <cp:lastModifiedBy>Allan Chen</cp:lastModifiedBy>
  <cp:revision>678</cp:revision>
  <dcterms:created xsi:type="dcterms:W3CDTF">2021-10-25T05:55:12Z</dcterms:created>
  <dcterms:modified xsi:type="dcterms:W3CDTF">2026-01-15T06:23:27Z</dcterms:modified>
  <cp:category/>
</cp:coreProperties>
</file>